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6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 SPATIAL DATA ANALYSIS AND MANIPULATION IN 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9659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 in the Age of AI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2926080" cy="0"/>
          </a:xfrm>
          <a:prstGeom prst="line">
            <a:avLst/>
          </a:prstGeom>
          <a:noFill/>
          <a:ln w="3175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Materials — R 4.4 · RStudio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for National Institutes of Statistics and Cartography</a:t>
            </a:r>
            <a:endParaRPr lang="en-US" sz="15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9EB830E1-F0A8-8E9E-C29C-BBA4C6737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575" y="65112"/>
            <a:ext cx="2031950" cy="1075789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BF736F37-2A39-6410-8EF3-5FE88428C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235" y="134741"/>
            <a:ext cx="2031950" cy="1075789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9D707D4E-EBC9-F19E-7F47-0993AECA6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915" y="134741"/>
            <a:ext cx="2031950" cy="107578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E1EFE75A-4F49-43E0-10AF-24B0F96FA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0" y="92123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4" dur="1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7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8" dur="1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Using AI in R Programming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Examples, and Pitfalls to </a:t>
            </a:r>
            <a:r>
              <a:rPr lang="en-US" sz="1800" i="1" dirty="0" err="1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an AI assistant with 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on repetitive and familiar tasks</a:t>
            </a:r>
            <a:endParaRPr lang="en-US" sz="2400" dirty="0"/>
          </a:p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remember syntax and function arguments</a:t>
            </a:r>
            <a:endParaRPr lang="en-US" sz="2400" dirty="0"/>
          </a:p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learning: ask it to explain a line of code</a:t>
            </a:r>
            <a:endParaRPr lang="en-US" sz="2400" dirty="0"/>
          </a:p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the AI doesn’t know the actual structure of your files until you provide it</a:t>
            </a:r>
            <a:endParaRPr lang="en-US" sz="2400" dirty="0"/>
          </a:p>
          <a:p>
            <a:pPr marL="342900" indent="-342900">
              <a:spcAft>
                <a:spcPts val="2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remains solely responsible for the scientific validity of the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Steps to Effectively Initiate an R Treatment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0F2A4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23060" y="178308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230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down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subtasks, in natural language, before engaging the AI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64408" y="3429000"/>
            <a:ext cx="109728" cy="320040"/>
          </a:xfrm>
          <a:prstGeom prst="rightArrow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0F2A4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66260" y="178308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662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algorithm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33375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methodological choices: write it yourself first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07608" y="3429000"/>
            <a:ext cx="109728" cy="320040"/>
          </a:xfrm>
          <a:prstGeom prst="rightArrow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0F2A4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09460" y="178308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094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2560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 blocks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subtask at a time—never an entire script all at once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750808" y="3429000"/>
            <a:ext cx="109728" cy="320040"/>
          </a:xfrm>
          <a:prstGeom prst="rightArrow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69680" y="150876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0F2A4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52660" y="178308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526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06840" y="2560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Review, test, understand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52560" y="33375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real data, check, re-explain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Down a Task Before Giving a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OBJECTIVE (too vague)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“Calculate the demographic dependency ratio by region.”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17520" y="2834640"/>
            <a:ext cx="640080" cy="457200"/>
          </a:xfrm>
          <a:prstGeom prst="downArrow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INTO SUBTASKS (drafted by the analyst)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 the file and verify its structure (str, names)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the age group columns (0–14, 15–64, 65+)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Calculate the ratio = (0–14 + 65+) / 15–64 × 100, by administrative unit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Aggregate at the regional level, weighted by population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 by rate in descending order and export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you write the algorithm before prompting?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50241"/>
              </p:ext>
            </p:extLst>
          </p:nvPr>
        </p:nvGraphicFramePr>
        <p:xfrm>
          <a:off x="640080" y="1737360"/>
          <a:ext cx="10881360" cy="3395472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Type of task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Is a preliminary algorithm required?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Demographic/statistical indicator (methodological choice)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A6381A"/>
                          </a:solidFill>
                        </a:rPr>
                        <a:t>YES — required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Standard technical cleaning (renaming, data typing, NA)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C6B3F"/>
                          </a:solidFill>
                        </a:rPr>
                        <a:t>No — direct prompt by block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Complex spatial or attribute join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A6381A"/>
                          </a:solidFill>
                        </a:rPr>
                        <a:t>YES — define the matching rule first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Formatting a graph or map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C6B3F"/>
                          </a:solidFill>
                        </a:rPr>
                        <a:t>No, unless statistical discretization is selected</a:t>
                      </a:r>
                      <a:endParaRPr lang="en-US" sz="20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Common Pitfalls to Watch Out For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Hallucinating nonexistent packages or functions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Hallucinating column names not explicitly provided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not tested on real data before integration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Dependency: Code You Can’t Re-Explain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28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Confidentiality: Never paste personally identifiable information into a prompt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EXERCISE 4.1 — IN PAIRS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start to finish, using real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Objective: Identify the 5 most populous Level 2 administrative units and their average household size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Break it down in writing BEFORE opening the AI wizard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Extract the actual structure from the two files (str())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Prompt the “join” subtask, including the actual structure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 the task, verify (nrow, duplicates)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Prompt “ranking + top 5,” verify, and export to data/traitees/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 This session/presentation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approach to using AI: break down, define, prompt, verify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sf objects &amp; first maps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sf object is, essentially, a regular data.frame with an additional geometric column.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dplyr skills you’ve mastered so far apply directly to spatial data, without needing to relearn anything.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73152" cy="36576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gadm41_CMR_shp — administrative boundaries of Cameroon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3538728"/>
            <a:ext cx="73152" cy="36576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4930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CMGE71FL.shp — GPS positions of DHS clusters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0F2A42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prepare before tomorrow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`install.packages("sf")` runs without errors: this package depends on system libraries (GDAL, GEOS, PROJ), which can sometimes take longer to install depending on the OS.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757</Words>
  <Application>Microsoft Office PowerPoint</Application>
  <PresentationFormat>Grand écran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, docId:3B5A61CA67DDEC94D64823DC6113FC82</cp:keywords>
  <cp:lastModifiedBy>PC</cp:lastModifiedBy>
  <cp:revision>14</cp:revision>
  <dcterms:created xsi:type="dcterms:W3CDTF">2026-07-22T19:49:05Z</dcterms:created>
  <dcterms:modified xsi:type="dcterms:W3CDTF">2026-07-28T04:18:35Z</dcterms:modified>
</cp:coreProperties>
</file>