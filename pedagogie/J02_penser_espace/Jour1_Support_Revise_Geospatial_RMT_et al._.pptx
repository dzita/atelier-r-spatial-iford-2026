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079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2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ANALYSE SPATIALE — DONNÉES, ANALYSE ET MANIPULATION DANS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Module 1 — Jour 2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8D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Introduction à la pensée spatiale et aux données géospatiales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Support conceptuel — indépendant de 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822960" cy="411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IFORD Yaoundé — Institut de Formation et de Recherche Démographiques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89B1974-41D4-1675-DE59-1CBCDE95E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305" y="56465"/>
            <a:ext cx="2031950" cy="107578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2D7A29D-6FA4-4A96-706C-AE83B711A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25" y="127340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Quelques</a:t>
            </a: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considérations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 formats de données (point, ligne, polygone, raster) sont expliqués AVANT et INDÉPENDAMMENT de 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60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615184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Nouvelle section : l'algèbre raster, ses catégories d'opérations et son utilité, sans 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401568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Nouvelle section : les opérations vectorielles — points, lignes, polygones, séparément ou combinés.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233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187952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Nouvelle section : la combinaison raster / polygone (statistique zonale), sans 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0200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0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974336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Formats de fichiers enrichis : ajout des bases de données géographiques (GDB) multi-couches.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FEUILLE DE ROUTE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Agenda du Jour 1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Introduction à la pensée spatiale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Formats de données spatiales : point, ligne, polygone, raster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Opérations vectorielles fondamentales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Algèbre raster et combinaison raster / polygone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Formats de fichiers et bases de données géographiques (GDB)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Systèmes de référence de coordonnées (CRS)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Données spatiales et statistiques nationales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 CONCEPTS FONDAMENTAUX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La pensée spatiale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63093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Penser spatialement, c'est se demander non seulement « combien » et « qui », mais aussi « où » et « pourquoi à cet endroit ». La localisation et la proximité influencent les phénomènes démographiques.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621024"/>
            <a:ext cx="109728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6616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Où sont les zones de forte densité de population 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242816"/>
            <a:ext cx="109728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8795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 services (santé, éducation) sont-ils bien répartis 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864608"/>
            <a:ext cx="109728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09744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Comment se déplacent les flux migratoires 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09728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431536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Existe-t-il un lien entre localisation et pauvreté, mortalité, accès à l'eau 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0880" y="187452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F2F6F0"/>
          </a:solidFill>
          <a:ln w="12700">
            <a:solidFill>
              <a:srgbClr val="DDE6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286000"/>
            <a:ext cx="1645920" cy="1463040"/>
          </a:xfrm>
          <a:prstGeom prst="rect">
            <a:avLst/>
          </a:prstGeom>
          <a:solidFill>
            <a:srgbClr val="97BC62">
              <a:alpha val="8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2651760"/>
            <a:ext cx="2011680" cy="1737360"/>
          </a:xfrm>
          <a:prstGeom prst="rect">
            <a:avLst/>
          </a:prstGeom>
          <a:solidFill>
            <a:srgbClr val="E7E8D1">
              <a:alpha val="9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4023360"/>
            <a:ext cx="1828800" cy="1737360"/>
          </a:xfrm>
          <a:prstGeom prst="rect">
            <a:avLst/>
          </a:prstGeom>
          <a:solidFill>
            <a:srgbClr val="B85042">
              <a:alpha val="45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83464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329184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49840" y="329184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0" y="384048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75488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6172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E6E6E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Localisation, proximité, répartition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FORMATS DE DONNÉES SPATIALES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Deux grandes familles : vecteur et raster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2F6F0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VECTEUR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Objets discrets, aux contours précis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1455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Point — une position (X, Y)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36576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749040"/>
            <a:ext cx="0" cy="27432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703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Ligne — un tracé continu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4297680"/>
            <a:ext cx="365760" cy="274320"/>
          </a:xfrm>
          <a:prstGeom prst="rect">
            <a:avLst/>
          </a:prstGeom>
          <a:solidFill>
            <a:srgbClr val="2C5F2D">
              <a:alpha val="70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251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Polygone — une surface fermée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Utilité : localités, routes, régions, zones de dénombrement.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BF2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148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RASTER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Surface continue, grille de cellules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75120" y="3154680"/>
            <a:ext cx="45720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3154680"/>
            <a:ext cx="457200" cy="457200"/>
          </a:xfrm>
          <a:prstGeom prst="rect">
            <a:avLst/>
          </a:prstGeom>
          <a:solidFill>
            <a:srgbClr val="C8DD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154680"/>
            <a:ext cx="4572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3657600"/>
            <a:ext cx="457200" cy="457200"/>
          </a:xfrm>
          <a:prstGeom prst="rect">
            <a:avLst/>
          </a:prstGeom>
          <a:solidFill>
            <a:srgbClr val="E7E8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3657600"/>
            <a:ext cx="4572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3657600"/>
            <a:ext cx="457200" cy="457200"/>
          </a:xfrm>
          <a:prstGeom prst="rect">
            <a:avLst/>
          </a:prstGeom>
          <a:solidFill>
            <a:srgbClr val="D9A79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4160520"/>
            <a:ext cx="45720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4160520"/>
            <a:ext cx="4572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4160520"/>
            <a:ext cx="457200" cy="457200"/>
          </a:xfrm>
          <a:prstGeom prst="rect">
            <a:avLst/>
          </a:prstGeom>
          <a:solidFill>
            <a:srgbClr val="C8DD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246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Chaque cellule (pixel) porte une valeur : altitude, population, occupation du sol…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83680" y="5074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Utilité : modèles d'altitude, surfaces de population, imagerie satellite.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2.1 DONNÉES VECTORIELLES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 point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926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611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Définition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Une position unique dans l'espace, définie par une paire de coordonnées (X, Y).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0" y="26974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Contenu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Une coordonnée géographique, associée à des attributs (nom, type, valeur, date…).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34747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Ce que cela permet de faire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Localiser un lieu précis ; calculer une distance entre deux lieux ; mesurer une concentration ou une densité d'événements.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4343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Utilité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Centres de santé, écoles, ménages enquêtés, cas de maladie, localités.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DONNÉES VECTORIELLES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La ligne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926080"/>
            <a:ext cx="1463040" cy="914400"/>
          </a:xfrm>
          <a:prstGeom prst="line">
            <a:avLst/>
          </a:prstGeom>
          <a:noFill/>
          <a:ln w="508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852928"/>
            <a:ext cx="146304" cy="146304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8" name="Shape 6"/>
          <p:cNvSpPr/>
          <p:nvPr/>
        </p:nvSpPr>
        <p:spPr>
          <a:xfrm>
            <a:off x="2395728" y="3767328"/>
            <a:ext cx="146304" cy="146304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9202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Définition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Une suite ordonnée de points reliés entre eux, formant un tracé continu.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26974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Contenu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Une séquence de coordonnées et des attributs (nom, catégorie, longueur, sens).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34747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Ce que cela permet de faire —  </a:t>
            </a: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Mesurer une distance ou un temps de parcours ; analyser la connectivité d'un réseau ; calculer une zone d'influence le long d'un axe.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0" y="4343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Utilité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Routes, cours d'eau, lignes électriques, frontières administratives.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2.1 DONNÉES VECTORIELLES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 polygone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880360"/>
            <a:ext cx="1371600" cy="1005840"/>
          </a:xfrm>
          <a:prstGeom prst="rect">
            <a:avLst/>
          </a:prstGeom>
          <a:solidFill>
            <a:srgbClr val="2C5F2D">
              <a:alpha val="75000"/>
            </a:srgbClr>
          </a:solidFill>
          <a:ln w="25400">
            <a:solidFill>
              <a:srgbClr val="1E4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9202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Définition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Une surface fermée, délimitée par une ligne dont le point de départ et le point d'arrivée coïncident.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0" y="26974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Contenu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 contour fermé et des attributs (nom de zone, population, superficie, code administratif).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0" y="34747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Ce que cela permet de faire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Calculer une superficie ; agréger des données par zone ; déterminer si un objet se trouve à l'intérieur d'une limite donnée.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4343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Utilité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Régions, départements, arrondissements, zones de dénombrement, bassins versants.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2.2 MANIPULER LE VECTEUR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Opérations vectorielles fondamentales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668411"/>
              </p:ext>
            </p:extLst>
          </p:nvPr>
        </p:nvGraphicFramePr>
        <p:xfrm>
          <a:off x="548640" y="1874520"/>
          <a:ext cx="11064240" cy="44622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Opération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S'applique à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Ce qu'elle fait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Exemple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Mesure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Points, lignes, polygones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Distance, longueur, superficie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Superficie d'une région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Zone tampon (buffer)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Points, lignes, polygones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Zone d'influence à une distance donnée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Rayon de 5 km autour d'un centre de santé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Fusion (dissolve)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Polygones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Regroupe des polygones selon un attribut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Départements → régions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Découpage (clip)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Toutes géométries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Extrait une couche à l'intérieur d'une autre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Routes à l'intérieur d'une région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Intersection / union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Polygones (et autres)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Combine deux couches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Zones inondables ∩ limites admin.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Jointure spatiale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Toutes géométries, entre elles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Associe des attributs selon la position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Ménage (point) → région (polygone)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Les données raster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BF2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566928" cy="566928"/>
          </a:xfrm>
          <a:prstGeom prst="rect">
            <a:avLst/>
          </a:prstGeom>
          <a:solidFill>
            <a:srgbClr val="97BC6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194560"/>
            <a:ext cx="566928" cy="566928"/>
          </a:xfrm>
          <a:prstGeom prst="rect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194560"/>
            <a:ext cx="566928" cy="566928"/>
          </a:xfrm>
          <a:prstGeom prst="rect">
            <a:avLst/>
          </a:prstGeom>
          <a:solidFill>
            <a:srgbClr val="E7E8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34640"/>
            <a:ext cx="566928" cy="566928"/>
          </a:xfrm>
          <a:prstGeom prst="rect">
            <a:avLst/>
          </a:prstGeom>
          <a:solidFill>
            <a:srgbClr val="B850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834640"/>
            <a:ext cx="566928" cy="566928"/>
          </a:xfrm>
          <a:prstGeom prst="rect">
            <a:avLst/>
          </a:prstGeom>
          <a:solidFill>
            <a:srgbClr val="C8DDB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2834640"/>
            <a:ext cx="566928" cy="566928"/>
          </a:xfrm>
          <a:prstGeom prst="rect">
            <a:avLst/>
          </a:prstGeom>
          <a:solidFill>
            <a:srgbClr val="D9A7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474720"/>
            <a:ext cx="566928" cy="566928"/>
          </a:xfrm>
          <a:prstGeom prst="rect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3474720"/>
            <a:ext cx="566928" cy="566928"/>
          </a:xfrm>
          <a:prstGeom prst="rect">
            <a:avLst/>
          </a:prstGeom>
          <a:solidFill>
            <a:srgbClr val="97BC6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3474720"/>
            <a:ext cx="566928" cy="566928"/>
          </a:xfrm>
          <a:prstGeom prst="rect">
            <a:avLst/>
          </a:prstGeom>
          <a:solidFill>
            <a:srgbClr val="E7E8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920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Définition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Une grille régulière de cellules (pixels) ; chaque cellule porte une valeur. Représente une surface continue, contrairement au vecteur.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27432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Contenu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Une valeur numérique par cellule (altitude, température, population…) et une résolution (ex. 100 m x 100 m).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0" y="3520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Ce que cela permet de faire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Représenter des phénomènes continus ; calculer cellule par cellule ; produire des surfaces d'estimation sans limites administratives.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0" y="47320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Utilité — 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Modèles numériques de terrain, occupation du sol, surfaces de population (WorldPop), précipitations, imagerie satellite.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3.1 L'ALGÈBRE RASTER (SANS R)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Quatre catégories d'opérations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580571"/>
              </p:ext>
            </p:extLst>
          </p:nvPr>
        </p:nvGraphicFramePr>
        <p:xfrm>
          <a:off x="548640" y="1874520"/>
          <a:ext cx="11064240" cy="35478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Catégorie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Principe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Exemple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Utilité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Locales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Chaque cellule dépend uniquement de sa propre valeur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Reclasser l'altitude ; indice de végétation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Créer de nouveaux indicateurs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Chaque cellule dépend de ses cellules voisines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Calculer la pente ; lisser une surface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Détecter des tendances locales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Les cellules sont regroupées par zone (polygone)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Population moyenne par région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Passer du continu à l'indicateur par zone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Globales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 calcul dépend de l'ensemble du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 à la route la plus proche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Modéliser l'accessibilité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L'algèbre raster transforme des données brutes (image satellite, modèle d'altitude) en indicateurs directement exploitables pour la décision : zones à risque, zones prioritaires, indices de vulnérabilité.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3.2 CROISER VECTEUR ET RASTER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La combinaison raster / polygone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87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Statistique zonale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résumer les valeurs d'un raster (moyenne, somme, min, max) à l'intérieur de chaque polygone d'une couche vectorielle.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2666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93754" y="282092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Population totale par région à partir d'une surface de population (raster).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68503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0624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Précipitation moyenne annuelle par département.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27024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4847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Altitude ou pente moyenne par zone de dénombrement.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5116068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 principe peut s'inverser : convertir un polygone en raster, ou un raster en polygone. La mise en pratique se fera dans R au Jour 2 — la logique doit être comprise avant.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040880" y="1888168"/>
            <a:ext cx="4572000" cy="4297680"/>
          </a:xfrm>
          <a:prstGeom prst="roundRect">
            <a:avLst>
              <a:gd name="adj" fmla="val 2128"/>
            </a:avLst>
          </a:prstGeom>
          <a:solidFill>
            <a:srgbClr val="F7F7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2286000"/>
            <a:ext cx="420624" cy="420624"/>
          </a:xfrm>
          <a:prstGeom prst="rect">
            <a:avLst/>
          </a:prstGeom>
          <a:solidFill>
            <a:srgbClr val="97BC6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2286000"/>
            <a:ext cx="420624" cy="420624"/>
          </a:xfrm>
          <a:prstGeom prst="rect">
            <a:avLst/>
          </a:prstGeom>
          <a:solidFill>
            <a:srgbClr val="2C5F2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286000"/>
            <a:ext cx="420624" cy="420624"/>
          </a:xfrm>
          <a:prstGeom prst="rect">
            <a:avLst/>
          </a:prstGeom>
          <a:solidFill>
            <a:srgbClr val="E7E8D1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2286000"/>
            <a:ext cx="420624" cy="420624"/>
          </a:xfrm>
          <a:prstGeom prst="rect">
            <a:avLst/>
          </a:prstGeom>
          <a:solidFill>
            <a:srgbClr val="B8504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743200"/>
            <a:ext cx="420624" cy="420624"/>
          </a:xfrm>
          <a:prstGeom prst="rect">
            <a:avLst/>
          </a:prstGeom>
          <a:solidFill>
            <a:srgbClr val="C8DDB3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2743200"/>
            <a:ext cx="420624" cy="420624"/>
          </a:xfrm>
          <a:prstGeom prst="rect">
            <a:avLst/>
          </a:prstGeom>
          <a:solidFill>
            <a:srgbClr val="D9A79C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2743200"/>
            <a:ext cx="420624" cy="420624"/>
          </a:xfrm>
          <a:prstGeom prst="rect">
            <a:avLst/>
          </a:prstGeom>
          <a:solidFill>
            <a:srgbClr val="2C5F2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3960" y="2743200"/>
            <a:ext cx="420624" cy="420624"/>
          </a:xfrm>
          <a:prstGeom prst="rect">
            <a:avLst/>
          </a:prstGeom>
          <a:solidFill>
            <a:srgbClr val="97BC6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3200400"/>
            <a:ext cx="420624" cy="420624"/>
          </a:xfrm>
          <a:prstGeom prst="rect">
            <a:avLst/>
          </a:prstGeom>
          <a:solidFill>
            <a:srgbClr val="E7E8D1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9560" y="3200400"/>
            <a:ext cx="420624" cy="420624"/>
          </a:xfrm>
          <a:prstGeom prst="rect">
            <a:avLst/>
          </a:prstGeom>
          <a:solidFill>
            <a:srgbClr val="B8504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3200400"/>
            <a:ext cx="420624" cy="420624"/>
          </a:xfrm>
          <a:prstGeom prst="rect">
            <a:avLst/>
          </a:prstGeom>
          <a:solidFill>
            <a:srgbClr val="97BC6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23960" y="3200400"/>
            <a:ext cx="420624" cy="420624"/>
          </a:xfrm>
          <a:prstGeom prst="rect">
            <a:avLst/>
          </a:prstGeom>
          <a:solidFill>
            <a:srgbClr val="2C5F2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3657600"/>
            <a:ext cx="420624" cy="420624"/>
          </a:xfrm>
          <a:prstGeom prst="rect">
            <a:avLst/>
          </a:prstGeom>
          <a:solidFill>
            <a:srgbClr val="E7E8D1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9560" y="3657600"/>
            <a:ext cx="420624" cy="420624"/>
          </a:xfrm>
          <a:prstGeom prst="rect">
            <a:avLst/>
          </a:prstGeom>
          <a:solidFill>
            <a:srgbClr val="D9A79C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3657600"/>
            <a:ext cx="420624" cy="420624"/>
          </a:xfrm>
          <a:prstGeom prst="rect">
            <a:avLst/>
          </a:prstGeom>
          <a:solidFill>
            <a:srgbClr val="2C5F2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3657600"/>
            <a:ext cx="420624" cy="420624"/>
          </a:xfrm>
          <a:prstGeom prst="rect">
            <a:avLst/>
          </a:prstGeom>
          <a:solidFill>
            <a:srgbClr val="97BC6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2468880"/>
            <a:ext cx="146304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E4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5486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E6E6E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Raster (population, précipitation…) agrégé dans les limites du polygone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4. FORMATS DE FICHIERS SPATIAUX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Sous quelle forme sont stockées les données 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526949"/>
              </p:ext>
            </p:extLst>
          </p:nvPr>
        </p:nvGraphicFramePr>
        <p:xfrm>
          <a:off x="548640" y="1874520"/>
          <a:ext cx="11064240" cy="346252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Format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Type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Caractéristiques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Point clé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Shapefile (.shp)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Ensemble de plusieurs fichiers (.shp, .shx, .dbf, .prj)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Une seule couche par fichier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GeoJSON (.geojson)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Format texte, lisible, basé sur JSON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Léger, adapté au web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GeoTIFF (.tif)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Image géoréférencée avec projection intégrée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Un fichier par raster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Géodatabases (GDB)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 et/ou raster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Un seul fichier/dossier, plusieurs couches et tables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Regroupe un projet entier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4.1 ZOOM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Les bases de données géographiques (GDB)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Contrairement au shapefile (une seule couche par fichier), une géodatabase regroupe plusieurs couches, tables et leurs relations dans un seul fichier ou dossier.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File Geodatabase (.gdb)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Format propriétaire Esri — dossier contenant l'ensemble des couches d'un projet (points, lignes, polygones, tables, rasters).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3400" y="274320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3017520"/>
            <a:ext cx="64008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GeoPackage (.gpkg)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3538728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Format ouvert (norme OGC), basé sur SQLite — plusieurs couches vectorielles et rasters dans un seul fichier portable.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274320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3017520"/>
            <a:ext cx="64008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Bases spatiales serveur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0" y="379476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PostGIS, SpatiaLite… — très grands volumes, plusieurs utilisateurs simultanés.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Intérêt pour un producteur de statistiques : centraliser régions, départements, arrondissements, localités et routes dans un seul fichier cohérent.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5. REPÉRER L'ESPACE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Systèmes de référence de coordonnées (CRS)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 Terre est une sphère, la carte est plane. Le CRS définit comment projeter cette réalité et dans quelle unité les positions sont exprimées.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134845"/>
              </p:ext>
            </p:extLst>
          </p:nvPr>
        </p:nvGraphicFramePr>
        <p:xfrm>
          <a:off x="548640" y="2697480"/>
          <a:ext cx="11064240" cy="2194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Type de CRS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Unité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Exemple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Usage recommandé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Géographique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Degrés (lon/lat)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WGS84 — EPSG:4326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Stockage, échange, affichage web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Projeté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Mètres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UTM Zone 32N / 33N (Cameroun)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Calculs de distance et de superficie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76072" y="540867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Règle pratique : stocker et partager en WGS84 ; transformer vers l'UTM dès qu'un calcul de distance ou de superficie est nécessaire.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6. APPLICATION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Les données spatiales et les statistiques nationales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13332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 instituts nationaux de statistique s'appuient de plus en plus sur les données spatiales pour améliorer la qualité et la granularité de leurs productions.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6265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Cartographie censitaire et zones de dénombrement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1129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Ciblage des enquêtes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5993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Suivi des indicateurs au niveau infra-national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0857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Croisement avec des couches environnementales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0880" y="237744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040880" y="3200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41080" y="237744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641080" y="3200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41280" y="237744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0241280" y="3200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Arrondissements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Sources : Institut National de la Cartographie (INC), Humanitarian Data Exchange (HDX Cameroun)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SYNTHÈSE DU JOUR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Ce qu'il faut retenir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33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Vecteur (point, ligne, polygone) vs raster (grille de cellules)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363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Opérations vectorielles et algèbre raster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6393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Combinaison raster / polygone : la statistique zonale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1558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Formats de fichiers, dont les géodatabases (GDB)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451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 rôle du CRS dans la représentation géographique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Ces notions seront mises en pratique dans R dès le Jour 2, avec le package sf.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Questions ?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Merci pour votre participation active au Jour 1 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contact@iford-cm.org   •   www.iford-cm.org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D6C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Rendez-vous au Jour 2 : Pratique vectorielle avec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1772</Words>
  <Application>Microsoft Office PowerPoint</Application>
  <PresentationFormat>Grand écran</PresentationFormat>
  <Paragraphs>262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Bell MT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12</cp:revision>
  <dcterms:created xsi:type="dcterms:W3CDTF">2026-07-13T09:15:13Z</dcterms:created>
  <dcterms:modified xsi:type="dcterms:W3CDTF">2026-07-29T08:29:51Z</dcterms:modified>
</cp:coreProperties>
</file>