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079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16="http://schemas.microsoft.com/office/drawing/2014/main"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4020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B85042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SPATIAL ANALYSIS — DATA, ANALYSIS, AND MANIPULATION IN 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Module 1 — Day 1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7E8D1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Introduction to Spatial Thinking and Geospatial Data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Conceptual Framework — Independent of 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822960" cy="4114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C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IFORD Yaoundé — Institute for Demographic Training and Research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289B1974-41D4-1675-DE59-1CBCDE95E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305" y="56465"/>
            <a:ext cx="2031950" cy="107578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2D7A29D-6FA4-4A96-706C-AE83B711A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25" y="127340"/>
            <a:ext cx="2031950" cy="10757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1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7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" dur="1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7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Some </a:t>
            </a:r>
            <a:r>
              <a:rPr lang="en-US" sz="3000" b="1" dirty="0" err="1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Considerations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data formats (point, line, polygon, raster) are explained BEFORE and INDEPENDENTLY of 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66090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60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615184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New section: raster algebra, its categories of operations, and its usefulness, without 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4472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47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401568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New section: vector operations—points, lines, and polygons, separately or in combination.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2336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33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187952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New section: Raster/polygon combination (zonal statistics), without 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50200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20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974336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Enhanced file formats: addition of multi-layer geographic databases (GDB).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ROADMAP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Day 1 Schedule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Introduction to Spatial Thinking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788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Spatial Data Formats: Point, Line, Polygon, Raster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703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Basic Vector Operations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617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Raster algebra and raster/polygon combinations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 Formats and Geographic Databases (GDB)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0" y="28346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2788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Coordinate Reference Systems (CRS)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3703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Spatial Data and National Statistics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1. FUNDAMENTAL CONCEPTS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Spatial Thinking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630936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Thinking spatially means asking not only “how many” and “who,” but also “where” and “why there.” Location and proximity influence demographic phenomena.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621024"/>
            <a:ext cx="109728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56616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Where are the areas with high population density?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4242816"/>
            <a:ext cx="109728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87952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Are services (health care, education) well distributed?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864608"/>
            <a:ext cx="109728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809744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How do migration flows move?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5486400"/>
            <a:ext cx="109728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431536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Is there a link between location and poverty, mortality, and access to water?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40880" y="1874520"/>
            <a:ext cx="4572000" cy="4206240"/>
          </a:xfrm>
          <a:prstGeom prst="roundRect">
            <a:avLst>
              <a:gd name="adj" fmla="val 1739"/>
            </a:avLst>
          </a:prstGeom>
          <a:solidFill>
            <a:srgbClr val="F2F6F0"/>
          </a:solidFill>
          <a:ln w="12700">
            <a:solidFill>
              <a:srgbClr val="DDE6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2286000"/>
            <a:ext cx="1645920" cy="1463040"/>
          </a:xfrm>
          <a:prstGeom prst="rect">
            <a:avLst/>
          </a:prstGeom>
          <a:solidFill>
            <a:srgbClr val="97BC62">
              <a:alpha val="80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35440" y="2651760"/>
            <a:ext cx="2011680" cy="1737360"/>
          </a:xfrm>
          <a:prstGeom prst="rect">
            <a:avLst/>
          </a:prstGeom>
          <a:solidFill>
            <a:srgbClr val="E7E8D1">
              <a:alpha val="90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4023360"/>
            <a:ext cx="1828800" cy="1737360"/>
          </a:xfrm>
          <a:prstGeom prst="rect">
            <a:avLst/>
          </a:prstGeom>
          <a:solidFill>
            <a:srgbClr val="B85042">
              <a:alpha val="45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2834640"/>
            <a:ext cx="164592" cy="164592"/>
          </a:xfrm>
          <a:prstGeom prst="ellipse">
            <a:avLst/>
          </a:prstGeom>
          <a:solidFill>
            <a:srgbClr val="1E4020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0" y="3291840"/>
            <a:ext cx="164592" cy="164592"/>
          </a:xfrm>
          <a:prstGeom prst="ellipse">
            <a:avLst/>
          </a:prstGeom>
          <a:solidFill>
            <a:srgbClr val="1E402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49840" y="3291840"/>
            <a:ext cx="164592" cy="164592"/>
          </a:xfrm>
          <a:prstGeom prst="ellipse">
            <a:avLst/>
          </a:prstGeom>
          <a:solidFill>
            <a:srgbClr val="1E4020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0" y="3840480"/>
            <a:ext cx="164592" cy="164592"/>
          </a:xfrm>
          <a:prstGeom prst="ellipse">
            <a:avLst/>
          </a:prstGeom>
          <a:solidFill>
            <a:srgbClr val="1E4020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4754880"/>
            <a:ext cx="164592" cy="164592"/>
          </a:xfrm>
          <a:prstGeom prst="ellipse">
            <a:avLst/>
          </a:prstGeom>
          <a:solidFill>
            <a:srgbClr val="1E4020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6172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E6E6E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Location, Proximity, Distribution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SPATIAL DATA FORMATS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Two main categories: vector and raster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2F6F0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VECTOR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555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Discrete objects with precise boundaries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20040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14553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Point — a position (X, Y)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4400" y="3886200"/>
            <a:ext cx="36576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3749040"/>
            <a:ext cx="0" cy="27432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703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Line — a continuous path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4297680"/>
            <a:ext cx="365760" cy="274320"/>
          </a:xfrm>
          <a:prstGeom prst="rect">
            <a:avLst/>
          </a:prstGeom>
          <a:solidFill>
            <a:srgbClr val="2C5F2D">
              <a:alpha val="70000"/>
            </a:srgbClr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4251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Polygon — a closed area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5074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5555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Uses: localities, roads, regions, census tracts.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09360" y="192024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BF2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148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RASTER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3680" y="2560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55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Continuous surface, grid of cells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675120" y="3154680"/>
            <a:ext cx="457200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3154680"/>
            <a:ext cx="457200" cy="457200"/>
          </a:xfrm>
          <a:prstGeom prst="rect">
            <a:avLst/>
          </a:prstGeom>
          <a:solidFill>
            <a:srgbClr val="C8DD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3154680"/>
            <a:ext cx="45720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3657600"/>
            <a:ext cx="457200" cy="457200"/>
          </a:xfrm>
          <a:prstGeom prst="rect">
            <a:avLst/>
          </a:prstGeom>
          <a:solidFill>
            <a:srgbClr val="E7E8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3657600"/>
            <a:ext cx="45720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3657600"/>
            <a:ext cx="457200" cy="457200"/>
          </a:xfrm>
          <a:prstGeom prst="rect">
            <a:avLst/>
          </a:prstGeom>
          <a:solidFill>
            <a:srgbClr val="D9A79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4160520"/>
            <a:ext cx="457200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78040" y="4160520"/>
            <a:ext cx="45720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0" y="4160520"/>
            <a:ext cx="457200" cy="457200"/>
          </a:xfrm>
          <a:prstGeom prst="rect">
            <a:avLst/>
          </a:prstGeom>
          <a:solidFill>
            <a:srgbClr val="C8DD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32461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Each cell (pixel) has a value: elevation, population, land use, etc.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83680" y="5074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55555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Uses: elevation models, population distributions, satellite imagery.</a:t>
            </a:r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2.1 VECTOR DATA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The point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2F6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9260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611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9202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Definition —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 unique position in space, defined by a pair of coordinates (X, Y).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0" y="26974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Content —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 geographic coordinate, associated with attributes (name, type, value, date, etc.).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0" y="34747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What this enables —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Locating a specific place; calculating a distance between two places; measuring the concentration or density of events.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0" y="43434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Uses —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Health centers, schools, surveyed households, disease cases, localities.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VECTOR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The line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2F6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926080"/>
            <a:ext cx="1463040" cy="914400"/>
          </a:xfrm>
          <a:prstGeom prst="line">
            <a:avLst/>
          </a:prstGeom>
          <a:noFill/>
          <a:ln w="508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852928"/>
            <a:ext cx="146304" cy="146304"/>
          </a:xfrm>
          <a:prstGeom prst="ellipse">
            <a:avLst/>
          </a:prstGeom>
          <a:solidFill>
            <a:srgbClr val="1E4020"/>
          </a:solidFill>
          <a:ln/>
        </p:spPr>
      </p:sp>
      <p:sp>
        <p:nvSpPr>
          <p:cNvPr id="8" name="Shape 6"/>
          <p:cNvSpPr/>
          <p:nvPr/>
        </p:nvSpPr>
        <p:spPr>
          <a:xfrm>
            <a:off x="2395728" y="3767328"/>
            <a:ext cx="146304" cy="146304"/>
          </a:xfrm>
          <a:prstGeom prst="ellipse">
            <a:avLst/>
          </a:prstGeom>
          <a:solidFill>
            <a:srgbClr val="1E402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9202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Definition —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An ordered sequence of points connected to one another, forming a continuous path.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0" y="26974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Content —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 sequence of coordinates and attributes (name, category, length, direction).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0" y="34747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What this allows you to do — </a:t>
            </a: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Measure a distance or travel time; analyze the connectivity of a network; calculate a zone of influence along an axis.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0" y="43434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Uses —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Roads, waterways, power lines, administrative boundaries.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2.1 VECTOR DATA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The Polygon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2F6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880360"/>
            <a:ext cx="1371600" cy="1005840"/>
          </a:xfrm>
          <a:prstGeom prst="rect">
            <a:avLst/>
          </a:prstGeom>
          <a:solidFill>
            <a:srgbClr val="2C5F2D">
              <a:alpha val="75000"/>
            </a:srgbClr>
          </a:solidFill>
          <a:ln w="25400">
            <a:solidFill>
              <a:srgbClr val="1E4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9202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Definition —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 closed area bounded by a line whose starting point and ending point coincide.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0" y="26974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Content —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 closed boundary and attributes (area name, population, area, administrative code).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0" y="34747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What it enables —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Calculate an area; aggregate data by area; determine whether an object lies within a given boundary.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0" y="43434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Uses —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Regions, departments, districts, census tracts, watersheds.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2.2 MANIPULATING VECTORS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Basic Vector Operations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668411"/>
              </p:ext>
            </p:extLst>
          </p:nvPr>
        </p:nvGraphicFramePr>
        <p:xfrm>
          <a:off x="548640" y="1874520"/>
          <a:ext cx="11064240" cy="446227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Operation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Applies to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What it does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Example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Measure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Points, lines, polygons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Distance, length, area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Area of a region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Buffer zone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Points, lines, polygons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Area of influence at a given distance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5-km radius around a health center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Merge (dissolve)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Polygons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Groups polygons by an attribute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Counties → regions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Clip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All geometries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Extract a layer from within another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Roads within a region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Intersection / union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Polygons (and others)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Combine two layers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Flood zones ∩ administrative boundaries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Spatial join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All geometries, among themselves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Associate attributes based on position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Household (point) → region (polygon)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RASTER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Raster Data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BF2E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94560"/>
            <a:ext cx="566928" cy="566928"/>
          </a:xfrm>
          <a:prstGeom prst="rect">
            <a:avLst/>
          </a:prstGeom>
          <a:solidFill>
            <a:srgbClr val="97BC6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2194560"/>
            <a:ext cx="566928" cy="566928"/>
          </a:xfrm>
          <a:prstGeom prst="rect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194560"/>
            <a:ext cx="566928" cy="566928"/>
          </a:xfrm>
          <a:prstGeom prst="rect">
            <a:avLst/>
          </a:prstGeom>
          <a:solidFill>
            <a:srgbClr val="E7E8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834640"/>
            <a:ext cx="566928" cy="566928"/>
          </a:xfrm>
          <a:prstGeom prst="rect">
            <a:avLst/>
          </a:prstGeom>
          <a:solidFill>
            <a:srgbClr val="B850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2834640"/>
            <a:ext cx="566928" cy="566928"/>
          </a:xfrm>
          <a:prstGeom prst="rect">
            <a:avLst/>
          </a:prstGeom>
          <a:solidFill>
            <a:srgbClr val="C8DDB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2834640"/>
            <a:ext cx="566928" cy="566928"/>
          </a:xfrm>
          <a:prstGeom prst="rect">
            <a:avLst/>
          </a:prstGeom>
          <a:solidFill>
            <a:srgbClr val="D9A79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474720"/>
            <a:ext cx="566928" cy="566928"/>
          </a:xfrm>
          <a:prstGeom prst="rect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17320" y="3474720"/>
            <a:ext cx="566928" cy="566928"/>
          </a:xfrm>
          <a:prstGeom prst="rect">
            <a:avLst/>
          </a:prstGeom>
          <a:solidFill>
            <a:srgbClr val="97BC6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3474720"/>
            <a:ext cx="566928" cy="566928"/>
          </a:xfrm>
          <a:prstGeom prst="rect">
            <a:avLst/>
          </a:prstGeom>
          <a:solidFill>
            <a:srgbClr val="E7E8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9202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Definition —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 regular grid of cells (pixels); each cell contains a value. Represents a continuous surface, unlike vector data.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0" y="27432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Content —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 numerical value per cell (elevation, temperature, population, etc.) and a resolution (e.g., 100 m × 100 m).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00400" y="35204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What it enables —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Representing continuous phenomena; performing cell-by-cell calculations; generating estimated areas without administrative boundaries.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00400" y="473202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Applications — 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Digital elevation models, land cover, population distributions (WorldPop), precipitation, satellite imagery.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3.1 RASTER ALGEBRA (WITHOUT R)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Four Categories of Operations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580571"/>
              </p:ext>
            </p:extLst>
          </p:nvPr>
        </p:nvGraphicFramePr>
        <p:xfrm>
          <a:off x="548640" y="1874520"/>
          <a:ext cx="11064240" cy="35478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Category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Principle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Example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Usage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Local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Each cell depends solely on its own value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Reclassify elevation; vegetation index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Create new indicators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Focal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Each cell depends on its neighboring cells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Calculate slope; smooth a surface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Detect local trends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Zonal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Cells are grouped by zone (polygon)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Average population by region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Switch from continuous data to zone-based indicators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Global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The calculation is based on the entire raster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Distance to the nearest road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Modeling accessibility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555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Raster algebra transforms raw data (satellite imagery, elevation models) into indicators that can be directly used for decision-making: risk zones, priority zones, vulnerability indices.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3.2 CROSS-REFERENCING VECTOR AND RASTER DATA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Combining Raster and Polygon Data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687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Zonal statistics—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summarize the values of a raster (mean, sum, min, max) within each polygon of a vector layer.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026664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793754" y="282092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Total population by region based on a population raster.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685032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0624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Average annual precipitation by department.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270248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04847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Average elevation or slope by census tract.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5116068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555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process can be reversed: converting a polygon to a raster, or a raster to a polygon. We’ll put this into practice in R on Day 2—you’ll need to understand the logic beforehand.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040880" y="1888168"/>
            <a:ext cx="4572000" cy="4297680"/>
          </a:xfrm>
          <a:prstGeom prst="roundRect">
            <a:avLst>
              <a:gd name="adj" fmla="val 2128"/>
            </a:avLst>
          </a:prstGeom>
          <a:solidFill>
            <a:srgbClr val="F7F7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2286000"/>
            <a:ext cx="420624" cy="420624"/>
          </a:xfrm>
          <a:prstGeom prst="rect">
            <a:avLst/>
          </a:prstGeom>
          <a:solidFill>
            <a:srgbClr val="97BC6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2286000"/>
            <a:ext cx="420624" cy="420624"/>
          </a:xfrm>
          <a:prstGeom prst="rect">
            <a:avLst/>
          </a:prstGeom>
          <a:solidFill>
            <a:srgbClr val="2C5F2D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286000"/>
            <a:ext cx="420624" cy="420624"/>
          </a:xfrm>
          <a:prstGeom prst="rect">
            <a:avLst/>
          </a:prstGeom>
          <a:solidFill>
            <a:srgbClr val="E7E8D1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2286000"/>
            <a:ext cx="420624" cy="420624"/>
          </a:xfrm>
          <a:prstGeom prst="rect">
            <a:avLst/>
          </a:prstGeom>
          <a:solidFill>
            <a:srgbClr val="B8504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2743200"/>
            <a:ext cx="420624" cy="420624"/>
          </a:xfrm>
          <a:prstGeom prst="rect">
            <a:avLst/>
          </a:prstGeom>
          <a:solidFill>
            <a:srgbClr val="C8DDB3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09560" y="2743200"/>
            <a:ext cx="420624" cy="420624"/>
          </a:xfrm>
          <a:prstGeom prst="rect">
            <a:avLst/>
          </a:prstGeom>
          <a:solidFill>
            <a:srgbClr val="D9A79C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2743200"/>
            <a:ext cx="420624" cy="420624"/>
          </a:xfrm>
          <a:prstGeom prst="rect">
            <a:avLst/>
          </a:prstGeom>
          <a:solidFill>
            <a:srgbClr val="2C5F2D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23960" y="2743200"/>
            <a:ext cx="420624" cy="420624"/>
          </a:xfrm>
          <a:prstGeom prst="rect">
            <a:avLst/>
          </a:prstGeom>
          <a:solidFill>
            <a:srgbClr val="97BC6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2360" y="3200400"/>
            <a:ext cx="420624" cy="420624"/>
          </a:xfrm>
          <a:prstGeom prst="rect">
            <a:avLst/>
          </a:prstGeom>
          <a:solidFill>
            <a:srgbClr val="E7E8D1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09560" y="3200400"/>
            <a:ext cx="420624" cy="420624"/>
          </a:xfrm>
          <a:prstGeom prst="rect">
            <a:avLst/>
          </a:prstGeom>
          <a:solidFill>
            <a:srgbClr val="B8504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66760" y="3200400"/>
            <a:ext cx="420624" cy="420624"/>
          </a:xfrm>
          <a:prstGeom prst="rect">
            <a:avLst/>
          </a:prstGeom>
          <a:solidFill>
            <a:srgbClr val="97BC6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23960" y="3200400"/>
            <a:ext cx="420624" cy="420624"/>
          </a:xfrm>
          <a:prstGeom prst="rect">
            <a:avLst/>
          </a:prstGeom>
          <a:solidFill>
            <a:srgbClr val="2C5F2D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2360" y="3657600"/>
            <a:ext cx="420624" cy="420624"/>
          </a:xfrm>
          <a:prstGeom prst="rect">
            <a:avLst/>
          </a:prstGeom>
          <a:solidFill>
            <a:srgbClr val="E7E8D1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09560" y="3657600"/>
            <a:ext cx="420624" cy="420624"/>
          </a:xfrm>
          <a:prstGeom prst="rect">
            <a:avLst/>
          </a:prstGeom>
          <a:solidFill>
            <a:srgbClr val="D9A79C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66760" y="3657600"/>
            <a:ext cx="420624" cy="420624"/>
          </a:xfrm>
          <a:prstGeom prst="rect">
            <a:avLst/>
          </a:prstGeom>
          <a:solidFill>
            <a:srgbClr val="2C5F2D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23960" y="3657600"/>
            <a:ext cx="420624" cy="420624"/>
          </a:xfrm>
          <a:prstGeom prst="rect">
            <a:avLst/>
          </a:prstGeom>
          <a:solidFill>
            <a:srgbClr val="97BC6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2468880"/>
            <a:ext cx="146304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1E4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4023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54864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E6E6E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Raster (population, precipitation, etc.) aggregated within the polygon’s boundaries</a:t>
            </a:r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4. SPATIAL FILE FORMATS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In what format is the data stored?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526949"/>
              </p:ext>
            </p:extLst>
          </p:nvPr>
        </p:nvGraphicFramePr>
        <p:xfrm>
          <a:off x="548640" y="1874520"/>
          <a:ext cx="11064240" cy="346252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Format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Type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Characteristics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Key Point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Shapefile (.shp)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Vector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Set of multiple files (.shp, .shx, .dbf, .prj)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One layer per file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GeoJSON (.geojson)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Vector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Text-based, human-readable format based on JSON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Lightweight, web-friendly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GeoTIFF (.tif)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Raster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Georeferenced image with embedded projection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One file per raster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Geodatabases (GDB)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Vector and/or raster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 single file or folder containing multiple layers and tables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Contains an entire project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4.1 ZOOM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Geographic Databases (GDB)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Unlike a shapefile (which contains only one layer per file), a geodatabase combines multiple layers, tables, and their relationships into a single file or folder.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2F6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546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File Geodatabase (.gdb)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Esri proprietary format—a folder containing all the layers of a project (points, lines, polygons, tables, rasters).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43400" y="274320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2F6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3017520"/>
            <a:ext cx="640080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1546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GeoPackage (.gpkg)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0" y="3538728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Open format (OGC standard), based on SQLite—multiple vector and raster layers in a single portable file.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38160" y="274320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2F6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3017520"/>
            <a:ext cx="640080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31546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Server-based spatial databases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412480" y="379476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PostGIS, SpatiaLite… — very large volumes, multiple concurrent users.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5555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Benefits for a statistics producer: centralizing regions, departments, districts, localities, and roads into a single, coherent file.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5. IDENTIFYING SPACE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Coordinate Reference Systems (CRS)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Earth is a sphere; the map is flat. The CRS defines how this reality is projected and the units in which positions are expressed.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134845"/>
              </p:ext>
            </p:extLst>
          </p:nvPr>
        </p:nvGraphicFramePr>
        <p:xfrm>
          <a:off x="548640" y="2697480"/>
          <a:ext cx="11064240" cy="21945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Type of CRS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Unit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Example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Recommended Use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Geographic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Degrees (longitude/latitude)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WGS84 — EPSG:4326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Storage, exchange, web display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Projected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Meters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UTM Zone 32N / 33N (Cameroon)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Distance and area calculations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76072" y="5408676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555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 of thumb: Store and share data in WGS84; convert to UTM whenever a distance or area calculation is needed.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6. APPLICATION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Spatial Data and National Statistics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13332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National statistical agencies are increasingly relying on spatial data to improve the quality and granularity of their outputs.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6265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Census mapping and enumeration areas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1129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Survey Targeting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05993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Monitoring indicators at the subnational level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60857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Cross-referencing with environmental layers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40880" y="2377440"/>
            <a:ext cx="1417320" cy="146304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251460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040880" y="3200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41080" y="2377440"/>
            <a:ext cx="1417320" cy="146304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8641080" y="251460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641080" y="3200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241280" y="2377440"/>
            <a:ext cx="1417320" cy="146304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0" y="251460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0241280" y="3200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4114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Sources: National Institute of Cartography (INC), Humanitarian Data Exchange (HDX Cameroon)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DAY 1 SUMMARY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Key Takeaways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269748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633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Vector (point, line, polygon) vs. raster (grid of cells)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13639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Vector operations and raster algebra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370332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63931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Combining raster and polygon data: zonal statistics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1558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 formats, including geodatabases (GDB)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" y="470916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64515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role of the CRS in geographic representation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These concepts will be put into practice in R starting on Day 2, using the sf package.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Questions?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Thank you for your active participation on Day 1!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contact@iford-cm.org   •   www.iford-cm.org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9D6C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See you on Day 2: Vector Analysis with 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1772</Words>
  <Application>Microsoft Office PowerPoint</Application>
  <PresentationFormat>Grand écran</PresentationFormat>
  <Paragraphs>262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Bell MT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PptxGenJS Presentation</dc:title>
  <dc:subject>PptxGenJS Presentation</dc:subject>
  <dc:creator>PptxGenJS</dc:creator>
  <lastModifiedBy>PC</lastModifiedBy>
  <revision>11</revision>
  <dcterms:created xsi:type="dcterms:W3CDTF">2026-07-13T09:15:13.0000000Z</dcterms:created>
  <dcterms:modified xsi:type="dcterms:W3CDTF">2026-07-13T16:19:08.0000000Z</dcterms:modified>
  <keywords>, docId:7010A05BD1B81E6BA323877760810A67</keywords>
</coreProperties>
</file>