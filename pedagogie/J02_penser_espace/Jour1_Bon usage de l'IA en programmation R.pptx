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76" r:id="rId3"/>
    <p:sldId id="277" r:id="rId4"/>
    <p:sldId id="278" r:id="rId5"/>
    <p:sldId id="279" r:id="rId6"/>
    <p:sldId id="280" r:id="rId7"/>
    <p:sldId id="281" r:id="rId8"/>
    <p:sldId id="282" r:id="rId9"/>
    <p:sldId id="283" r:id="rId10"/>
    <p:sldId id="284" r:id="rId11"/>
    <p:sldId id="285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71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36144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63040" y="0"/>
            <a:ext cx="0" cy="6858000"/>
          </a:xfrm>
          <a:prstGeom prst="line">
            <a:avLst/>
          </a:prstGeom>
          <a:noFill/>
          <a:ln w="9525">
            <a:solidFill>
              <a:srgbClr val="1332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926080" y="0"/>
            <a:ext cx="0" cy="6858000"/>
          </a:xfrm>
          <a:prstGeom prst="line">
            <a:avLst/>
          </a:prstGeom>
          <a:noFill/>
          <a:ln w="9525">
            <a:solidFill>
              <a:srgbClr val="1332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389120" y="0"/>
            <a:ext cx="0" cy="6858000"/>
          </a:xfrm>
          <a:prstGeom prst="line">
            <a:avLst/>
          </a:prstGeom>
          <a:noFill/>
          <a:ln w="9525">
            <a:solidFill>
              <a:srgbClr val="1332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852160" y="0"/>
            <a:ext cx="0" cy="6858000"/>
          </a:xfrm>
          <a:prstGeom prst="line">
            <a:avLst/>
          </a:prstGeom>
          <a:noFill/>
          <a:ln w="9525">
            <a:solidFill>
              <a:srgbClr val="1332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9525">
            <a:solidFill>
              <a:srgbClr val="1332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0" y="0"/>
            <a:ext cx="0" cy="6858000"/>
          </a:xfrm>
          <a:prstGeom prst="line">
            <a:avLst/>
          </a:prstGeom>
          <a:noFill/>
          <a:ln w="9525">
            <a:solidFill>
              <a:srgbClr val="1332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0" y="0"/>
            <a:ext cx="0" cy="6858000"/>
          </a:xfrm>
          <a:prstGeom prst="line">
            <a:avLst/>
          </a:prstGeom>
          <a:noFill/>
          <a:ln w="9525">
            <a:solidFill>
              <a:srgbClr val="1332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1280160"/>
            <a:ext cx="12188952" cy="0"/>
          </a:xfrm>
          <a:prstGeom prst="line">
            <a:avLst/>
          </a:prstGeom>
          <a:noFill/>
          <a:ln w="9525">
            <a:solidFill>
              <a:srgbClr val="1332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2560320"/>
            <a:ext cx="12188952" cy="0"/>
          </a:xfrm>
          <a:prstGeom prst="line">
            <a:avLst/>
          </a:prstGeom>
          <a:noFill/>
          <a:ln w="9525">
            <a:solidFill>
              <a:srgbClr val="1332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3840480"/>
            <a:ext cx="12188952" cy="0"/>
          </a:xfrm>
          <a:prstGeom prst="line">
            <a:avLst/>
          </a:prstGeom>
          <a:noFill/>
          <a:ln w="9525">
            <a:solidFill>
              <a:srgbClr val="1332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5120640"/>
            <a:ext cx="12188952" cy="0"/>
          </a:xfrm>
          <a:prstGeom prst="line">
            <a:avLst/>
          </a:prstGeom>
          <a:noFill/>
          <a:ln w="9525">
            <a:solidFill>
              <a:srgbClr val="1332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8E04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1371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EN ANALYSE DES DONNÉES SPATIALES ET MANIPULATION DANS 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1965960"/>
            <a:ext cx="9144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JOUR 1</a:t>
            </a:r>
            <a:endParaRPr lang="en-US" sz="7200" dirty="0"/>
          </a:p>
        </p:txBody>
      </p:sp>
      <p:sp>
        <p:nvSpPr>
          <p:cNvPr id="16" name="Text 14"/>
          <p:cNvSpPr/>
          <p:nvPr/>
        </p:nvSpPr>
        <p:spPr>
          <a:xfrm>
            <a:off x="914400" y="324612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CFE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à R à l'ère de l'IA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914400" y="4160520"/>
            <a:ext cx="2926080" cy="0"/>
          </a:xfrm>
          <a:prstGeom prst="line">
            <a:avLst/>
          </a:prstGeom>
          <a:noFill/>
          <a:ln w="31750">
            <a:solidFill>
              <a:srgbClr val="D98E0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38912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AFC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de séance — R 4.4 · RStudio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AFC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destination des Instituts Nationaux de la Statistique et de Cartographie</a:t>
            </a:r>
            <a:endParaRPr lang="en-US" sz="1500" dirty="0"/>
          </a:p>
        </p:txBody>
      </p:sp>
      <p:pic>
        <p:nvPicPr>
          <p:cNvPr id="26" name="Image 25">
            <a:extLst>
              <a:ext uri="{FF2B5EF4-FFF2-40B4-BE49-F238E27FC236}">
                <a16:creationId xmlns:a16="http://schemas.microsoft.com/office/drawing/2014/main" id="{962ABD6D-381F-7AE5-ABF3-6F8F391B1F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1575" y="65112"/>
            <a:ext cx="2031950" cy="1075789"/>
          </a:xfrm>
          <a:prstGeom prst="rect">
            <a:avLst/>
          </a:prstGeom>
        </p:spPr>
      </p:pic>
      <p:pic>
        <p:nvPicPr>
          <p:cNvPr id="27" name="Image 26">
            <a:extLst>
              <a:ext uri="{FF2B5EF4-FFF2-40B4-BE49-F238E27FC236}">
                <a16:creationId xmlns:a16="http://schemas.microsoft.com/office/drawing/2014/main" id="{ADBC23E9-0D2D-5C1F-F7A1-614A339A37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1018" y="112931"/>
            <a:ext cx="2031950" cy="1075789"/>
          </a:xfrm>
          <a:prstGeom prst="rect">
            <a:avLst/>
          </a:prstGeom>
        </p:spPr>
      </p:pic>
      <p:pic>
        <p:nvPicPr>
          <p:cNvPr id="28" name="Image 27">
            <a:extLst>
              <a:ext uri="{FF2B5EF4-FFF2-40B4-BE49-F238E27FC236}">
                <a16:creationId xmlns:a16="http://schemas.microsoft.com/office/drawing/2014/main" id="{5BBDFB5C-A955-E238-DC24-E9317031A0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1915" y="102186"/>
            <a:ext cx="2031950" cy="1075789"/>
          </a:xfrm>
          <a:prstGeom prst="rect">
            <a:avLst/>
          </a:prstGeom>
        </p:spPr>
      </p:pic>
      <p:pic>
        <p:nvPicPr>
          <p:cNvPr id="29" name="Image 28">
            <a:extLst>
              <a:ext uri="{FF2B5EF4-FFF2-40B4-BE49-F238E27FC236}">
                <a16:creationId xmlns:a16="http://schemas.microsoft.com/office/drawing/2014/main" id="{20756308-743D-6F59-D439-C103D827B4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2812" y="56466"/>
            <a:ext cx="2031950" cy="107578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6" dur="1500" tmFilter="0, 0; .2, .5; .8, .5; 1, 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750" autoRev="1" fill="hold"/>
                                        <p:tgtEl>
                                          <p:spTgt spid="2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26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0" dur="1500" tmFilter="0, 0; .2, .5; .8, .5; 1, 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750" autoRev="1" fill="hold"/>
                                        <p:tgtEl>
                                          <p:spTgt spid="2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000"/>
                            </p:stCondLst>
                            <p:childTnLst>
                              <p:par>
                                <p:cTn id="13" presetID="26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4" dur="1500" tmFilter="0, 0; .2, .5; .8, .5; 1, 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750" autoRev="1" fill="hold"/>
                                        <p:tgtEl>
                                          <p:spTgt spid="2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500"/>
                            </p:stCondLst>
                            <p:childTnLst>
                              <p:par>
                                <p:cTn id="17" presetID="26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8" dur="1500" tmFilter="0, 0; .2, .5; .8, .5; 1, 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750" autoRev="1" fill="hold"/>
                                        <p:tgtEl>
                                          <p:spTgt spid="2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8E04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3774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288036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Bon usage de l'IA en programmation R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434340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AFC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Méthode, exemples et pièges à </a:t>
            </a:r>
            <a:r>
              <a:rPr lang="en-US" sz="1800" i="1" dirty="0" err="1">
                <a:solidFill>
                  <a:srgbClr val="AFC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éviter</a:t>
            </a:r>
            <a:r>
              <a:rPr lang="en-US" sz="1800" i="1" dirty="0">
                <a:solidFill>
                  <a:srgbClr val="AFC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Pourquoi associer un assistant IA à R 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607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de temps sur les tâches répétitives et bien connues</a:t>
            </a:r>
            <a:endParaRPr lang="en-US" sz="2400" dirty="0"/>
          </a:p>
          <a:p>
            <a:pPr marL="342900" indent="-342900">
              <a:spcAft>
                <a:spcPts val="2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Aide à la mémorisation de la syntaxe et des arguments de fonctions</a:t>
            </a:r>
            <a:endParaRPr lang="en-US" sz="2400" dirty="0"/>
          </a:p>
          <a:p>
            <a:pPr marL="342900" indent="-342900">
              <a:spcAft>
                <a:spcPts val="2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Accélération de l'apprentissage : demander d'expliquer une ligne de code</a:t>
            </a:r>
            <a:endParaRPr lang="en-US" sz="2400" dirty="0"/>
          </a:p>
          <a:p>
            <a:pPr marL="342900" indent="-342900">
              <a:spcAft>
                <a:spcPts val="2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: l'IA ne connaît pas la structure réelle de vos fichiers tant qu'on ne la lui donne pas</a:t>
            </a:r>
            <a:endParaRPr lang="en-US" sz="2400" dirty="0"/>
          </a:p>
          <a:p>
            <a:pPr marL="342900" indent="-342900">
              <a:spcAft>
                <a:spcPts val="2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L'analyste reste seul responsable de la validité scientifique du résultat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 00 — Introduction à R à l'ère de l'IA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A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8E0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4114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étapes pour bien prompter un traitement R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2606040" cy="4206240"/>
          </a:xfrm>
          <a:prstGeom prst="roundRect">
            <a:avLst>
              <a:gd name="adj" fmla="val 2456"/>
            </a:avLst>
          </a:prstGeom>
          <a:solidFill>
            <a:srgbClr val="0F2A4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23060" y="1783080"/>
            <a:ext cx="640080" cy="640080"/>
          </a:xfrm>
          <a:prstGeom prst="ellipse">
            <a:avLst/>
          </a:prstGeom>
          <a:solidFill>
            <a:srgbClr val="D98E04"/>
          </a:solidFill>
          <a:ln/>
        </p:spPr>
      </p:sp>
      <p:sp>
        <p:nvSpPr>
          <p:cNvPr id="7" name="Text 5"/>
          <p:cNvSpPr/>
          <p:nvPr/>
        </p:nvSpPr>
        <p:spPr>
          <a:xfrm>
            <a:off x="1623060" y="1783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77240" y="256032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Décomposer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22960" y="3337560"/>
            <a:ext cx="22402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2000" dirty="0">
                <a:solidFill>
                  <a:srgbClr val="CF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Sous-tâches simples, en langage naturel, avant d'ouvrir l'IA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264408" y="3429000"/>
            <a:ext cx="109728" cy="320040"/>
          </a:xfrm>
          <a:prstGeom prst="rightArrow">
            <a:avLst/>
          </a:prstGeom>
          <a:solidFill>
            <a:srgbClr val="D98E04"/>
          </a:solidFill>
          <a:ln/>
        </p:spPr>
      </p:sp>
      <p:sp>
        <p:nvSpPr>
          <p:cNvPr id="11" name="Shape 9"/>
          <p:cNvSpPr/>
          <p:nvPr/>
        </p:nvSpPr>
        <p:spPr>
          <a:xfrm>
            <a:off x="3383280" y="1508760"/>
            <a:ext cx="2606040" cy="4206240"/>
          </a:xfrm>
          <a:prstGeom prst="roundRect">
            <a:avLst>
              <a:gd name="adj" fmla="val 2456"/>
            </a:avLst>
          </a:prstGeom>
          <a:solidFill>
            <a:srgbClr val="0F2A4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66260" y="1783080"/>
            <a:ext cx="640080" cy="640080"/>
          </a:xfrm>
          <a:prstGeom prst="ellipse">
            <a:avLst/>
          </a:prstGeom>
          <a:solidFill>
            <a:srgbClr val="D98E04"/>
          </a:solidFill>
          <a:ln/>
        </p:spPr>
      </p:sp>
      <p:sp>
        <p:nvSpPr>
          <p:cNvPr id="13" name="Text 11"/>
          <p:cNvSpPr/>
          <p:nvPr/>
        </p:nvSpPr>
        <p:spPr>
          <a:xfrm>
            <a:off x="4366260" y="1783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520440" y="256032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Définir l'algorithme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566160" y="3337560"/>
            <a:ext cx="22402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dirty="0">
                <a:solidFill>
                  <a:srgbClr val="CF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les choix méthodologiques : l'écrire soi-même d'abord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6007608" y="3429000"/>
            <a:ext cx="109728" cy="320040"/>
          </a:xfrm>
          <a:prstGeom prst="rightArrow">
            <a:avLst/>
          </a:prstGeom>
          <a:solidFill>
            <a:srgbClr val="D98E04"/>
          </a:solidFill>
          <a:ln/>
        </p:spPr>
      </p:sp>
      <p:sp>
        <p:nvSpPr>
          <p:cNvPr id="17" name="Shape 15"/>
          <p:cNvSpPr/>
          <p:nvPr/>
        </p:nvSpPr>
        <p:spPr>
          <a:xfrm>
            <a:off x="6126480" y="1508760"/>
            <a:ext cx="2606040" cy="4206240"/>
          </a:xfrm>
          <a:prstGeom prst="roundRect">
            <a:avLst>
              <a:gd name="adj" fmla="val 2456"/>
            </a:avLst>
          </a:prstGeom>
          <a:solidFill>
            <a:srgbClr val="0F2A4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09460" y="1783080"/>
            <a:ext cx="640080" cy="640080"/>
          </a:xfrm>
          <a:prstGeom prst="ellipse">
            <a:avLst/>
          </a:prstGeom>
          <a:solidFill>
            <a:srgbClr val="D98E04"/>
          </a:solidFill>
          <a:ln/>
        </p:spPr>
      </p:sp>
      <p:sp>
        <p:nvSpPr>
          <p:cNvPr id="19" name="Text 17"/>
          <p:cNvSpPr/>
          <p:nvPr/>
        </p:nvSpPr>
        <p:spPr>
          <a:xfrm>
            <a:off x="7109460" y="1783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263640" y="256032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Prompter par blocs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309360" y="3337560"/>
            <a:ext cx="22402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dirty="0">
                <a:solidFill>
                  <a:srgbClr val="CF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sous-tâche à la fois — jamais un script entier d'un coup</a:t>
            </a: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8750808" y="3429000"/>
            <a:ext cx="109728" cy="320040"/>
          </a:xfrm>
          <a:prstGeom prst="rightArrow">
            <a:avLst/>
          </a:prstGeom>
          <a:solidFill>
            <a:srgbClr val="D98E04"/>
          </a:solidFill>
          <a:ln/>
        </p:spPr>
      </p:sp>
      <p:sp>
        <p:nvSpPr>
          <p:cNvPr id="23" name="Shape 21"/>
          <p:cNvSpPr/>
          <p:nvPr/>
        </p:nvSpPr>
        <p:spPr>
          <a:xfrm>
            <a:off x="8869680" y="1508760"/>
            <a:ext cx="2606040" cy="4206240"/>
          </a:xfrm>
          <a:prstGeom prst="roundRect">
            <a:avLst>
              <a:gd name="adj" fmla="val 2456"/>
            </a:avLst>
          </a:prstGeom>
          <a:solidFill>
            <a:srgbClr val="0F2A4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852660" y="1783080"/>
            <a:ext cx="640080" cy="640080"/>
          </a:xfrm>
          <a:prstGeom prst="ellipse">
            <a:avLst/>
          </a:prstGeom>
          <a:solidFill>
            <a:srgbClr val="D98E04"/>
          </a:solidFill>
          <a:ln/>
        </p:spPr>
      </p:sp>
      <p:sp>
        <p:nvSpPr>
          <p:cNvPr id="25" name="Text 23"/>
          <p:cNvSpPr/>
          <p:nvPr/>
        </p:nvSpPr>
        <p:spPr>
          <a:xfrm>
            <a:off x="9852660" y="1783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9006840" y="256032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Relire, tester, comprendre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9052560" y="3337560"/>
            <a:ext cx="22402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2000" dirty="0">
                <a:solidFill>
                  <a:srgbClr val="CF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Exécuter sur les vraies données, contrôler, réexpliquer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 00 — Introduction à R à l'ère de l'IA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— EXEMPLE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Décomposer une tâche avant de prompter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120640" cy="1188720"/>
          </a:xfrm>
          <a:prstGeom prst="roundRect">
            <a:avLst>
              <a:gd name="adj" fmla="val 4615"/>
            </a:avLst>
          </a:prstGeom>
          <a:solidFill>
            <a:srgbClr val="F7F9FA"/>
          </a:solidFill>
          <a:ln w="19050">
            <a:solidFill>
              <a:srgbClr val="C9A2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916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8A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INITIAL (trop vague)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Calculer le taux de dépendance démographique par région. »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3017520" y="2834640"/>
            <a:ext cx="640080" cy="457200"/>
          </a:xfrm>
          <a:prstGeom prst="downArrow">
            <a:avLst/>
          </a:prstGeom>
          <a:solidFill>
            <a:srgbClr val="D98E04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3383280"/>
            <a:ext cx="10881360" cy="2743200"/>
          </a:xfrm>
          <a:prstGeom prst="roundRect">
            <a:avLst>
              <a:gd name="adj" fmla="val 2000"/>
            </a:avLst>
          </a:prstGeom>
          <a:solidFill>
            <a:srgbClr val="0B3D5C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5204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DÉCOMPOSITION EN SOUS-TÂCHES (rédigée par l'analyste)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3840480"/>
            <a:ext cx="102412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Importer le fichier et vérifier sa structure (str, names)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Identifier les colonnes de tranches d'âge (0-14, 15-64, 65+)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Calculer le taux = (0-14 + 65+) / 15-64 × 100, par unité admin.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Agréger au niveau région, pondéré par la population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Trier par taux décroissant et exporter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 00 — Introduction à R à l'ère de l'IA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 faut-il écrire l'algorithme avant de prompter ?</a:t>
            </a:r>
            <a:endParaRPr lang="en-US" sz="30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1950241"/>
              </p:ext>
            </p:extLst>
          </p:nvPr>
        </p:nvGraphicFramePr>
        <p:xfrm>
          <a:off x="640080" y="1737360"/>
          <a:ext cx="10881360" cy="3602736"/>
        </p:xfrm>
        <a:graphic>
          <a:graphicData uri="http://schemas.openxmlformats.org/drawingml/2006/table">
            <a:tbl>
              <a:tblPr/>
              <a:tblGrid>
                <a:gridCol w="6675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</a:rPr>
                        <a:t>Type de tâche</a:t>
                      </a:r>
                      <a:endParaRPr lang="en-US" sz="2000" dirty="0"/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</a:rPr>
                        <a:t>Algorithme préalable requis ?</a:t>
                      </a:r>
                      <a:endParaRPr lang="en-US" sz="2000" dirty="0"/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</a:rPr>
                        <a:t>Indicateur démographique/statistique (choix méthodologique)</a:t>
                      </a:r>
                      <a:endParaRPr lang="en-US" sz="2000" dirty="0"/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A6381A"/>
                          </a:solidFill>
                        </a:rPr>
                        <a:t>OUI — impérativement</a:t>
                      </a:r>
                      <a:endParaRPr lang="en-US" sz="2000" dirty="0"/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</a:rPr>
                        <a:t>Nettoyage technique standard (renommage, typage, NA)</a:t>
                      </a:r>
                      <a:endParaRPr lang="en-US" sz="2000" dirty="0"/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2C6B3F"/>
                          </a:solidFill>
                        </a:rPr>
                        <a:t>Non — prompt direct par bloc</a:t>
                      </a:r>
                      <a:endParaRPr lang="en-US" sz="2000" dirty="0"/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</a:rPr>
                        <a:t>Jointure spatiale ou attributaire complexe</a:t>
                      </a:r>
                      <a:endParaRPr lang="en-US" sz="2000" dirty="0"/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A6381A"/>
                          </a:solidFill>
                        </a:rPr>
                        <a:t>OUI — définir la règle de correspondance d'abord</a:t>
                      </a:r>
                      <a:endParaRPr lang="en-US" sz="2000" dirty="0"/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</a:rPr>
                        <a:t>Mise en forme d'un graphique ou d'une carte</a:t>
                      </a:r>
                      <a:endParaRPr lang="en-US" sz="2000" dirty="0"/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2C6B3F"/>
                          </a:solidFill>
                        </a:rPr>
                        <a:t>Non, sauf choix de discrétisation statistique</a:t>
                      </a:r>
                      <a:endParaRPr lang="en-US" sz="2000" dirty="0"/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 00 — Introduction à R à l'ère de l'IA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A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VIGILANCE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4114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Cinq pièges fréquents à surveiller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200"/>
              </a:spcAft>
              <a:buSzPct val="100000"/>
              <a:buChar char="▪"/>
            </a:pPr>
            <a:r>
              <a:rPr lang="en-US" sz="2800" dirty="0">
                <a:solidFill>
                  <a:srgbClr val="E4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de packages ou de fonctions inexistantes</a:t>
            </a:r>
            <a:endParaRPr lang="en-US" sz="2800" dirty="0"/>
          </a:p>
          <a:p>
            <a:pPr marL="342900" indent="-342900">
              <a:spcAft>
                <a:spcPts val="2200"/>
              </a:spcAft>
              <a:buSzPct val="100000"/>
              <a:buChar char="▪"/>
            </a:pPr>
            <a:r>
              <a:rPr lang="en-US" sz="2800" dirty="0">
                <a:solidFill>
                  <a:srgbClr val="E4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de noms de colonnes non fournis explicitement</a:t>
            </a:r>
            <a:endParaRPr lang="en-US" sz="2800" dirty="0"/>
          </a:p>
          <a:p>
            <a:pPr marL="342900" indent="-342900">
              <a:spcAft>
                <a:spcPts val="2200"/>
              </a:spcAft>
              <a:buSzPct val="100000"/>
              <a:buChar char="▪"/>
            </a:pPr>
            <a:r>
              <a:rPr lang="en-US" sz="2800" dirty="0">
                <a:solidFill>
                  <a:srgbClr val="E4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non testé sur les données réelles avant intégration</a:t>
            </a:r>
            <a:endParaRPr lang="en-US" sz="2800" dirty="0"/>
          </a:p>
          <a:p>
            <a:pPr marL="342900" indent="-342900">
              <a:spcAft>
                <a:spcPts val="2200"/>
              </a:spcAft>
              <a:buSzPct val="100000"/>
              <a:buChar char="▪"/>
            </a:pPr>
            <a:r>
              <a:rPr lang="en-US" sz="2800" dirty="0">
                <a:solidFill>
                  <a:srgbClr val="E4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Dépendance excessive : un code qu'on ne saurait pas réexpliquer</a:t>
            </a:r>
            <a:endParaRPr lang="en-US" sz="2800" dirty="0"/>
          </a:p>
          <a:p>
            <a:pPr marL="342900" indent="-342900">
              <a:spcAft>
                <a:spcPts val="2200"/>
              </a:spcAft>
              <a:buSzPct val="100000"/>
              <a:buChar char="▪"/>
            </a:pPr>
            <a:r>
              <a:rPr lang="en-US" sz="2800" dirty="0">
                <a:solidFill>
                  <a:srgbClr val="E4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Confidentialité : ne jamais coller de données nominatives dans un prompt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 00 — Introduction à R à l'ère de l'IA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EXERCICE GUIDÉ 4.1 — EN BINÔME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bout en bout, avec les données réelles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6070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6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Objectif : identifier les 5 unités admin. niv. 2 les plus peuplées et leur taille moyenne de ménage</a:t>
            </a:r>
            <a:endParaRPr lang="en-US" sz="2400" dirty="0"/>
          </a:p>
          <a:p>
            <a:pPr marL="342900" indent="-342900">
              <a:spcAft>
                <a:spcPts val="16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Décomposer par écrit, AVANT d'ouvrir l'assistant IA</a:t>
            </a:r>
            <a:endParaRPr lang="en-US" sz="2400" dirty="0"/>
          </a:p>
          <a:p>
            <a:pPr marL="342900" indent="-342900">
              <a:spcAft>
                <a:spcPts val="16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Extraire la structure réelle des deux fichiers (str())</a:t>
            </a:r>
            <a:endParaRPr lang="en-US" sz="2400" dirty="0"/>
          </a:p>
          <a:p>
            <a:pPr marL="342900" indent="-342900">
              <a:spcAft>
                <a:spcPts val="16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Prompter la sous-tâche « jointure », avec la vraie structure incluse</a:t>
            </a:r>
            <a:endParaRPr lang="en-US" sz="2400" dirty="0"/>
          </a:p>
          <a:p>
            <a:pPr marL="342900" indent="-342900">
              <a:spcAft>
                <a:spcPts val="16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Exécuter, contrôler (nrow, doublons)</a:t>
            </a:r>
            <a:endParaRPr lang="en-US" sz="2400" dirty="0"/>
          </a:p>
          <a:p>
            <a:pPr marL="342900" indent="-342900">
              <a:spcAft>
                <a:spcPts val="16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Prompter « classement + top 5 », vérifier, exporter dans data/traitees/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 00 — Introduction à R à l'ère de l'IA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SYNTHÈSE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qui a été acquis aujourd'hui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607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800"/>
              </a:spcAft>
              <a:buSzPct val="100000"/>
              <a:buChar char="▪"/>
            </a:pPr>
            <a:r>
              <a:rPr lang="en-US" sz="2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environnement R 4.4 / RStudio organisé en projet reproductible</a:t>
            </a:r>
            <a:endParaRPr lang="en-US" sz="2800" dirty="0"/>
          </a:p>
          <a:p>
            <a:pPr marL="342900" indent="-342900">
              <a:spcAft>
                <a:spcPts val="1800"/>
              </a:spcAft>
              <a:buSzPct val="100000"/>
              <a:buChar char="▪"/>
            </a:pPr>
            <a:r>
              <a:rPr lang="en-US" sz="2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maîtrise des grandes familles d'objets R et des réflexes d'exploration</a:t>
            </a:r>
            <a:endParaRPr lang="en-US" sz="2800" dirty="0"/>
          </a:p>
          <a:p>
            <a:pPr marL="342900" indent="-342900">
              <a:spcAft>
                <a:spcPts val="1800"/>
              </a:spcAft>
              <a:buSzPct val="100000"/>
              <a:buChar char="▪"/>
            </a:pPr>
            <a:r>
              <a:rPr lang="en-US" sz="2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capacité à installer, charger et interroger un package</a:t>
            </a:r>
            <a:endParaRPr lang="en-US" sz="2800" dirty="0"/>
          </a:p>
          <a:p>
            <a:pPr marL="342900" indent="-342900">
              <a:spcAft>
                <a:spcPts val="1800"/>
              </a:spcAft>
              <a:buSzPct val="100000"/>
              <a:buChar char="▪"/>
            </a:pPr>
            <a:r>
              <a:rPr lang="en-US" sz="2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rappel actif de dplyr sur des données réelles camerounaises</a:t>
            </a:r>
            <a:endParaRPr lang="en-US" sz="2800" dirty="0"/>
          </a:p>
          <a:p>
            <a:pPr marL="342900" indent="-342900">
              <a:spcAft>
                <a:spcPts val="1800"/>
              </a:spcAft>
              <a:buSzPct val="100000"/>
              <a:buChar char="▪"/>
            </a:pPr>
            <a:r>
              <a:rPr lang="en-US" sz="2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méthode structurée d'usage de l'IA : décomposer, définir, prompter, vérifier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 00 — Introduction à R à l'ère de l'IA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A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8E0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DEMAIN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4114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Jour 01 — objets sf &amp; premières cartes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000" i="1" dirty="0">
                <a:solidFill>
                  <a:srgbClr val="CF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objet sf est, pour l'essentiel, un data.frame ordinaire auquel s'ajoute une colonne géométrique.</a:t>
            </a:r>
            <a:endParaRPr lang="en-US" sz="2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2000" i="1" dirty="0">
                <a:solidFill>
                  <a:srgbClr val="CF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Toutes les compétences dplyr consolidées aujourd'hui s'appliquent directement aux données spatiales, sans réapprentissage.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40080" y="2971800"/>
            <a:ext cx="73152" cy="365760"/>
          </a:xfrm>
          <a:prstGeom prst="rect">
            <a:avLst/>
          </a:prstGeom>
          <a:solidFill>
            <a:srgbClr val="D98E04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92608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gadm41_CMR_shp — limites administratives du Cameroun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640080" y="3538728"/>
            <a:ext cx="73152" cy="365760"/>
          </a:xfrm>
          <a:prstGeom prst="rect">
            <a:avLst/>
          </a:prstGeom>
          <a:solidFill>
            <a:srgbClr val="D98E04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349300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CMGE71FL.shp — positions GPS des grappes DHS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40080" y="4389120"/>
            <a:ext cx="10881360" cy="1280160"/>
          </a:xfrm>
          <a:prstGeom prst="roundRect">
            <a:avLst>
              <a:gd name="adj" fmla="val 4286"/>
            </a:avLst>
          </a:prstGeom>
          <a:solidFill>
            <a:srgbClr val="0F2A42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52628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préparer avant demain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68680" y="484632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E4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install.packages("sf") sans erreur : ce package dépend de bibliothèques système (GDAL, GEOS, PROJ), parfois plus longues à installer selon l'OS.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 00 — Introduction à R à l'ère de l'IA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A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63040" y="0"/>
            <a:ext cx="0" cy="6858000"/>
          </a:xfrm>
          <a:prstGeom prst="line">
            <a:avLst/>
          </a:prstGeom>
          <a:noFill/>
          <a:ln w="9525">
            <a:solidFill>
              <a:srgbClr val="1332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926080" y="0"/>
            <a:ext cx="0" cy="6858000"/>
          </a:xfrm>
          <a:prstGeom prst="line">
            <a:avLst/>
          </a:prstGeom>
          <a:noFill/>
          <a:ln w="9525">
            <a:solidFill>
              <a:srgbClr val="1332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389120" y="0"/>
            <a:ext cx="0" cy="6858000"/>
          </a:xfrm>
          <a:prstGeom prst="line">
            <a:avLst/>
          </a:prstGeom>
          <a:noFill/>
          <a:ln w="9525">
            <a:solidFill>
              <a:srgbClr val="1332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852160" y="0"/>
            <a:ext cx="0" cy="6858000"/>
          </a:xfrm>
          <a:prstGeom prst="line">
            <a:avLst/>
          </a:prstGeom>
          <a:noFill/>
          <a:ln w="9525">
            <a:solidFill>
              <a:srgbClr val="1332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9525">
            <a:solidFill>
              <a:srgbClr val="1332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0" y="0"/>
            <a:ext cx="0" cy="6858000"/>
          </a:xfrm>
          <a:prstGeom prst="line">
            <a:avLst/>
          </a:prstGeom>
          <a:noFill/>
          <a:ln w="9525">
            <a:solidFill>
              <a:srgbClr val="1332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0" y="0"/>
            <a:ext cx="0" cy="6858000"/>
          </a:xfrm>
          <a:prstGeom prst="line">
            <a:avLst/>
          </a:prstGeom>
          <a:noFill/>
          <a:ln w="9525">
            <a:solidFill>
              <a:srgbClr val="1332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1280160"/>
            <a:ext cx="12188952" cy="0"/>
          </a:xfrm>
          <a:prstGeom prst="line">
            <a:avLst/>
          </a:prstGeom>
          <a:noFill/>
          <a:ln w="9525">
            <a:solidFill>
              <a:srgbClr val="1332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2560320"/>
            <a:ext cx="12188952" cy="0"/>
          </a:xfrm>
          <a:prstGeom prst="line">
            <a:avLst/>
          </a:prstGeom>
          <a:noFill/>
          <a:ln w="9525">
            <a:solidFill>
              <a:srgbClr val="1332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3840480"/>
            <a:ext cx="12188952" cy="0"/>
          </a:xfrm>
          <a:prstGeom prst="line">
            <a:avLst/>
          </a:prstGeom>
          <a:noFill/>
          <a:ln w="9525">
            <a:solidFill>
              <a:srgbClr val="1332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5120640"/>
            <a:ext cx="12188952" cy="0"/>
          </a:xfrm>
          <a:prstGeom prst="line">
            <a:avLst/>
          </a:prstGeom>
          <a:noFill/>
          <a:ln w="9525">
            <a:solidFill>
              <a:srgbClr val="1332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8E04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2651760"/>
            <a:ext cx="9601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 — Questions ?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914400" y="3657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AFC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 00 — Introduction à R à l'ère de l'IA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3429</TotalTime>
  <Words>785</Words>
  <Application>Microsoft Office PowerPoint</Application>
  <PresentationFormat>Grand écran</PresentationFormat>
  <Paragraphs>110</Paragraphs>
  <Slides>11</Slides>
  <Notes>11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Cambria</vt:lpstr>
      <vt:lpstr>Consolas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PC</cp:lastModifiedBy>
  <cp:revision>14</cp:revision>
  <dcterms:created xsi:type="dcterms:W3CDTF">2026-07-22T19:49:05Z</dcterms:created>
  <dcterms:modified xsi:type="dcterms:W3CDTF">2026-07-28T04:24:38Z</dcterms:modified>
</cp:coreProperties>
</file>