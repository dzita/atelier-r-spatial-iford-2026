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ANALYSE GEOSPATIALE AVEC R  |  IFORD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2801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donnees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l'analyse spatiale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411480" y="3063240"/>
            <a:ext cx="32004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200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 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320040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Analyse Geospatiale avec 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447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344728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INS, Ministeres, ONG et Organisations Internationales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3694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91640" y="369417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Debutant  |  aucune experience SIG requise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941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91640" y="394106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  |  6 heures d'instruction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Jour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saurez faire a la fin de cette journee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l'issue de cette journee, vous serez capables de 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361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5270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des donnees tabulaires avec dplyr et tidyr (pipe, select, filter, mutate)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938528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0025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Realiser des jointures correctes entre plusieurs tables et valider avec anti_join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41401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871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2478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Detecter, comprendre et traiter les valeurs manquantes dans les donnees d'enquete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626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29535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structure des enquetes menageres (ECAM, MICS, DHS) et leurs poids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74320" y="336499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3814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3429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des donnees d'enquete avec des limites administratives (GADM niveau 3)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74320" y="3840480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1363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39044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des indicateurs ponderes (alphabetisation, eau) par arrondissement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274320" y="431596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8912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7240" y="437997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carte choroplèthe par arrondissement avec ggplot2 et geom_sf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journee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+ 1 exercice de synthese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069080" cy="34747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24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4630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691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Tidyverse (dplyr &amp; tidyr)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3911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03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09h30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0848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313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rejoignance (jointures)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4069080" cy="566928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27066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10h45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3328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3557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04488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684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950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1788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consolidation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024128"/>
            <a:ext cx="40690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024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APRES-MIDI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4173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13h30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14630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1691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d'enquetes menageres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03911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103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20848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2313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avec les limites admin.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2660904"/>
            <a:ext cx="4069080" cy="566928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15h15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27066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00600" y="328269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15h30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3328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0" y="3557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Agregation spatiale &amp; cartographie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904488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39684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0" y="3950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69280" y="41788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(60 min)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donnees - donnees simulees Cameroun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sur ECAM4 (2014) et MICS6 (2020)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parametres regionaux (alphabetisation, acces eau, electricite) refletent les ordres de grandeur reels des enquetes nationales.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44752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0784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admin_cmr.csv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lignes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1856232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 administrative : region, departement, arrondissement. Contient la cle de correspondance code_arr (entier) et gid_arr (GADM).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560320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560320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6352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menages_sim.csv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4632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menages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51560" y="29718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Milieu, acces eau/electricite, instruction du chef, poids menage. Unite d'analyse pour les indicateurs collectifs.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74320" y="3675888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675888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individus_sim.csv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~28 000 individus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051560" y="4087368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sexe, alphabetisation, niveau d'etudes, poids individuel. Unite d'analyse pour les indicateurs individuels.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D6EAF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 : code_arr  =&gt;  admin_cmr.csv (table pivot)  =&gt;  gid_arr  =&gt;  shapefile GADM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Tidyverse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+ tidyr  |  60 minutes  |  08h30 - 09h30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 pipe |&gt;, select, filter, mutate, group_by, summarise, pivot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Le pipe |&gt; : lire le code dans l'ordre naturel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: le pipe, c'est comme dire "puis". On prend les donnees, puis on filtre, puis on compte.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2646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pipe : difficile a lire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755648"/>
            <a:ext cx="402336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847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select(menages, milieu, region),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milieu == "Urbain"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d'ecriture inverse a l'ordre d'execution. On commence par la fin.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4023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2646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pipe |&gt; : lisible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755648"/>
            <a:ext cx="402336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1847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select(milieu, region)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filter(milieu == "Urbain")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nrow()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lit dans l'ordre naturel. Chaque etape "puis" la suivante.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30906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31638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|&gt; comme "puis".  Raccourci RStudio : Ctrl + Shift + 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select et filter : choisir colonnes et lignes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 : garder seulement les colonnes utiles au traitement.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: conserver les lignes qui satisfont une condition. La virgule = ET logique.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- choisir les colonnes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select(menage_id, region, milieu, taille_menage)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select(menage_id, starts_with("acces_"))  # toutes les colonnes 'acces_...'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select(-gid_arr)                            # exclure une colonne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- selectionner les lignes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filter(milieu == "Urbain")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filter(milieu == "Urbain", region %in% c("Centre", "Littoral"))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filter(!is.na(acces_eau_potable), taille_menage &gt;= 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393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621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filter(!is.na(col)) est le geste indispensable avant tout calcul statistique.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mutate, case_when, group_by et summarise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mutate() : creer ou modifier des colonnes. case_when() : tester des conditions dans l'ordre.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group_by() + summarise() : calculer un indicateur par groupe (region, arrondissement...).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MUTATE - creer des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&lt;- menages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taille_cat = case_when(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taille_menage &lt;= 3  ~ "Petit (1-3)",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taille_menage &lt;= 6  ~ "Moyen (4-6)",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TRUE                ~ "Grand (7+)"   # TRUE = sinon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GROUP_BY + SUMMARISE - calculer par groupe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group_by(region)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summarise(tx_eau = weighted.mean(acces_eau_potable, poids_menage, na.rm=TRUE), .groups="drop")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393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621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dans case_when est l'equivalent du else. Toujours ajouter .groups="drop" apres summarise.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rejoignance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 |  60 minutes  |  09h30 - 10h30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 left_join, inner_join, anti_join, pieges courants, validation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Les quatre types de jointures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1148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43560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lignes de gauche.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cle manque a droite : 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12140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6712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courant. Garder toutes les unites.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98648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535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inner_join()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" y="331012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lignes dont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 existe dans les DEUX tables.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99592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exclut silencieusement des lignes 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24128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078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143560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gauche dont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 N'EXISTE PAS a droite.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212140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16712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diagnostic avant le join principal.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9864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98648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535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full_join()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18888" y="331012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lignes des DEUX tables.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la ou la cle est absente.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399592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404164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detecter les unites sans donnees.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anti_join : l'outil de validation indispensable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 d'or : executer anti_join AVANT tout left_join important pour detecter les codes orphelins.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859536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35608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VALIDATION AVANT JOINTURE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non_apparies &lt;- anti_join(indicateurs, admin, by = "code_arr")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cat("Codes sans correspondance :", nrow(non_apparies), "\n")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0 ligne -&gt; on peut faire le left_join en securite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JOINTURE PRINCIPALE (apres validation)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indicateurs_geo &lt;- indicateurs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left_join(admin |&gt; select(code_arr, gid_arr), by = "code_arr")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52928"/>
            <a:ext cx="274320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 1 : types incompatibles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vs character sur code_arr. dplyr leve une erreur.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as.integer(code_arr) avant la jointure.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36392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6392" y="2852928"/>
            <a:ext cx="2743200" cy="3017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 2 : doublons a droite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27832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code_arr n'est pas unique dans la table droite,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de gauche se duplique (explosion !).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2852928"/>
            <a:ext cx="274320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 3 : noms de colonnes differents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9904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: by = c("code_arr" = "identifiant_arr")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joindre deux colonnes aux noms differents.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B8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et gestion des NA  |  75 minutes  |  10h45 - 12h00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BB8FCE"/>
          </a:solidFill>
          <a:ln w="12700">
            <a:solidFill>
              <a:srgbClr val="BB8F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 MCAR/MAR/MNAR, detection, imputation, impact sur les calculs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Pourquoi des valeurs manquantes dans les enquetes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91440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350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10607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 Completement Au Hasard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135331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probabilite de NA ne depend d'aucune autre variable. Exemple : enqueteur absent ce jour-la.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17007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: On peut supprimer ces lignes sans biais si la proportion est inferieure a 5%.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91440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8448" y="2359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 Au Hasard (conditionnel)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2651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probabilite de NA depend de variables OBSERVEES. Exemple : instruct_chef a plus de NA dans le Nord (zone eloignee).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99923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: Imputation par groupe (region x milieu) adequat. Notre instruct_chef est de type 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84448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84448"/>
            <a:ext cx="91440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3657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 Non Au Hasard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39502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probabilite depend de la valeur elle-meme (non observee). Exemple : menages pauvres qui refusent de declarer leurs revenus.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4297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: Tout traitement introduit un biais. Documenter, signaler la limite, analyser la sensibilite.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Strategies de gestion des valeurs manquantes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321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Strategie 1 : Suppression (&lt; 5% MCAR)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drop_na(acces_eau_potable)     # supprimer les NA sur une colonne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Strategie 2 : Imputation par mediane de groupe (MAR)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&lt;- menages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group_by(region, milieu)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mutate(eau_imp = if_else(is.na(acces_eau_potable),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as.integer(round(median(acces_eau_potable, na.rm=TRUE))),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acces_eau_potable)) |&gt; ungroup()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52928"/>
            <a:ext cx="8595360" cy="32004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712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DECISION : quelle strategie choisir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218688"/>
            <a:ext cx="109728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218688"/>
            <a:ext cx="137160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3218688"/>
            <a:ext cx="379476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218688"/>
            <a:ext cx="21488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82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2826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(drop_na)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109728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3611880"/>
            <a:ext cx="137160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611880"/>
            <a:ext cx="379476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611880"/>
            <a:ext cx="214884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758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5 - 30%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758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36758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mediane/mode de groupe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109728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4005072"/>
            <a:ext cx="137160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4005072"/>
            <a:ext cx="379476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4005072"/>
            <a:ext cx="214884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69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5 - 30%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4069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4069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Documenter, analyse de sensibilite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398264"/>
            <a:ext cx="109728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17320" y="4398264"/>
            <a:ext cx="137160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4398264"/>
            <a:ext cx="379476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398264"/>
            <a:ext cx="214884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622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type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80360" y="4462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inutilisable - agreger au niveau superieur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d'enquetes menageres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ECAM, MICS, DHS  |  45 minutes  |  13h30 - 14h15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Structure des grandes enquetes menageres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enquetes ont une structure HIERARCHIQUE a plusieurs niveaux relies par des identifiants communs.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2860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0876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MENAGE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 : menage_id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14630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eau, electricite, biens durables, instruction du chef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7480" y="1938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Poids : poids_menage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4320" y="2542032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542032"/>
            <a:ext cx="228600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7919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INDIVIDU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 : individu_id + menage_id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697480" y="263347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sexe, alphabetisation, niveau d'etudes, activite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697480" y="3108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Poids : poids_individu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93592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74320" y="3712464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12464"/>
            <a:ext cx="228600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49624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8039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COMMUNAUTE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05840" y="4133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 : code_arr / GPS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697480" y="380390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ecole, distance centre de sante, type de route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697480" y="4279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Poids : Pas de poids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Les ponderations d'enquete : pourquoi et comment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poids d'un menage indique combien de menages similaires ce menage represente dans la population reelle.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ponderation, les zones rurales eloignees (sur-echantillonnees) sont sur-estimees. La ponderation retablit la representativite.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16276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8321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Taux BRUT (non pondere) : incorrect pour les estimations nationales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tx_eau_brut &lt;- mean(menages$acces_eau_potable, na.rm = 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Taux PONDERE : correct car tient compte du plan de sondage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tx_eau_pond &lt;- weighted.mean(menages$acces_eau_potable,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menages$poids_menage, na.rm = 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region : comparer les deux estimations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|&gt; group_by(region)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summarise(brut = mean(acces_eau_potable, na.rm=TRUE),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pond = weighted.mean(acces_eau_potable, poids_menage, na.rm=TRUE))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2900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4107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utiliser weighted.mean(x, poids, na.rm=TRUE) pour des estimations representatives.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Calculer le taux d'alphabetisation : la methode correcte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: proportion d'individus de 15 ans et plus sachant lire et ecrire.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frequente : la variable alphabetisation vaut NA pour les enfants de moins de 15 ans. Calculer sans filtrer fausse le denominateur.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0233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24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984248"/>
            <a:ext cx="40233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NA des enfants biaisent 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denominateur (taux sous-estime)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mean(individus$alphabetisation,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na.rm = TRUE)   # FAUX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627632"/>
            <a:ext cx="402336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8249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984248"/>
            <a:ext cx="40233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Filtrer : adultes seulement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Exclure les NA residuels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individus |&gt; filter(age &gt;= 15,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!is.na(alphabetisation))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weighted.mean(alphabetisation,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poids_individu)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2761488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5292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834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filter(age &gt;= 15) AVANT le calcul du taux d'alphabetisation.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avec les limites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5786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attributaire et spatiale  |  60 minutes  |  14h15 - 15h15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Charger les limites administratives GADM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 (Global Administrative Areas) : base de donnees mondiale des limites administratives.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pour le Cameroun = arrondissements (360 entites geographiques).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1481328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8321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library(geodata); library(sf)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&lt;- gadm("CMR", level = 3, path = tempdir()) |&gt; st_as_sf()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class(cmr_sf)           # "sf" "data.frame" : un sf est aussi un data.frame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nrow(cmr_sf)            # 360 arrondissements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st_crs(cmr_sf)$epsg     # 4326 = WGS84 (degrees lat/lon)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verbes dplyr fonctionnent directement sur l'objet sf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 filter(NAME_1 == "Centre") |&gt; nrow()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plot(st_geometry(cmr_sf), col="lightyellow", border="gray60", lwd=0.3)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1868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200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geometry est "sticky" : elle suit le tableau meme quand on ne la mentionne pas.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La table pivot admin_cmr.csv : cle de la fusion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les donnees d'enquete utilisent code_arr (entier 1 a 360).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shapefile GADM identifie les arrondissements via GID_3 ("CMR.2.3.1_1"). Ces deux cles sont incompatibles.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83464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indicateurs_arr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(code_arr)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627632"/>
            <a:ext cx="2834640" cy="7315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admin_cmr.csv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(code_arr + gid_arr)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27632"/>
            <a:ext cx="283464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(shapefile)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(gid_arr = GID_3)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883664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8366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2450592"/>
            <a:ext cx="859536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2542032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1 : ajouter gid_arr via la table pivot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indicateurs_geo &lt;- indicateurs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left_join(admin |&gt; select(code_arr, gid_arr), by = "code_arr")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2 : fusionner avec le shapefile (geometry conservee)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cmr_carte &lt;- cmr_sf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left_join(indicateurs_geo |&gt; select(gid_arr, tx_alpha, tx_eau),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 = "gid_arr")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0507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39867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anti_join(indicateurs, admin, by="code_arr") avant cette jointure.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Jointure attributaire vs jointure spatiale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attributaire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via une colonne commune (code, identifiant).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673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Rapide. Requiert une cle explicite partagee entre les deux tables.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11480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848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left_join sur objet sf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left_join(indicateurs_geo,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 = "gid_arr")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geometry est conservee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spatiale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selon la POSITION GEOGRAPHIQUE des objets.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673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quand on a des coordonnees GPS mais pas de cle commune.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93392"/>
            <a:ext cx="411480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848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Associer des points GPS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leur arrondissement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st_join(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pts_gps,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cmr_sf |&gt; select(arrondissement),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= st_within)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595360" cy="4572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03580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3017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 absolu pour st_join : les deux objets sf doivent avoir le MEME CRS (st_crs). Utiliser st_transform() si necessaire.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43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Agregation spatiale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cartographie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5786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par arrondissement  |  30 minutes  |  15h30 - 16h00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Calculer les indicateurs par arrondissement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indicateurs distincts, chacun a son propre niveau d'analyse.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121408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INDICATEUR 1 : taux d'alphabetisation (individus 15+)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alpha_arr &lt;- individus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filter(age &gt;= 15, !is.na(alphabetisation)) |&gt;      # population cible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group_by(code_arr)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summarise(n_adultes = n(),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tx_alpha  = weighted.mean(alphabetisation, poids_individu),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.groups   = "drop")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INDICATEUR 2 : acces a l'eau potable (menages)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eau_arr &lt;- menages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filter(!is.na(acces_eau_potable))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group_by(code_arr)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summarise(n_menages = n(),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tx_eau    = weighted.mean(acces_eau_potable, poids_menage),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.groups   = "drop")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1188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calculs partagent la meme logique : filtrer, group_by, weighted.mean, .groups="drop".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Produire une carte choroplèthe avec ggplot2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geom_sf() dessine les polygones du shapefile, colores selon une variable numerique ou categorielle.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2677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ggplot(cmr_carte)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geom_sf(aes(fill = tx_alpha * 100),         # variable en 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color = "white", linewidth = 0.07) + # bordures blanches fines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scale_fill_distiller(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palette   = "RdYlGn",   # rouge (faible) -&gt; jaune -&gt; vert (eleve)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direction = 1,           # 1 = valeurs elevees en vert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= "Taux (%)",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na.value  = "gray85",    # couleur des arrondissements sans donnees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    = c(0, 100)    # echelle fixe pour comparer deux cartes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labs(title="Taux d'alphabetisation par arrondissement")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theme_void() +             # supprime axes, quadrillage et fond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theme(plot.title = element_text(face="bold", size=14))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ggsave("outputs/carte_alpha.png", width=10, height=8, dpi=200, bg="white")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74904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7307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theme_void() est la commande cle pour les cartes : elle supprime tout ce qui n'est pas le fond cartographique.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A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97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B8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62763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bout en bout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4505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 |  16h00 - 17h00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| Consigne et pipeline a reproduire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Calculez le taux d'alphabetisation et l'acces a l'eau par arrondissement, puis cartographiez les deux resultats.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26464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8132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menages_sim.csv, individus_sim.csv et admin_cmr.csv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1956816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011680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tx_alpha : filter(age&gt;=15) + group_by(code_arr) + weighted.mean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237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2487168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54203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tx_eau : filter(!is.na(acces_eau_potable)) + group_by + weighted.mean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5409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017520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07238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: anti_join(alpha_arr, admin, by='code_arr') doit donner 0 ligne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8444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3547872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602736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au shapefile via admin (code_arr -&gt; gid_arr -&gt; cmr_sf)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148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4078224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13308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: ggplot + geom_sf + scale_fill_distiller pour chaque indicateur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994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Graphique de dispersion alphabetisation vs eau par arrondissement, colore par region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| Recapitulatif du Jour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154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321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Charger les donnees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menages   &lt;- read_csv("data/menages_sim.csv")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individus &lt;- read_csv("data/individus_sim.csv")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    &lt;- read_csv("data/admin_cmr.csv")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Calculer les indicateurs par arrondissement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alpha_arr &lt;- individus |&gt; filter(age&gt;=15, !is.na(alphabetisation))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group_by(code_arr)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summarise(tx_alpha = weighted.mean(alphabetisation, poids_individu), .groups="drop")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Valider + enrichir via table pivot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anti_join(alpha_arr, admin, by="code_arr")   # 0 ligne attendu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alpha_geo &lt;- alpha_arr |&gt; left_join(admin |&gt; select(code_arr, gid_arr), by="code_arr")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Fusionner avec le shapefile + cartographier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 left_join(alpha_geo, by="gid_arr")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ggplot() + geom_sf(aes(fill=tx_alpha*100))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scale_fill_distiller("RdYlGn", direction=1) + theme_void()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maintenant faire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Recapitulatif des competences acquises - Jour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Analyse Geospatiale avec R | Jour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179576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et restructurer des donnees d'enquete avec dplyr et tidyr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673352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105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180136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Realiser des jointures robustes entre tables avec validation par anti_join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29514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323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42316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Detecter et traiter les valeurs manquantes selon leur mecanisme (MCAR/MAR/MNAR)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74320" y="2916936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54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304495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des indicateurs ponderes a partir d'enquetes menageres (ECAM, MICS, DHS)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74320" y="353872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758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" y="3666744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des donnees tabulaires avec un shapefile via une table pivot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2976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4672" y="4288536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carte choroplèthe par arrondissement avec ggplot2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621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 TERMINE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participation 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" y="2103120"/>
            <a:ext cx="32004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240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- Jour 5 : Visualisation et cartographie avancee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578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tmap, cartes interactives avec leaflet, principes de cartographie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4439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Analyse Geospatiale avec R  |  IFORD 2026  |  Formation 10 jours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 4 - Gestion des donnees pour l'analyse spatiale</dc:title>
  <dc:subject>PptxGenJS Presentation</dc:subject>
  <dc:creator>IFORD 2026</dc:creator>
  <cp:lastModifiedBy>IFORD 2026</cp:lastModifiedBy>
  <cp:revision>1</cp:revision>
  <dcterms:created xsi:type="dcterms:W3CDTF">2026-05-29T18:46:31Z</dcterms:created>
  <dcterms:modified xsi:type="dcterms:W3CDTF">2026-05-29T18:46:31Z</dcterms:modified>
</cp:coreProperties>
</file>