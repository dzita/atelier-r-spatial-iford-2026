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WORKSHOP WITH R  |  IFORD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28016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Spatial Analysis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411480" y="3063240"/>
            <a:ext cx="32004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2004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320040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Training with 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4472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344728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Institutes of Health (NIH), Ministries, NGOs, and International Organizations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3694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91640" y="369417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| No GIS experience required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9410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91640" y="394106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| 6 hours of instruction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Day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Be Able to Do by the End of the 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day, you will be able to: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361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52704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tabular data with dplyr and tidyr (pipe, select, filter, mutate)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938528"/>
            <a:ext cx="859536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20025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correct joins between multiple tables and validate them with anti_join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241401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871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2478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understand, and handle missing values in survey data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626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29535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 of household surveys (ECAM, MICS, DHS) and their weights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274320" y="336499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3814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3429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survey data with administrative boundaries (GADM Level 3)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74320" y="3840480"/>
            <a:ext cx="8595360" cy="402336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91363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39044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weighted indicators (literacy, water) by arrondissement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274320" y="431596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38912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77240" y="437997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choropleth map by arrondissement using ggplot2 and geom_sf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for the 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+ 1 review exercise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4069080" cy="34747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24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a.m.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14630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691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 Review (dplyr &amp; tidyr)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39112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03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a.m.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0848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313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Tables (Joins)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4069080" cy="566928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a.m.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27066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46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a.m.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33284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35570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04488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684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39502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1788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024128"/>
            <a:ext cx="40690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024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417320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14630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0" y="1691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Survey 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039112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103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PM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20848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0" y="2313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with Administrative Boundaries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2660904"/>
            <a:ext cx="4069080" cy="566928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PM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27066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00600" y="328269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3346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PM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33284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0" y="35570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Aggregation &amp; Mapping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3904488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0328" y="39684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0" y="39502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669280" y="41788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(60 min)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- Simulated Data for Cameroon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ECAM4 (2014) and MICS6 (2020)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parameters (literacy, access to water, electricity) reflect the actual orders of magnitude from national surveys.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44752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0784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admin_cmr.csv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1536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rows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1856232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hierarchy: region, department, district. Contains the mapping key code_arr (integer) and gid_arr (GADM).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560320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560320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16352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households_sim.csv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4632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households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51560" y="2971800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status, access to water/electricity, head of household’s education level, household size. Unit of analysis for aggregate indicators.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74320" y="3675888"/>
            <a:ext cx="8595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675888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1560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individus_sim.csv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0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~28,000 individuals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051560" y="4087368"/>
            <a:ext cx="7635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literacy, educational attainment, individual weight. Unit of analysis for individual indicators.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D6EAF8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Strategy: code_arr  =&gt;  admin_cmr.csv (pivot table)  =&gt;  gid_arr  =&gt;  GADM shapefile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 Review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+ tidyr  |  60 minutes  |  8:30 a.m. – 9:30 a.m.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2788920"/>
            <a:ext cx="4572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pipe |&gt;, select, filter, mutate, group_by, summarize, pivot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The pipe |&gt;: Read the code in its natural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the pipe is like saying “then.” We take the data, then we filter it, then we count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2646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pipe: hard to read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755648"/>
            <a:ext cx="402336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847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select(households, environment, region),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== "Urban"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writing is the reverse of the order of execution. We start at the end.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4023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2646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pipe |&gt;: readable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46320" y="1755648"/>
            <a:ext cx="402336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1847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select(neighborhood, region)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filter(environment == "Urban")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nrow()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natural order. Each step "then" the next.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309067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" y="31638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|&gt; as "then".  RStudio shortcut: Ctrl + Shift + 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select and filter: choosing columns and rows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select(): Keep only the columns needed for processing.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filter(): Keep the rows that satisfy a condition. The comma represents a logical 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- choose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select(household_id, region, environment, household_size)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select(household_id, starts_with("acces_"))  # all columns starting with 'acces_...'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select(-gid_arr)                            # exclude a column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- select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filter(environment == "Urban")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filter(environment == "Urban", region %in% c("Center", "Coast"))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filter(!is.na(drinking_water_access), household_size &gt;= 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54787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3931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621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filter(!is.na(col)) is an essential step before any statistical calculation.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mutate, case_when, group_by, and summarise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mutate(): Create or modify columns. case_when(): Test conditions in order.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group_by() + summarise(): Calculate a metric by group (region, borough, etc.).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73352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MUTATE - Create variables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&lt;- households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household_size_cat = case_when(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household_size &lt;= 3  ~ "Small (1-3)",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household_size &lt;= 6  ~ "Medium (4-6)",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TRUE                ~ "Large (7+)"   # TRUE = otherwise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GROUP_BY + SUMMARISE - calculate by group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group_by(region)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summarize(water_tx = weighted.mean(drinking_water_access, household_weight, na.rm=TRUE), .groups="drop")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54787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3931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621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in `case_when` is equivalent to `else`. Always add `.groups="drop"` after `summarize`.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 |  60 minutes  |  9:30 a.m. – 10:30 a.m.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2788920"/>
            <a:ext cx="4572000" cy="36576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left_join, inner_join, anti_join, common pitfalls, validation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The Four Types of Joins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1148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left_join()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43560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left.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key is missing on the right: 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12140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6712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common. Keep all records.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98648"/>
            <a:ext cx="4114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5351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inner_join()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" y="331012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where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exists in BOTH tables.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99592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silently excludes rows!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02412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24128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0789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anti_join()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143560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left where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DOES NOT EXIST on the right.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18888" y="212140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16712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tool to be run before the main join.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98648"/>
            <a:ext cx="411480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98648"/>
            <a:ext cx="41148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95351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full_join()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18888" y="3310128"/>
            <a:ext cx="3895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where the key is missing.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18888" y="3995928"/>
            <a:ext cx="3895344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4041648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rows with no data.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anti_join: The Essential Validation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Run anti_join BEFORE any major left_join to detect orphaned codes.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859536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35608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VALIDATION BEFORE JOIN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non_apparies &lt;- anti_join(indicators, admin, by = "code_arr")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cat("Mismatched codes:", nrow(non_apparies), "\n")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0 rows -&gt; the left_join can be performed safely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 JOIN (after validation)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geo_indicators &lt;- indicators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left_join(admin |&gt; select(arr_code, arr_gid), by = "arr_code")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27432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52928"/>
            <a:ext cx="274320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1: Incompatible data types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vs. character for `code_arr`. dplyr throws an error.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`as.integer(code_arr)` before the join.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36392" y="2852928"/>
            <a:ext cx="27432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36392" y="2852928"/>
            <a:ext cx="2743200" cy="3017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2: Duplicates on the right side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27832" y="3200400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`code_arr` is not unique in the right table,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on the left is duplicated (explosion!).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852928"/>
            <a:ext cx="274320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98464" y="2852928"/>
            <a:ext cx="2743200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2880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3: Different column names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9904" y="3200400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by = c("code_arr" = "arr_id")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two columns with different names.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B8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Management of NA  |  75 minutes  |  10:45 a.m. – 12:00 p.m.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2788920"/>
            <a:ext cx="4572000" cy="36576"/>
          </a:xfrm>
          <a:prstGeom prst="rect">
            <a:avLst/>
          </a:prstGeom>
          <a:solidFill>
            <a:srgbClr val="BB8FCE"/>
          </a:solidFill>
          <a:ln w="12700">
            <a:solidFill>
              <a:srgbClr val="BB8F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MCAR/MAR/MNAR, detection, imputation, impact on calculations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Why Are There Missing Values in Surveys?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91440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350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10607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Randomly Missing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135331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NA does not depend on any other variable. Example: the interviewer was absent that day.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17007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These rows can be removed without bias if the proportion is less than 5%.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91440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8448" y="2359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Random (conditional)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2651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NA depends on OBSERVED variables. Example: instruct_chef has more NA in the North (remote area).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299923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Group-based imputation (region × environment) is appropriate. Our `instruct_chef` variable is of the MAR type.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84448"/>
            <a:ext cx="8595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84448"/>
            <a:ext cx="91440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3657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Non-Random Missing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39502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depends on the value itself (unobserved). Example: low-income households that refuse to report their income.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98448" y="4297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Any processing introduces bias. Document, flag the limitation, and analyze sensitivity.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Strategies for Handling Missing Values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8321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Strategy 1: Removal (&lt; 5% MCAR)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drop_na(drinking_water_access)     # remove NA values from a column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Strategy 2: Group Median Imputation (MAR)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&lt;- households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group_by(region, environment)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mutate(water_imp = if_else(is.na(drinking_water_access),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as.integer(round(median(drinking_water_access, na.rm=TRUE))),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access_drinking_water)) |&gt; ungroup()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52928"/>
            <a:ext cx="8595360" cy="32004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712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TABLE: Which strategy should you choose?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218688"/>
            <a:ext cx="109728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3218688"/>
            <a:ext cx="137160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3218688"/>
            <a:ext cx="379476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3218688"/>
            <a:ext cx="21488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82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32826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(drop_na)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109728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3611880"/>
            <a:ext cx="137160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611880"/>
            <a:ext cx="379476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611880"/>
            <a:ext cx="214884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758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6758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36758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by group median/mode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109728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4005072"/>
            <a:ext cx="137160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4005072"/>
            <a:ext cx="379476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4005072"/>
            <a:ext cx="2148840" cy="347472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69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4069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40690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sensitivity analysis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398264"/>
            <a:ext cx="109728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17320" y="4398264"/>
            <a:ext cx="137160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4398264"/>
            <a:ext cx="379476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398264"/>
            <a:ext cx="2148840" cy="34747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4622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6304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type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80360" y="44622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cannot be used—aggregate at the next higher level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Survey Data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312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ECAM, MICS, DHS  |  45 minutes  |  1:30 PM – 2:15 PM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Structure of Large-Scale Household Surveys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surveys have a HIERARCHICAL structure with multiple levels linked by common identifiers.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2860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0876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LEVEL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household_id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14630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water, electricity, durable goods, head of household’s education level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97480" y="1938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Weight: household_weight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4320" y="2542032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542032"/>
            <a:ext cx="228600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7919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LEVEL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0584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individual_id + household_id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697480" y="263347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literacy, educational level, employment status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697480" y="3108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Weight: individual_weight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93592"/>
            <a:ext cx="182880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74320" y="3712464"/>
            <a:ext cx="8595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712464"/>
            <a:ext cx="2286000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49624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8039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LEVEL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05840" y="4133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district_code / GPS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2697480" y="380390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availability, distance to health center, road type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697480" y="4279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Weight: No weight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Survey Weighting: Why and How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household’s weight indicates how many similar households that household represents in the actual population.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weighting, remote rural areas (which are oversampled) are overestimated. Weighting restores representativeness.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16276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8321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GROSS rate (unweighted): incorrect for national estimates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tx_eau_brut &lt;- mean(households$access_to_drinking_water, na.rm = TRUE)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WEIGHTED rate: correct because it takes the sampling plan into account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tx_water_weighted &lt;- weighted.mean(households$access_to_drinking_water,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households$household_weight, na.rm = TRUE)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 region: compare the two estimates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|&gt; group_by(region)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summarize(raw = mean(access_to_drinking_water, na.rm = TRUE),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pond = weighted.mean(access_to_drinking_water, household_weight, na.rm=TRUE))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2900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4107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`weighted.mean(x, weights, na.rm=TRUE)` for representative estimates.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|  Calculating the Literacy Rate: The Correct Method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the proportion of individuals aged 15 and older who can read and write.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The literacy variable is NA for children under 15. Calculating without filtering distorts the denominator.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0233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824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984248"/>
            <a:ext cx="40233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0756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NA values for children skew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denominator (rate is underestimated)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mean(individuals$literacy,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na.rm = TRUE)   # WRONG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627632"/>
            <a:ext cx="402336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8249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85232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46320" y="1984248"/>
            <a:ext cx="40233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20756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Filter: adults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Exclude residual NA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individuals |&gt; filter(age &gt;= 15,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!is.na(literacy))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weighted.mean(literacy,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individual_weight)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2761488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5292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834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apply filter(age &gt;= 15) BEFORE calculating the literacy rate.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with Administrative Boundaries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boundaries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3120" y="25786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and Spatial Joins  |  60 minutes  |  2:15 PM – 3:15 PM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Load GADM Administrative Boundaries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GADM (Global Administrative Areas): a global database of administrative boundaries.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for Cameroon = districts (360 geographic entities).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1481328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73352"/>
            <a:ext cx="8321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library(geodata); library(sf)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&lt;- gadm("CMR", level = 3, path = tempdir()) |&gt; st_as_sf()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class(cmr_sf)           # "sf" "data.frame": an sf is also a data.frame!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nrow(cmr_sf)            # 360 districts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st_crs(cmr_sf)$epsg     # 4326 = WGS84 (degrees lat/lon)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dplyr functions work directly on the sf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|&gt; filter(NAME_1 == "Centre") |&gt; nrow()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plot(st_geometry(cmr_sf), col="lightyellow", border="gray60", lwd=0.3)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1868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200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`geometry` column is "sticky": it follows the table even when not explicitly mentioned.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The admin_cmr.csv pivot table: the key to the merge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 survey data uses code_arr (integer 1 through 360).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GADM shapefile identifies districts via GID_3 ("CMR.2.3.1_1"). These two keys are incompatible.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283464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arr_indicators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(code_arr)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627632"/>
            <a:ext cx="2834640" cy="7315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admin_cmr.csv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(code_arr + gid_arr)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27632"/>
            <a:ext cx="283464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(shapefile)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(gid_arr = GID_3)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883664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83664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2450592"/>
            <a:ext cx="859536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2542032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Add gid_arr via the pivot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geo_indicators &lt;- indicators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left_join(admin |&gt; select(code_arr, gid_arr), by = "code_arr")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Merge with the shapefile (geometry preserved)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map_data &lt;- sf_data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left_join(geo_indicators |&gt; select(arr_gid, tx_alpha, tx_eau),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by = "gid_arr")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3913632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0507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39867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`anti_join(indicators, admin, by="code_arr")` before this join.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|  Attribute Join vs. Spatial Join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Join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using a common column (code, ID).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673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 Requires an explicit key shared between the two tables.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4114800" cy="8961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848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left_join on sf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left_join(geo_indicators,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by = "gid_arr")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geometry is preserved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based on the GEOGRAPHICAL POSITION of the objects.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673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you have GPS coordinates but no common key.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993392"/>
            <a:ext cx="4114800" cy="8961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0848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Associate GPS points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their borough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st_join(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pts_gps,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cmr_sf |&gt; select(district),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= st_within)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8595360" cy="4572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03580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3017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prerequisite for st_join: both sf objects must have the SAME CRS (st_crs). Use st_transform() if necessary.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43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508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Aggregation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mapping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3120" y="25786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by District  |  30 minutes  |  3:30 PM - 4:00 PM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Calculating Indicators by District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indicators, each with its own level of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121408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INDICATOR 1: Literacy rate (individuals aged 15+)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alpha_arr &lt;- individuals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filter(age &gt;= 15, !is.na(literacy)) |&gt;      # target population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group_by(arr_code)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summarize(n_adults = n(),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tx_alpha  = weighted.mean(literacy, individual_weight),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.groups   = "drop")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INDICATOR 2: Access to Drinking Water (Households)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water_arr &lt;- households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filter(!is.na(access_to_drinking_water))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group_by(arr_code)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summarize(n_households = n(),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tx_eau    = weighted.mean(access_to_drinking_water, household_weight),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.groups   = "drop")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1188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593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calculations follow the same logic: filter, group_by, weighted.mean, .groups="drop".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|  Creating a choropleth map with ggplot2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geom_sf() plots the polygons from the shapefile, colored according to a numeric or categorical variable.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22677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8321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ggplot(cmr_map)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geom_sf(aes(fill = tx_alpha * 100),         # variable in 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color = "white", linewidth = 0.07) + # thin white borders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scale_fill_distiller(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palette   = "RdYlGn",   # red (low) -&gt; yellow -&gt; green (high)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direction = 1,           # 1 = high values in green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= "Rate (%)",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na.value  = "gray85",    # color for districts with no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    = c(0, 100)    # fixed scale for comparing two maps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labs(title="Literacy Rate by District")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theme_void() +             # removes axes, grid, and background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theme(plot.title = element_text(face="bold", size=14))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ggsave("outputs/carte_alpha.png", width=10, height=8, dpi=200, bg="white")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solidFill>
            <a:srgbClr val="F9E79F"/>
          </a:solidFill>
          <a:ln w="25400">
            <a:solidFill>
              <a:srgbClr val="F0C04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74904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7307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theme_void() is the key command for maps: it removes everything except the map background.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A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3120" y="1097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B8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103120" y="162763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103120" y="24505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 |  4:00 PM - 5:00 PM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| Instructions and Pipeline to Reproduce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literacy rate and access to water by borough, then map both results.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426464"/>
            <a:ext cx="8092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8132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menages_sim.csv, individus_sim.csv, and admin_cmr.csv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9339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1956816"/>
            <a:ext cx="8092440" cy="36576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011680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tx_alpha: filter(age&gt;=15) + group_by(code_arr) + weighted.mean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237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2487168"/>
            <a:ext cx="8092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542032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tx_eau: filter(!is.na(acces_eau_potable)) + group_by + weighted.mean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5409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3017520"/>
            <a:ext cx="8092440" cy="36576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07238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anti_join(alpha_arr, admin, by='code_arr') should return 0 rows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8444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3547872"/>
            <a:ext cx="8092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602736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the shapefile via admin (code_arr -&gt; gid_arr -&gt; cmr_sf)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438912" cy="438912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1480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240" y="4078224"/>
            <a:ext cx="8092440" cy="36576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4133088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ggplot + geom_sf + scale_fill_distiller for each indicator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994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Scatter plot of literacy vs. water access by arrondissement, colored by region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| Day 4 Recap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154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8321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 the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households   &lt;- read_csv("data/households_sim.csv")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individuals &lt;- read_csv("data/individuals_sim.csv")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    &lt;- read_csv("data/admin_cmr.csv")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Calculate indicators by district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alpha_arr &lt;- individuals |&gt; filter(age &gt;= 15, !is.na(alphabetization))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group_by(arrondissement_code)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summarize(tx_alpha = weighted.mean(literacy, individual_weight), .groups="drop")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Validate and enrich using a pivot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anti_join(alpha_arr, admin, by="code_arr")   # 0 rows expected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alpha_geo &lt;- alpha_arr |&gt; left_join(admin |&gt; select(arr_code, arr_gid), by="arr_code")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Merge with the shapefile + 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cmr_sf |&gt; left_join(alpha_geo, by="gid_arr") |&gt;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ggplot() + geom_sf(aes(fill=tx_alpha*100))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scale_fill_distiller("RdYlGn", direction=1) + theme_void()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32"/>
          </a:solidFill>
          <a:ln w="12700">
            <a:solidFill>
              <a:srgbClr val="1A5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Skills Learned - Day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2026 | Geospatial Analysis with R | Day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179576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and restructure survey data with dplyr and tidyr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673352"/>
            <a:ext cx="859536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105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1801368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robust joins between tables with validation using anti_join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229514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323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242316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handle missing values according to their mechanism (MCAR/MAR/MNAR)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74320" y="2916936"/>
            <a:ext cx="859536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540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304495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weighted indicators from household surveys (ECAM, MICS, DHS)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74320" y="353872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758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" y="3666744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tabular data with a shapefile using a pivot table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0E8D8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29768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4672" y="4288536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choropleth map by district using ggplot2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5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621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COMPLETE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11480" y="1325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participating!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" y="2103120"/>
            <a:ext cx="32004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240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- Day 5: Advanced Visualization and Mapping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578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tmap, interactive maps with Leaflet, mapping principles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4439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Workshop with R  |  IFORD 2026  |  10-Day Training Course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Jour 4 - Gestion des donnees pour l'analyse spatiale</dc:title>
  <dc:subject>PptxGenJS Presentation</dc:subject>
  <dc:creator>IFORD 2026</dc:creator>
  <lastModifiedBy>IFORD 2026</lastModifiedBy>
  <revision>1</revision>
  <dcterms:created xsi:type="dcterms:W3CDTF">2026-05-29T18:46:31.0000000Z</dcterms:created>
  <dcterms:modified xsi:type="dcterms:W3CDTF">2026-05-29T18:46:31.0000000Z</dcterms:modified>
  <keywords>, docId:F45BBECACA2DACD07E8E3BB93E41257B</keywords>
</coreProperties>
</file>