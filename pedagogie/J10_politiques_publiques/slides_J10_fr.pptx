
<file path=[Content_Types].xml><?xml version="1.0" encoding="utf-8"?>
<Types xmlns="http://schemas.openxmlformats.org/package/2006/content-types">
  <Default Extension="xml" ContentType="application/xml"/>
  <Default Extension="rels" ContentType="application/vnd.openxmlformats-package.relationships+xml"/>
  <Default Extension="jpg" ContentType="image/jpeg"/>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36"/>
          <a:sy d="100" n="136"/>
        </p:scale>
        <p:origin x="816" y="12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0" Type="http://schemas.openxmlformats.org/officeDocument/2006/relationships/slide" Target="slides/slide59.xml" /><Relationship Id="rId61" Type="http://schemas.openxmlformats.org/officeDocument/2006/relationships/slide" Target="slides/slide60.xml" /><Relationship Id="rId62" Type="http://schemas.openxmlformats.org/officeDocument/2006/relationships/slide" Target="slides/slide61.xml" /><Relationship Id="rId63" Type="http://schemas.openxmlformats.org/officeDocument/2006/relationships/slide" Target="slides/slide62.xml" /><Relationship Id="rId64" Type="http://schemas.openxmlformats.org/officeDocument/2006/relationships/slide" Target="slides/slide63.xml" /><Relationship Id="rId65" Type="http://schemas.openxmlformats.org/officeDocument/2006/relationships/slide" Target="slides/slide64.xml" /><Relationship Id="rId66" Type="http://schemas.openxmlformats.org/officeDocument/2006/relationships/slide" Target="slides/slide65.xml" /><Relationship Id="rId67" Type="http://schemas.openxmlformats.org/officeDocument/2006/relationships/slide" Target="slides/slide66.xml" /><Relationship Id="rId71" Type="http://schemas.openxmlformats.org/officeDocument/2006/relationships/tableStyles" Target="tableStyles.xml" /><Relationship Id="rId1" Type="http://schemas.openxmlformats.org/officeDocument/2006/relationships/slideMaster" Target="slideMasters/slideMaster1.xml" /><Relationship Id="rId70" Type="http://schemas.openxmlformats.org/officeDocument/2006/relationships/theme" Target="theme/theme1.xml" /><Relationship Id="rId69" Type="http://schemas.openxmlformats.org/officeDocument/2006/relationships/viewProps" Target="viewProps.xml" /><Relationship Id="rId68" Type="http://schemas.openxmlformats.org/officeDocument/2006/relationships/presProps" Target="presProps.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6/16/2026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6/16/2026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6/16/2026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9001" name="IFORD Top Brand Bar"/>
          <p:cNvSpPr/>
          <p:nvPr/>
        </p:nvSpPr>
        <p:spPr>
          <a:xfrm>
            <a:off x="0" y="0"/>
            <a:ext cx="9144000" cy="91440"/>
          </a:xfrm>
          <a:prstGeom prst="rect">
            <a:avLst/>
          </a:prstGeom>
          <a:solidFill>
            <a:srgbClr val="006B4F"/>
          </a:solidFill>
          <a:ln>
            <a:noFill/>
          </a:ln>
        </p:spPr>
        <p:txBody>
          <a:bodyPr/>
          <a:lstStyle/>
          <a:p>
            <a:endParaRPr/>
          </a:p>
        </p:txBody>
      </p:sp>
      <p:sp>
        <p:nvSpPr>
          <p:cNvPr id="9002" name="IFORD Bottom Accent"/>
          <p:cNvSpPr/>
          <p:nvPr/>
        </p:nvSpPr>
        <p:spPr>
          <a:xfrm>
            <a:off x="0" y="5052060"/>
            <a:ext cx="9144000" cy="91440"/>
          </a:xfrm>
          <a:prstGeom prst="rect">
            <a:avLst/>
          </a:prstGeom>
          <a:solidFill>
            <a:srgbClr val="F2A900"/>
          </a:solidFill>
          <a:ln>
            <a:noFill/>
          </a:ln>
        </p:spPr>
        <p:txBody>
          <a:bodyPr/>
          <a:lstStyle/>
          <a:p>
            <a:endParaRPr/>
          </a:p>
        </p:txBody>
      </p:sp>
      <p:sp>
        <p:nvSpPr>
          <p:cNvPr id="9003" name="IFORD Footer Label"/>
          <p:cNvSpPr/>
          <p:nvPr/>
        </p:nvSpPr>
        <p:spPr>
          <a:xfrm>
            <a:off x="457200" y="4785000"/>
            <a:ext cx="3500000" cy="320000"/>
          </a:xfrm>
          <a:prstGeom prst="rect">
            <a:avLst/>
          </a:prstGeom>
          <a:noFill/>
          <a:ln>
            <a:noFill/>
          </a:ln>
        </p:spPr>
        <p:txBody>
          <a:bodyPr anchor="ctr" bIns="0" lIns="0" rIns="0" tIns="0"/>
          <a:lstStyle/>
          <a:p>
            <a:r>
              <a:rPr lang="fr-FR" sz="900">
                <a:solidFill>
                  <a:srgbClr val="5F6F64"/>
                </a:solidFill>
                <a:latin typeface="Aptos"/>
              </a:rPr>
              <a:t>IFORD - Formation R spatial</a:t>
            </a:r>
          </a:p>
        </p:txBody>
      </p:sp>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6/16/2026</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342900" eaLnBrk="1" hangingPunct="1" latinLnBrk="0" rtl="0">
        <a:spcBef>
          <a:spcPct val="0"/>
        </a:spcBef>
        <a:buNone/>
        <a:defRPr kern="1200" sz="3200">
          <a:solidFill>
            <a:srgbClr val="004B3C"/>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1600">
          <a:solidFill>
            <a:srgbClr val="132A35"/>
          </a:solidFill>
          <a:latin typeface="+mn-lt"/>
          <a:ea typeface="+mn-ea"/>
          <a:cs typeface="+mn-cs"/>
        </a:defRPr>
      </a:lvl1pPr>
      <a:lvl2pPr algn="l" defTabSz="342900" eaLnBrk="1" hangingPunct="1" indent="-342900" latinLnBrk="0" marL="685800" rtl="0">
        <a:spcBef>
          <a:spcPct val="20000"/>
        </a:spcBef>
        <a:buFont typeface="Arial"/>
        <a:buChar char="–"/>
        <a:defRPr kern="1200" sz="15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4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2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2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2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2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2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2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jpg"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jpg"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jpg"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4.png"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5.png"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6.png"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7.png"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8.png"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9.png"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0.png"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1.png"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2.png"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3.png"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acleddata.com/" TargetMode="External" /></Relationships>
</file>

<file path=ppt/slides/_rels/slide5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developer.acleddata.com/" TargetMode="External" /></Relationships>
</file>

<file path=ppt/slides/_rels/slide5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cds.climate.copernicus.eu/" TargetMode="External" /></Relationships>
</file>

<file path=ppt/slides/_rels/slide5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microdata.worldbank.org/index.php/catalog/4291" TargetMode="External" /><Relationship Id="rId3" Type="http://schemas.openxmlformats.org/officeDocument/2006/relationships/hyperlink" Target="https://github.com/JoshMerfeld/saereplication" TargetMode="External" /></Relationships>
</file>

<file path=ppt/slides/_rels/slide6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6.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Jour 9 - Applications spatiales et sciences sociales</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Fondements théoriques, ACLED (conflits armés) et ERA5 (température) au Cameroun, petits domaines au Bénin</a:t>
            </a:r>
            <a:br/>
            <a:br/>
            <a:r>
              <a:rPr/>
              <a:t>IFORD - Formation R spatial</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Objectifs de la journée</a:t>
            </a:r>
          </a:p>
        </p:txBody>
      </p:sp>
      <p:sp>
        <p:nvSpPr>
          <p:cNvPr id="3" name="Content Placeholder 2"/>
          <p:cNvSpPr>
            <a:spLocks noGrp="1"/>
          </p:cNvSpPr>
          <p:nvPr>
            <p:ph idx="1"/>
          </p:nvPr>
        </p:nvSpPr>
        <p:spPr/>
        <p:txBody>
          <a:bodyPr/>
          <a:lstStyle/>
          <a:p>
            <a:pPr lvl="0"/>
            <a:r>
              <a:rPr/>
              <a:t>Comprendre pourquoi et comment les sciences sociales se sont saisies de l’espace comme outil d’analyse, depuis les cartes manuelles du XIXe siècle jusqu’à la modélisation géospatiale contemporaine.</a:t>
            </a:r>
          </a:p>
          <a:p>
            <a:pPr lvl="0"/>
            <a:r>
              <a:rPr/>
              <a:t>Distinguer trois usages d’une donnée géospatiale dans une analyse sociale : </a:t>
            </a:r>
            <a:r>
              <a:rPr b="1"/>
              <a:t>variable explicative</a:t>
            </a:r>
            <a:r>
              <a:rPr/>
              <a:t>, </a:t>
            </a:r>
            <a:r>
              <a:rPr b="1"/>
              <a:t>objet de modélisation</a:t>
            </a:r>
            <a:r>
              <a:rPr/>
              <a:t>, </a:t>
            </a:r>
            <a:r>
              <a:rPr b="1"/>
              <a:t>variable proxy</a:t>
            </a:r>
            <a:r>
              <a:rPr/>
              <a:t>.</a:t>
            </a:r>
          </a:p>
          <a:p>
            <a:pPr lvl="0"/>
            <a:r>
              <a:rPr/>
              <a:t>Découvrir, à travers des articles de recherche récents, des exemples concrets pour chacun de ces usages.</a:t>
            </a:r>
          </a:p>
          <a:p>
            <a:pPr lvl="0"/>
            <a:r>
              <a:rPr/>
              <a:t>Manipuler en pratique trois sources de données géospatiales : ACLED (conflits), ERA5 (climat) et un modèle d’estimation en petits domaines (Fay-Herriot).</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Programme de la matinée : 9h30 à 13h00</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743200"/>
                <a:gridCol w="2743200"/>
                <a:gridCol w="2743200"/>
              </a:tblGrid>
              <a:tr h="0">
                <a:tc>
                  <a:txBody>
                    <a:bodyPr/>
                    <a:lstStyle/>
                    <a:p>
                      <a:pPr lvl="0" indent="0" marL="0">
                        <a:buNone/>
                      </a:pPr>
                      <a:r>
                        <a:rPr/>
                        <a:t>Horaire</a:t>
                      </a:r>
                    </a:p>
                  </a:txBody>
                  <a:tcPr/>
                </a:tc>
                <a:tc>
                  <a:txBody>
                    <a:bodyPr/>
                    <a:lstStyle/>
                    <a:p>
                      <a:pPr lvl="0" indent="0" marL="0">
                        <a:buNone/>
                      </a:pPr>
                      <a:r>
                        <a:rPr/>
                        <a:t>Durée</a:t>
                      </a:r>
                    </a:p>
                  </a:txBody>
                  <a:tcPr/>
                </a:tc>
                <a:tc>
                  <a:txBody>
                    <a:bodyPr/>
                    <a:lstStyle/>
                    <a:p>
                      <a:pPr lvl="0" indent="0" marL="0">
                        <a:buNone/>
                      </a:pPr>
                      <a:r>
                        <a:rPr/>
                        <a:t>Contenu</a:t>
                      </a:r>
                    </a:p>
                  </a:txBody>
                  <a:tcPr/>
                </a:tc>
              </a:tr>
              <a:tr h="0">
                <a:tc>
                  <a:txBody>
                    <a:bodyPr/>
                    <a:lstStyle/>
                    <a:p>
                      <a:pPr lvl="0" indent="0" marL="0">
                        <a:buNone/>
                      </a:pPr>
                      <a:r>
                        <a:rPr/>
                        <a:t>09h30–10h30</a:t>
                      </a:r>
                    </a:p>
                  </a:txBody>
                </a:tc>
                <a:tc>
                  <a:txBody>
                    <a:bodyPr/>
                    <a:lstStyle/>
                    <a:p>
                      <a:pPr lvl="0" indent="0" marL="0">
                        <a:buNone/>
                      </a:pPr>
                      <a:r>
                        <a:rPr/>
                        <a:t>1h00</a:t>
                      </a:r>
                    </a:p>
                  </a:txBody>
                </a:tc>
                <a:tc>
                  <a:txBody>
                    <a:bodyPr/>
                    <a:lstStyle/>
                    <a:p>
                      <a:pPr lvl="0" indent="0" marL="0">
                        <a:buNone/>
                      </a:pPr>
                      <a:r>
                        <a:rPr/>
                        <a:t>Partie 1 – Aux origines de la géographie sociale (Snow, Booth, Du Bois)</a:t>
                      </a:r>
                    </a:p>
                  </a:txBody>
                </a:tc>
              </a:tr>
              <a:tr h="0">
                <a:tc>
                  <a:txBody>
                    <a:bodyPr/>
                    <a:lstStyle/>
                    <a:p>
                      <a:pPr lvl="0" indent="0" marL="0">
                        <a:buNone/>
                      </a:pPr>
                      <a:r>
                        <a:rPr/>
                        <a:t>10h30–11h00</a:t>
                      </a:r>
                    </a:p>
                  </a:txBody>
                </a:tc>
                <a:tc>
                  <a:txBody>
                    <a:bodyPr/>
                    <a:lstStyle/>
                    <a:p>
                      <a:pPr lvl="0" indent="0" marL="0">
                        <a:buNone/>
                      </a:pPr>
                      <a:r>
                        <a:rPr/>
                        <a:t>30 min</a:t>
                      </a:r>
                    </a:p>
                  </a:txBody>
                </a:tc>
                <a:tc>
                  <a:txBody>
                    <a:bodyPr/>
                    <a:lstStyle/>
                    <a:p>
                      <a:pPr lvl="0" indent="0" marL="0">
                        <a:buNone/>
                      </a:pPr>
                      <a:r>
                        <a:rPr b="1"/>
                        <a:t>Pause</a:t>
                      </a:r>
                    </a:p>
                  </a:txBody>
                </a:tc>
              </a:tr>
              <a:tr h="0">
                <a:tc>
                  <a:txBody>
                    <a:bodyPr/>
                    <a:lstStyle/>
                    <a:p>
                      <a:pPr lvl="0" indent="0" marL="0">
                        <a:buNone/>
                      </a:pPr>
                      <a:r>
                        <a:rPr/>
                        <a:t>11h00–12h00</a:t>
                      </a:r>
                    </a:p>
                  </a:txBody>
                </a:tc>
                <a:tc>
                  <a:txBody>
                    <a:bodyPr/>
                    <a:lstStyle/>
                    <a:p>
                      <a:pPr lvl="0" indent="0" marL="0">
                        <a:buNone/>
                      </a:pPr>
                      <a:r>
                        <a:rPr/>
                        <a:t>1h00</a:t>
                      </a:r>
                    </a:p>
                  </a:txBody>
                </a:tc>
                <a:tc>
                  <a:txBody>
                    <a:bodyPr/>
                    <a:lstStyle/>
                    <a:p>
                      <a:pPr lvl="0" indent="0" marL="0">
                        <a:buNone/>
                      </a:pPr>
                      <a:r>
                        <a:rPr/>
                        <a:t>Partie 2 – Les variables géospatiales comme variables explicatives et la modélisation géospatiale</a:t>
                      </a:r>
                    </a:p>
                  </a:txBody>
                </a:tc>
              </a:tr>
              <a:tr h="0">
                <a:tc>
                  <a:txBody>
                    <a:bodyPr/>
                    <a:lstStyle/>
                    <a:p>
                      <a:pPr lvl="0" indent="0" marL="0">
                        <a:buNone/>
                      </a:pPr>
                      <a:r>
                        <a:rPr/>
                        <a:t>12h00–12h15</a:t>
                      </a:r>
                    </a:p>
                  </a:txBody>
                </a:tc>
                <a:tc>
                  <a:txBody>
                    <a:bodyPr/>
                    <a:lstStyle/>
                    <a:p>
                      <a:pPr lvl="0" indent="0" marL="0">
                        <a:buNone/>
                      </a:pPr>
                      <a:r>
                        <a:rPr/>
                        <a:t>15 min</a:t>
                      </a:r>
                    </a:p>
                  </a:txBody>
                </a:tc>
                <a:tc>
                  <a:txBody>
                    <a:bodyPr/>
                    <a:lstStyle/>
                    <a:p>
                      <a:pPr lvl="0" indent="0" marL="0">
                        <a:buNone/>
                      </a:pPr>
                      <a:r>
                        <a:rPr b="1"/>
                        <a:t>Pause</a:t>
                      </a:r>
                    </a:p>
                  </a:txBody>
                </a:tc>
              </a:tr>
              <a:tr h="0">
                <a:tc>
                  <a:txBody>
                    <a:bodyPr/>
                    <a:lstStyle/>
                    <a:p>
                      <a:pPr lvl="0" indent="0" marL="0">
                        <a:buNone/>
                      </a:pPr>
                      <a:r>
                        <a:rPr/>
                        <a:t>12h15–13h00</a:t>
                      </a:r>
                    </a:p>
                  </a:txBody>
                </a:tc>
                <a:tc>
                  <a:txBody>
                    <a:bodyPr/>
                    <a:lstStyle/>
                    <a:p>
                      <a:pPr lvl="0" indent="0" marL="0">
                        <a:buNone/>
                      </a:pPr>
                      <a:r>
                        <a:rPr/>
                        <a:t>45 min</a:t>
                      </a:r>
                    </a:p>
                  </a:txBody>
                </a:tc>
                <a:tc>
                  <a:txBody>
                    <a:bodyPr/>
                    <a:lstStyle/>
                    <a:p>
                      <a:pPr lvl="0" indent="0" marL="0">
                        <a:buNone/>
                      </a:pPr>
                      <a:r>
                        <a:rPr/>
                        <a:t>Partie 3 – Les variables géospatiales comme proxy</a:t>
                      </a:r>
                    </a:p>
                  </a:txBody>
                </a:tc>
              </a:tr>
            </a:tbl>
          </a:graphicData>
        </a:graphic>
      </p:graphicFrame>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Partie théorique : la géographie au service des sciences sociales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Pourquoi croiser espace et sciences sociales ?</a:t>
            </a:r>
          </a:p>
        </p:txBody>
      </p:sp>
      <p:sp>
        <p:nvSpPr>
          <p:cNvPr id="4" name="Text Placeholder 3"/>
          <p:cNvSpPr>
            <a:spLocks noGrp="1"/>
          </p:cNvSpPr>
          <p:nvPr>
            <p:ph idx="2" sz="half" type="body"/>
          </p:nvPr>
        </p:nvSpPr>
        <p:spPr/>
        <p:txBody>
          <a:bodyPr/>
          <a:lstStyle/>
          <a:p>
            <a:pPr lvl="0"/>
            <a:r>
              <a:rPr/>
              <a:t>Les phénomènes sociaux (épidémies, pauvreté, conflits, migrations) ne se distribuent jamais au hasard dans l’espace.</a:t>
            </a:r>
          </a:p>
          <a:p>
            <a:pPr lvl="0"/>
            <a:r>
              <a:rPr/>
              <a:t>Localiser un phénomène est souvent la première étape pour en comprendre les causes.</a:t>
            </a:r>
          </a:p>
          <a:p>
            <a:pPr lvl="0"/>
            <a:r>
              <a:rPr/>
              <a:t>Trois grandes familles d’usage de la donnée géospatiale structurent cette journée :</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gridCol w="1270000"/>
                <a:gridCol w="2552700"/>
              </a:tblGrid>
              <a:tr h="0">
                <a:tc>
                  <a:txBody>
                    <a:bodyPr/>
                    <a:lstStyle/>
                    <a:p>
                      <a:pPr lvl="0" indent="0" marL="0">
                        <a:buNone/>
                      </a:pPr>
                      <a:r>
                        <a:rPr/>
                        <a:t>#</a:t>
                      </a:r>
                    </a:p>
                  </a:txBody>
                  <a:tcPr/>
                </a:tc>
                <a:tc>
                  <a:txBody>
                    <a:bodyPr/>
                    <a:lstStyle/>
                    <a:p>
                      <a:pPr lvl="0" indent="0" marL="0">
                        <a:buNone/>
                      </a:pPr>
                      <a:r>
                        <a:rPr/>
                        <a:t>Usage</a:t>
                      </a:r>
                    </a:p>
                  </a:txBody>
                  <a:tcPr/>
                </a:tc>
                <a:tc>
                  <a:txBody>
                    <a:bodyPr/>
                    <a:lstStyle/>
                    <a:p>
                      <a:pPr lvl="0" indent="0" marL="0">
                        <a:buNone/>
                      </a:pPr>
                      <a:r>
                        <a:rPr/>
                        <a:t>Question type</a:t>
                      </a:r>
                    </a:p>
                  </a:txBody>
                  <a:tcPr/>
                </a:tc>
              </a:tr>
              <a:tr h="0">
                <a:tc>
                  <a:txBody>
                    <a:bodyPr/>
                    <a:lstStyle/>
                    <a:p>
                      <a:pPr lvl="0" indent="0" marL="0">
                        <a:buNone/>
                      </a:pPr>
                      <a:r>
                        <a:rPr/>
                        <a:t>1</a:t>
                      </a:r>
                    </a:p>
                  </a:txBody>
                </a:tc>
                <a:tc>
                  <a:txBody>
                    <a:bodyPr/>
                    <a:lstStyle/>
                    <a:p>
                      <a:pPr lvl="0" indent="0" marL="0">
                        <a:buNone/>
                      </a:pPr>
                      <a:r>
                        <a:rPr/>
                        <a:t>Origines historiques</a:t>
                      </a:r>
                    </a:p>
                  </a:txBody>
                </a:tc>
                <a:tc>
                  <a:txBody>
                    <a:bodyPr/>
                    <a:lstStyle/>
                    <a:p>
                      <a:pPr lvl="0" indent="0" marL="0">
                        <a:buNone/>
                      </a:pPr>
                      <a:r>
                        <a:rPr/>
                        <a:t>Comment la carte a-t-elle inventé l’analyse sociale spatiale ?</a:t>
                      </a:r>
                    </a:p>
                  </a:txBody>
                </a:tc>
              </a:tr>
              <a:tr h="0">
                <a:tc>
                  <a:txBody>
                    <a:bodyPr/>
                    <a:lstStyle/>
                    <a:p>
                      <a:pPr lvl="0" indent="0" marL="0">
                        <a:buNone/>
                      </a:pPr>
                      <a:r>
                        <a:rPr/>
                        <a:t>2</a:t>
                      </a:r>
                    </a:p>
                  </a:txBody>
                </a:tc>
                <a:tc>
                  <a:txBody>
                    <a:bodyPr/>
                    <a:lstStyle/>
                    <a:p>
                      <a:pPr lvl="0" indent="0" marL="0">
                        <a:buNone/>
                      </a:pPr>
                      <a:r>
                        <a:rPr/>
                        <a:t>Variable explicative et modélisation géospatiale</a:t>
                      </a:r>
                    </a:p>
                  </a:txBody>
                </a:tc>
                <a:tc>
                  <a:txBody>
                    <a:bodyPr/>
                    <a:lstStyle/>
                    <a:p>
                      <a:pPr lvl="0" indent="0" marL="0">
                        <a:buNone/>
                      </a:pPr>
                      <a:r>
                        <a:rPr/>
                        <a:t>Le climat, l’environnement… expliquent-ils un phénomène social ? Comment estimer un indicateur là où il n’est pas mesuré ?</a:t>
                      </a:r>
                    </a:p>
                  </a:txBody>
                </a:tc>
              </a:tr>
              <a:tr h="0">
                <a:tc>
                  <a:txBody>
                    <a:bodyPr/>
                    <a:lstStyle/>
                    <a:p>
                      <a:pPr lvl="0" indent="0" marL="0">
                        <a:buNone/>
                      </a:pPr>
                      <a:r>
                        <a:rPr/>
                        <a:t>3</a:t>
                      </a:r>
                    </a:p>
                  </a:txBody>
                </a:tc>
                <a:tc>
                  <a:txBody>
                    <a:bodyPr/>
                    <a:lstStyle/>
                    <a:p>
                      <a:pPr lvl="0" indent="0" marL="0">
                        <a:buNone/>
                      </a:pPr>
                      <a:r>
                        <a:rPr/>
                        <a:t>Variable proxy</a:t>
                      </a:r>
                    </a:p>
                  </a:txBody>
                </a:tc>
                <a:tc>
                  <a:txBody>
                    <a:bodyPr/>
                    <a:lstStyle/>
                    <a:p>
                      <a:pPr lvl="0" indent="0" marL="0">
                        <a:buNone/>
                      </a:pPr>
                      <a:r>
                        <a:rPr/>
                        <a:t>Peut-on approximer une donnée sociale absente par une donnée géospatiale observable ?</a:t>
                      </a:r>
                    </a:p>
                  </a:txBody>
                </a:tc>
              </a:tr>
            </a:tbl>
          </a:graphicData>
        </a:graphic>
      </p:graphicFrame>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1. Aux origines de la géographie sociale</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 XIXe siècle : la carte avant la théorie</a:t>
            </a:r>
          </a:p>
        </p:txBody>
      </p:sp>
      <p:sp>
        <p:nvSpPr>
          <p:cNvPr id="3" name="Content Placeholder 2"/>
          <p:cNvSpPr>
            <a:spLocks noGrp="1"/>
          </p:cNvSpPr>
          <p:nvPr>
            <p:ph idx="1"/>
          </p:nvPr>
        </p:nvSpPr>
        <p:spPr/>
        <p:txBody>
          <a:bodyPr/>
          <a:lstStyle/>
          <a:p>
            <a:pPr lvl="0"/>
            <a:r>
              <a:rPr/>
              <a:t>Avant les SIG, des pionniers dessinent à la main des cartes qui relient un phénomène social à sa localisation précise.</a:t>
            </a:r>
          </a:p>
          <a:p>
            <a:pPr lvl="0"/>
            <a:r>
              <a:rPr/>
              <a:t>Trois exemples fondateurs, chacun dans un contexte différent : une épidémie (Londres, 1854), la pauvreté urbaine (Londres, 1889-1903), la condition afro-américaine (Philadelphie, 1899).</a:t>
            </a:r>
          </a:p>
          <a:p>
            <a:pPr lvl="0"/>
            <a:r>
              <a:rPr/>
              <a:t>Point commun : cartographier du micro (la rue, le ménage) pour révéler un phénomène macro (contagion, classe sociale, race).</a:t>
            </a:r>
          </a:p>
          <a:p>
            <a:pPr lvl="0"/>
            <a:r>
              <a:rPr/>
              <a:t>Ces travaux précèdent de plusieurs décennies la statistique spatiale moderne et l’épidémiologie comme discipline.</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John Snow et l’épidémie de choléra de Broad Street (1854)</a:t>
            </a:r>
          </a:p>
        </p:txBody>
      </p:sp>
      <p:sp>
        <p:nvSpPr>
          <p:cNvPr id="3" name="Content Placeholder 2"/>
          <p:cNvSpPr>
            <a:spLocks noGrp="1"/>
          </p:cNvSpPr>
          <p:nvPr>
            <p:ph idx="1"/>
          </p:nvPr>
        </p:nvSpPr>
        <p:spPr/>
        <p:txBody>
          <a:bodyPr/>
          <a:lstStyle/>
          <a:p>
            <a:pPr lvl="0"/>
            <a:r>
              <a:rPr/>
              <a:t>Londres, quartier de Soho : une épidémie de choléra tue plus de 600 personnes en quelques jours.</a:t>
            </a:r>
          </a:p>
          <a:p>
            <a:pPr lvl="0"/>
            <a:r>
              <a:rPr/>
              <a:t>La théorie dominante de l’époque est le « miasme » (air vicié) ; Snow soupçonne une transmission par l’eau.</a:t>
            </a:r>
          </a:p>
          <a:p>
            <a:pPr lvl="0"/>
            <a:r>
              <a:rPr/>
              <a:t>Sa méthode : reporter sur un plan chaque décès, ainsi que la localisation des pompes à eau publiques du quartier.</a:t>
            </a:r>
          </a:p>
          <a:p>
            <a:pPr lvl="0"/>
            <a:r>
              <a:rPr/>
              <a:t>Le nuage de points se concentre autour d’une pompe précise, Broad Street ; son retrait (retrait de la manivelle) précède la fin de l’épidémie.</a:t>
            </a:r>
          </a:p>
          <a:p>
            <a:pPr lvl="0"/>
            <a:r>
              <a:rPr/>
              <a:t>Considérée comme l’acte fondateur de l’épidémiologie spatiale moderne.</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 carte de Snow</a:t>
            </a:r>
          </a:p>
        </p:txBody>
      </p:sp>
      <p:pic>
        <p:nvPicPr>
          <p:cNvPr descr="images/snow_map.jpg" id="0" name="Picture 1"/>
          <p:cNvPicPr>
            <a:picLocks noGrp="1" noChangeAspect="1"/>
          </p:cNvPicPr>
          <p:nvPr/>
        </p:nvPicPr>
        <p:blipFill>
          <a:blip r:embed="rId2"/>
          <a:stretch>
            <a:fillRect/>
          </a:stretch>
        </p:blipFill>
        <p:spPr bwMode="auto">
          <a:xfrm>
            <a:off x="2413000" y="1193800"/>
            <a:ext cx="43180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Carte des décès (barres noires) et des pompes à eau autour de Broad Street, Soho, 1854. Source : John Snow, </a:t>
            </a:r>
            <a:r>
              <a:rPr i="1"/>
              <a:t>On the Mode of Communication of Cholera</a:t>
            </a:r>
            <a:r>
              <a:rPr/>
              <a:t>, 1855.</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Charles Booth et la cartographie de la pauvreté à Londres (1889-1903)</a:t>
            </a:r>
          </a:p>
        </p:txBody>
      </p:sp>
      <p:sp>
        <p:nvSpPr>
          <p:cNvPr id="3" name="Content Placeholder 2"/>
          <p:cNvSpPr>
            <a:spLocks noGrp="1"/>
          </p:cNvSpPr>
          <p:nvPr>
            <p:ph idx="1"/>
          </p:nvPr>
        </p:nvSpPr>
        <p:spPr/>
        <p:txBody>
          <a:bodyPr/>
          <a:lstStyle/>
          <a:p>
            <a:pPr lvl="0"/>
            <a:r>
              <a:rPr/>
              <a:t>Réformateur social et armateur, Booth conteste les estimations de pauvreté de l’époque, jugées exagérées par la presse socialiste.</a:t>
            </a:r>
          </a:p>
          <a:p>
            <a:pPr lvl="0"/>
            <a:r>
              <a:rPr/>
              <a:t>Il finance une enquête rue par rue sur l’ensemble de Londres, menée avec des enquêteurs et des agents de police connaissant chaque quartier.</a:t>
            </a:r>
          </a:p>
          <a:p>
            <a:pPr lvl="0"/>
            <a:r>
              <a:rPr/>
              <a:t>Chaque rue est classée en sept catégories, de « classe la plus basse, vicieuse, semi-criminelle » (noir) à « classe aisée » (jaune), et coloriée sur un plan.</a:t>
            </a:r>
          </a:p>
          <a:p>
            <a:pPr lvl="0"/>
            <a:r>
              <a:rPr/>
              <a:t>Résultat : les </a:t>
            </a:r>
            <a:r>
              <a:rPr i="1"/>
              <a:t>Maps Descriptive of London Poverty</a:t>
            </a:r>
            <a:r>
              <a:rPr/>
              <a:t>, en 12 feuilles, publiées dans </a:t>
            </a:r>
            <a:r>
              <a:rPr i="1"/>
              <a:t>Life and Labour of the People in London</a:t>
            </a:r>
            <a:r>
              <a:rPr/>
              <a:t>.</a:t>
            </a:r>
          </a:p>
          <a:p>
            <a:pPr lvl="0"/>
            <a:r>
              <a:rPr/>
              <a:t>Marque durablement les méthodes d’enquête sociale et la cartographie thématique administrative.</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 carte de Booth</a:t>
            </a:r>
          </a:p>
        </p:txBody>
      </p:sp>
      <p:pic>
        <p:nvPicPr>
          <p:cNvPr descr="images/booth_map.jpg" id="0" name="Picture 1"/>
          <p:cNvPicPr>
            <a:picLocks noGrp="1" noChangeAspect="1"/>
          </p:cNvPicPr>
          <p:nvPr/>
        </p:nvPicPr>
        <p:blipFill>
          <a:blip r:embed="rId2"/>
          <a:stretch>
            <a:fillRect/>
          </a:stretch>
        </p:blipFill>
        <p:spPr bwMode="auto">
          <a:xfrm>
            <a:off x="2971800" y="1193800"/>
            <a:ext cx="32004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Extrait de la carte descriptive de la pauvreté londonienne, feuille 3 (quartiers nord), 1898-99. Source : Charles Booth, </a:t>
            </a:r>
            <a:r>
              <a:rPr i="1"/>
              <a:t>Life and Labour of the People in London</a:t>
            </a:r>
            <a:r>
              <a:rPr/>
              <a:t> ; The British Library.</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 E. B. Du Bois et le Seventh Ward de Philadelphie (1899)</a:t>
            </a:r>
          </a:p>
        </p:txBody>
      </p:sp>
      <p:sp>
        <p:nvSpPr>
          <p:cNvPr id="3" name="Content Placeholder 2"/>
          <p:cNvSpPr>
            <a:spLocks noGrp="1"/>
          </p:cNvSpPr>
          <p:nvPr>
            <p:ph idx="1"/>
          </p:nvPr>
        </p:nvSpPr>
        <p:spPr/>
        <p:txBody>
          <a:bodyPr/>
          <a:lstStyle/>
          <a:p>
            <a:pPr lvl="0"/>
            <a:r>
              <a:rPr/>
              <a:t>Premier sociologue afro-américain à obtenir un doctorat à Harvard, Du Bois est chargé par l’Université de Pennsylvanie d’étudier la « question noire » dans le septième arrondissement de Philadelphie.</a:t>
            </a:r>
          </a:p>
          <a:p>
            <a:pPr lvl="0"/>
            <a:r>
              <a:rPr/>
              <a:t>Il mène une enquête porte-à-porte auprès de plus de 2 500 ménages et cartographie, rue par rue, la classe sociale de chaque foyer.</a:t>
            </a:r>
          </a:p>
          <a:p>
            <a:pPr lvl="0"/>
            <a:r>
              <a:rPr/>
              <a:t>L’ouvrage qui en résulte, </a:t>
            </a:r>
            <a:r>
              <a:rPr i="1"/>
              <a:t>The Philadelphia Negro</a:t>
            </a:r>
            <a:r>
              <a:rPr/>
              <a:t> (1899), est la première étude sociologique urbaine empirique de cette ampleur aux États-Unis.</a:t>
            </a:r>
          </a:p>
          <a:p>
            <a:pPr lvl="0"/>
            <a:r>
              <a:rPr/>
              <a:t>Il présentera ensuite, à l’Exposition universelle de Paris (1900), une série de cartes et infographies statistiques sur la population afro-américaine, un travail longtemps resté sous-reconnu.</a:t>
            </a:r>
          </a:p>
          <a:p>
            <a:pPr lvl="0"/>
            <a:r>
              <a:rPr/>
              <a:t>Comme Booth (dont Du Bois a étudié la méthode), l’objectif est de remplacer les préjugés par une mesure systématique, rue par rue.</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 carte de Du Bois</a:t>
            </a:r>
          </a:p>
        </p:txBody>
      </p:sp>
      <p:pic>
        <p:nvPicPr>
          <p:cNvPr descr="images/dubois_map.jpg" id="0" name="Picture 1"/>
          <p:cNvPicPr>
            <a:picLocks noGrp="1" noChangeAspect="1"/>
          </p:cNvPicPr>
          <p:nvPr/>
        </p:nvPicPr>
        <p:blipFill>
          <a:blip r:embed="rId2"/>
          <a:stretch>
            <a:fillRect/>
          </a:stretch>
        </p:blipFill>
        <p:spPr bwMode="auto">
          <a:xfrm>
            <a:off x="2654300" y="1193800"/>
            <a:ext cx="38481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Carte de classe sociale par pâté de maisons, </a:t>
            </a:r>
            <a:r>
              <a:rPr i="1"/>
              <a:t>The Philadelphia Negro</a:t>
            </a:r>
            <a:r>
              <a:rPr/>
              <a:t>, W. E. B. Du Bois, 1899. Source : projet </a:t>
            </a:r>
            <a:r>
              <a:rPr i="1"/>
              <a:t>THE WARD</a:t>
            </a:r>
            <a:r>
              <a:rPr/>
              <a:t>, exposition numérique.</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Ce que ces trois cartes ont en commun</a:t>
            </a:r>
          </a:p>
        </p:txBody>
      </p:sp>
      <p:sp>
        <p:nvSpPr>
          <p:cNvPr id="3" name="Content Placeholder 2"/>
          <p:cNvSpPr>
            <a:spLocks noGrp="1"/>
          </p:cNvSpPr>
          <p:nvPr>
            <p:ph idx="1"/>
          </p:nvPr>
        </p:nvSpPr>
        <p:spPr/>
        <p:txBody>
          <a:bodyPr/>
          <a:lstStyle/>
          <a:p>
            <a:pPr lvl="0"/>
            <a:r>
              <a:rPr/>
              <a:t>Une </a:t>
            </a:r>
            <a:r>
              <a:rPr b="1"/>
              <a:t>unité d’observation fine</a:t>
            </a:r>
            <a:r>
              <a:rPr/>
              <a:t> (l’adresse, la rue, le ménage) permettant de voir des variations invisibles à l’échelle de la ville ou du pays.</a:t>
            </a:r>
          </a:p>
          <a:p>
            <a:pPr lvl="0"/>
            <a:r>
              <a:rPr/>
              <a:t>Une </a:t>
            </a:r>
            <a:r>
              <a:rPr b="1"/>
              <a:t>collecte de terrain lourde et directe</a:t>
            </a:r>
            <a:r>
              <a:rPr/>
              <a:t> : pas de données administratives préexistantes, tout est enquêté ou observé.</a:t>
            </a:r>
          </a:p>
          <a:p>
            <a:pPr lvl="0"/>
            <a:r>
              <a:rPr/>
              <a:t>Un objectif de </a:t>
            </a:r>
            <a:r>
              <a:rPr b="1"/>
              <a:t>preuve visuelle</a:t>
            </a:r>
            <a:r>
              <a:rPr/>
              <a:t> destiné à convaincre des décideurs ou un public sceptique.</a:t>
            </a:r>
          </a:p>
          <a:p>
            <a:pPr lvl="0"/>
            <a:r>
              <a:rPr/>
              <a:t>Des limites déjà présentes : subjectivité du codage (classes de Booth), biais de l’enquêteur, données figées à un instant donné.</a:t>
            </a:r>
          </a:p>
          <a:p>
            <a:pPr lvl="0"/>
            <a:r>
              <a:rPr/>
              <a:t>Ce sont les ancêtres directs des SIG et de la statistique spatiale utilisés aujourd’hui, y compris dans l’atelier ACLED/ERA5 de cet après-midi.</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Sources de données : origines de la géographie sociale</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286000"/>
                <a:gridCol w="5943600"/>
              </a:tblGrid>
              <a:tr h="0">
                <a:tc>
                  <a:txBody>
                    <a:bodyPr/>
                    <a:lstStyle/>
                    <a:p>
                      <a:pPr lvl="0" indent="0" marL="0">
                        <a:buNone/>
                      </a:pPr>
                      <a:r>
                        <a:rPr/>
                        <a:t>Étude</a:t>
                      </a:r>
                    </a:p>
                  </a:txBody>
                  <a:tcPr/>
                </a:tc>
                <a:tc>
                  <a:txBody>
                    <a:bodyPr/>
                    <a:lstStyle/>
                    <a:p>
                      <a:pPr lvl="0" indent="0" marL="0">
                        <a:buNone/>
                      </a:pPr>
                      <a:r>
                        <a:rPr/>
                        <a:t>Source(s) de données</a:t>
                      </a:r>
                    </a:p>
                  </a:txBody>
                  <a:tcPr/>
                </a:tc>
              </a:tr>
              <a:tr h="0">
                <a:tc>
                  <a:txBody>
                    <a:bodyPr/>
                    <a:lstStyle/>
                    <a:p>
                      <a:pPr lvl="0" indent="0" marL="0">
                        <a:buNone/>
                      </a:pPr>
                      <a:r>
                        <a:rPr/>
                        <a:t>Snow (1854)</a:t>
                      </a:r>
                    </a:p>
                  </a:txBody>
                </a:tc>
                <a:tc>
                  <a:txBody>
                    <a:bodyPr/>
                    <a:lstStyle/>
                    <a:p>
                      <a:pPr lvl="0" indent="0" marL="0">
                        <a:buNone/>
                      </a:pPr>
                      <a:r>
                        <a:rPr/>
                        <a:t>Relevé de terrain : décès recensés maison par maison, localisation des pompes à eau du quartier</a:t>
                      </a:r>
                    </a:p>
                  </a:txBody>
                </a:tc>
              </a:tr>
              <a:tr h="0">
                <a:tc>
                  <a:txBody>
                    <a:bodyPr/>
                    <a:lstStyle/>
                    <a:p>
                      <a:pPr lvl="0" indent="0" marL="0">
                        <a:buNone/>
                      </a:pPr>
                      <a:r>
                        <a:rPr/>
                        <a:t>Booth (1889-1903)</a:t>
                      </a:r>
                    </a:p>
                  </a:txBody>
                </a:tc>
                <a:tc>
                  <a:txBody>
                    <a:bodyPr/>
                    <a:lstStyle/>
                    <a:p>
                      <a:pPr lvl="0" indent="0" marL="0">
                        <a:buNone/>
                      </a:pPr>
                      <a:r>
                        <a:rPr/>
                        <a:t>Enquête de terrain rue par rue (enquêteurs et agents de police), sur l’ensemble de Londres</a:t>
                      </a:r>
                    </a:p>
                  </a:txBody>
                </a:tc>
              </a:tr>
              <a:tr h="0">
                <a:tc>
                  <a:txBody>
                    <a:bodyPr/>
                    <a:lstStyle/>
                    <a:p>
                      <a:pPr lvl="0" indent="0" marL="0">
                        <a:buNone/>
                      </a:pPr>
                      <a:r>
                        <a:rPr/>
                        <a:t>Du Bois (1899)</a:t>
                      </a:r>
                    </a:p>
                  </a:txBody>
                </a:tc>
                <a:tc>
                  <a:txBody>
                    <a:bodyPr/>
                    <a:lstStyle/>
                    <a:p>
                      <a:pPr lvl="0" indent="0" marL="0">
                        <a:buNone/>
                      </a:pPr>
                      <a:r>
                        <a:rPr/>
                        <a:t>Enquête porte-à-porte auprès de plus de 2 500 ménages, 7e arrondissement de Philadelphie</a:t>
                      </a:r>
                    </a:p>
                  </a:txBody>
                </a:tc>
              </a:tr>
            </a:tbl>
          </a:graphicData>
        </a:graphic>
      </p:graphicFrame>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2. Les variables géospatiales comme variables explicatives et la modélisation géospatiale</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 la carte descriptive à la variable explicative</a:t>
            </a:r>
          </a:p>
        </p:txBody>
      </p:sp>
      <p:sp>
        <p:nvSpPr>
          <p:cNvPr id="3" name="Content Placeholder 2"/>
          <p:cNvSpPr>
            <a:spLocks noGrp="1"/>
          </p:cNvSpPr>
          <p:nvPr>
            <p:ph idx="1"/>
          </p:nvPr>
        </p:nvSpPr>
        <p:spPr/>
        <p:txBody>
          <a:bodyPr/>
          <a:lstStyle/>
          <a:p>
            <a:pPr lvl="0"/>
            <a:r>
              <a:rPr/>
              <a:t>Une fois la carte établie, l’étape suivante consiste à tester si une variable géospatiale (climat, environnement, distance…) </a:t>
            </a:r>
            <a:r>
              <a:rPr b="1"/>
              <a:t>explique statistiquement</a:t>
            </a:r>
            <a:r>
              <a:rPr/>
              <a:t> un phénomène social.</a:t>
            </a:r>
          </a:p>
          <a:p>
            <a:pPr lvl="0"/>
            <a:r>
              <a:rPr/>
              <a:t>On quitte la description pure pour l’inférence : régression, modèle à effets fixes, causalité.</a:t>
            </a:r>
          </a:p>
          <a:p>
            <a:pPr lvl="0"/>
            <a:r>
              <a:rPr/>
              <a:t>Trois exemples récents, trois échelles différentes : le continent africain, deux régions du Sud global, une ville en guerre.</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Hendrix &amp; Salehyan (2012) : pluie et conflit social en Afrique</a:t>
            </a:r>
          </a:p>
        </p:txBody>
      </p:sp>
      <p:sp>
        <p:nvSpPr>
          <p:cNvPr id="3" name="Content Placeholder 2"/>
          <p:cNvSpPr>
            <a:spLocks noGrp="1"/>
          </p:cNvSpPr>
          <p:nvPr>
            <p:ph idx="1"/>
          </p:nvPr>
        </p:nvSpPr>
        <p:spPr/>
        <p:txBody>
          <a:bodyPr/>
          <a:lstStyle/>
          <a:p>
            <a:pPr lvl="0"/>
            <a:r>
              <a:rPr/>
              <a:t>Question : les écarts de pluviométrie par rapport à la normale expliquent-ils les émeutes, manifestations et violences en Afrique ?</a:t>
            </a:r>
          </a:p>
          <a:p>
            <a:pPr lvl="0"/>
            <a:r>
              <a:rPr/>
              <a:t>Données : plus de 6 000 événements de conflit social (</a:t>
            </a:r>
            <a:r>
              <a:rPr i="1"/>
              <a:t>Social Conflict in Africa Database</a:t>
            </a:r>
            <a:r>
              <a:rPr/>
              <a:t>, 1990-2009) croisés avec les déviations de pluviométrie standardisées par pays (</a:t>
            </a:r>
            <a:r>
              <a:rPr i="1"/>
              <a:t>Global Precipitation Climatology Project</a:t>
            </a:r>
            <a:r>
              <a:rPr/>
              <a:t>).</a:t>
            </a:r>
          </a:p>
          <a:p>
            <a:pPr lvl="0"/>
            <a:r>
              <a:rPr/>
              <a:t>Résultat : les déviations pluviométriques (trop de pluie </a:t>
            </a:r>
            <a:r>
              <a:rPr b="1"/>
              <a:t>ou</a:t>
            </a:r>
            <a:r>
              <a:rPr/>
              <a:t> trop peu) sont associées à davantage de conflit, avec un effet plus marqué pour les événements violents.</a:t>
            </a:r>
          </a:p>
          <a:p>
            <a:pPr lvl="0"/>
            <a:r>
              <a:rPr/>
              <a:t>Enseignement méthodologique : la pluie est utilisée comme variable explicative </a:t>
            </a:r>
            <a:r>
              <a:rPr i="1"/>
              <a:t>exogène</a:t>
            </a:r>
            <a:r>
              <a:rPr/>
              <a:t>, peu suspecte d’être elle-même causée par le conflit, un atout pour l’inférence causale.</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Hendrix &amp; Salehyan : les événements de conflit social en Afrique</a:t>
            </a:r>
          </a:p>
        </p:txBody>
      </p:sp>
      <p:pic>
        <p:nvPicPr>
          <p:cNvPr descr="images/paste-2.png" id="0" name="Picture 1"/>
          <p:cNvPicPr>
            <a:picLocks noGrp="1" noChangeAspect="1"/>
          </p:cNvPicPr>
          <p:nvPr/>
        </p:nvPicPr>
        <p:blipFill>
          <a:blip r:embed="rId2"/>
          <a:stretch>
            <a:fillRect/>
          </a:stretch>
        </p:blipFill>
        <p:spPr bwMode="auto">
          <a:xfrm>
            <a:off x="1803400" y="1193800"/>
            <a:ext cx="5524500" cy="3390900"/>
          </a:xfrm>
          <a:prstGeom prst="rect">
            <a:avLst/>
          </a:prstGeom>
          <a:noFill/>
          <a:ln w="9525">
            <a:noFill/>
            <a:headEnd/>
            <a:tailEnd/>
          </a:ln>
        </p:spPr>
      </p:pic>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Couttenier &amp; Soubeyran (2014) : sécheresse et guerre civile</a:t>
            </a:r>
          </a:p>
        </p:txBody>
      </p:sp>
      <p:sp>
        <p:nvSpPr>
          <p:cNvPr id="3" name="Content Placeholder 2"/>
          <p:cNvSpPr>
            <a:spLocks noGrp="1"/>
          </p:cNvSpPr>
          <p:nvPr>
            <p:ph idx="1"/>
          </p:nvPr>
        </p:nvSpPr>
        <p:spPr/>
        <p:txBody>
          <a:bodyPr/>
          <a:lstStyle/>
          <a:p>
            <a:pPr lvl="0"/>
            <a:r>
              <a:rPr/>
              <a:t>Question : le lien entre sécheresse et guerre civile résiste-t-il à un contrôle plus strict des chocs climatiques globaux (communs à tous les pays la même année) ?</a:t>
            </a:r>
          </a:p>
          <a:p>
            <a:pPr lvl="0"/>
            <a:r>
              <a:rPr/>
              <a:t>Données : indice de sécheresse de Palmer (PDSI, combinant précipitations, température et sol), agrégé par pays-année pour l’Afrique subsaharienne, 1950-2005.</a:t>
            </a:r>
          </a:p>
          <a:p>
            <a:pPr lvl="0"/>
            <a:r>
              <a:rPr/>
              <a:t>Méthode : spécification en doubles différences avec effets fixes pays </a:t>
            </a:r>
            <a:r>
              <a:rPr b="1"/>
              <a:t>et</a:t>
            </a:r>
            <a:r>
              <a:rPr/>
              <a:t> année, pour isoler la variation propre à chaque pays plutôt que des chocs climatiques mondiaux (ex. El Niño).</a:t>
            </a:r>
          </a:p>
          <a:p>
            <a:pPr lvl="0"/>
            <a:r>
              <a:rPr/>
              <a:t>Résultat : le lien pluie/température-conflit trouvé dans la littérature s’affaiblit fortement et devient peu significatif une fois les chocs globaux contrôlés ; avec le PDSI, mesure plus fine du stress hydrique, un lien positif mais faible réapparaît.</a:t>
            </a:r>
          </a:p>
          <a:p>
            <a:pPr lvl="0"/>
            <a:r>
              <a:rPr/>
              <a:t>Message clé, en écho à Hendrix &amp; Salehyan : une variable géospatiale n’« explique » un phénomène social que si l’on maîtrise sérieusement les facteurs de confusion.</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Couttenier &amp; Soubeyran : cartes de l’indice de sécheresse en Afrique</a:t>
            </a:r>
          </a:p>
        </p:txBody>
      </p:sp>
      <p:pic>
        <p:nvPicPr>
          <p:cNvPr descr="images/paste-4.png" id="0" name="Picture 1"/>
          <p:cNvPicPr>
            <a:picLocks noGrp="1" noChangeAspect="1"/>
          </p:cNvPicPr>
          <p:nvPr/>
        </p:nvPicPr>
        <p:blipFill>
          <a:blip r:embed="rId2"/>
          <a:stretch>
            <a:fillRect/>
          </a:stretch>
        </p:blipFill>
        <p:spPr bwMode="auto">
          <a:xfrm>
            <a:off x="2171700" y="1193800"/>
            <a:ext cx="4800600" cy="3390900"/>
          </a:xfrm>
          <a:prstGeom prst="rect">
            <a:avLst/>
          </a:prstGeom>
          <a:noFill/>
          <a:ln w="9525">
            <a:noFill/>
            <a:headEnd/>
            <a:tailEnd/>
          </a:ln>
        </p:spPr>
      </p:pic>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Abdel-Ghany et al. (2026) : température et sex-ratio à la naissance</a:t>
            </a:r>
          </a:p>
        </p:txBody>
      </p:sp>
      <p:sp>
        <p:nvSpPr>
          <p:cNvPr id="3" name="Content Placeholder 2"/>
          <p:cNvSpPr>
            <a:spLocks noGrp="1"/>
          </p:cNvSpPr>
          <p:nvPr>
            <p:ph idx="1"/>
          </p:nvPr>
        </p:nvSpPr>
        <p:spPr/>
        <p:txBody>
          <a:bodyPr/>
          <a:lstStyle/>
          <a:p>
            <a:pPr lvl="0"/>
            <a:r>
              <a:rPr/>
              <a:t>Question : l’exposition à la chaleur pendant la grossesse modifie-t-elle le ratio filles/garçons à la naissance ?</a:t>
            </a:r>
          </a:p>
          <a:p>
            <a:pPr lvl="0"/>
            <a:r>
              <a:rPr/>
              <a:t>Données : 5 millions de naissances issues des enquêtes DHS dans 33 pays d’Afrique subsaharienne et en Inde, croisées avec des données de température journalière à haute résolution.</a:t>
            </a:r>
          </a:p>
          <a:p>
            <a:pPr lvl="0"/>
            <a:r>
              <a:rPr/>
              <a:t>Mécanisme proposé : la chaleur augmente la mortalité prénatale, en particulier chez les fœtus masculins (plus fragiles in utero), et peut aussi favoriser des avortements sélectifs là où la préférence pour les garçons est forte (Inde).</a:t>
            </a:r>
          </a:p>
          <a:p>
            <a:pPr lvl="0"/>
            <a:r>
              <a:rPr/>
              <a:t>Résultat : les jours à plus de 20°C pendant le premier trimestre sont associés à moins de naissances masculines, en Afrique subsaharienne comme en Inde.</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Abdel-Ghany et al. : le mécanisme testé</a:t>
            </a:r>
          </a:p>
        </p:txBody>
      </p:sp>
      <p:pic>
        <p:nvPicPr>
          <p:cNvPr descr="images/ghany_fig1.png" id="0" name="Picture 1"/>
          <p:cNvPicPr>
            <a:picLocks noGrp="1" noChangeAspect="1"/>
          </p:cNvPicPr>
          <p:nvPr/>
        </p:nvPicPr>
        <p:blipFill>
          <a:blip r:embed="rId2"/>
          <a:stretch>
            <a:fillRect/>
          </a:stretch>
        </p:blipFill>
        <p:spPr bwMode="auto">
          <a:xfrm>
            <a:off x="2908300" y="1193800"/>
            <a:ext cx="33274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Cadre conceptuel des mécanismes biologiques et comportementaux reliant exposition à la chaleur et mortalité prénatale différenciée selon le sexe. Source : Abdel-Ghany et al., </a:t>
            </a:r>
            <a:r>
              <a:rPr i="1"/>
              <a:t>PNAS</a:t>
            </a:r>
            <a:r>
              <a:rPr/>
              <a:t>, 2026.</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Darin, Kashyap &amp; Leasure (2026) : données numériques et déplacement forcé à Gaza</a:t>
            </a:r>
          </a:p>
        </p:txBody>
      </p:sp>
      <p:sp>
        <p:nvSpPr>
          <p:cNvPr id="3" name="Content Placeholder 2"/>
          <p:cNvSpPr>
            <a:spLocks noGrp="1"/>
          </p:cNvSpPr>
          <p:nvPr>
            <p:ph idx="1"/>
          </p:nvPr>
        </p:nvSpPr>
        <p:spPr/>
        <p:txBody>
          <a:bodyPr/>
          <a:lstStyle/>
          <a:p>
            <a:pPr lvl="0"/>
            <a:r>
              <a:rPr/>
              <a:t>Question : peut-on suivre à haute fréquence l’ampleur et le rythme d’un déplacement forcé de population avec des données numériques, quand les systèmes de collecte habituels sont interrompus ?</a:t>
            </a:r>
          </a:p>
          <a:p>
            <a:pPr lvl="0"/>
            <a:r>
              <a:rPr/>
              <a:t>Données : estimations de population dérivées de l’API marketing de Facebook, mises en regard d’événements de conflit (ACLED), d’ordres d’évacuation et de dommages aux bâtiments (imagerie radar Sentinel-1).</a:t>
            </a:r>
          </a:p>
          <a:p>
            <a:pPr lvl="0"/>
            <a:r>
              <a:rPr/>
              <a:t>Ces variables géospatiales et temporelles (événements, évacuations, dommages) sont utilisées pour </a:t>
            </a:r>
            <a:r>
              <a:rPr b="1"/>
              <a:t>expliquer</a:t>
            </a:r>
            <a:r>
              <a:rPr/>
              <a:t> la dynamique et le rythme des déplacements de population.</a:t>
            </a:r>
          </a:p>
          <a:p>
            <a:pPr lvl="0"/>
            <a:r>
              <a:rPr/>
              <a:t>Résultat : jusqu’à 70 % de la population de Gaza déplacée entre le 7 octobre 2023 et le 15 mai 2024, avec une volatilité croissante des mouvements de population à mesure que le conflit se prolonge.</a:t>
            </a:r>
          </a:p>
          <a:p>
            <a:pPr lvl="0"/>
            <a:r>
              <a:rPr/>
              <a:t>Étude menée par l’équipe de démographie de l’Université d’Oxford ; Douglas Leasure et Ridhi Kashyap, coauteurs, apparaissent aussi dans la section 2 de ce cours.</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Darin, Kashyap &amp; Leasure : la dynamique des déplacements à Gaza</a:t>
            </a:r>
          </a:p>
        </p:txBody>
      </p:sp>
      <p:pic>
        <p:nvPicPr>
          <p:cNvPr descr="images/paste-5.png" id="0" name="Picture 1"/>
          <p:cNvPicPr>
            <a:picLocks noGrp="1" noChangeAspect="1"/>
          </p:cNvPicPr>
          <p:nvPr/>
        </p:nvPicPr>
        <p:blipFill>
          <a:blip r:embed="rId2"/>
          <a:stretch>
            <a:fillRect/>
          </a:stretch>
        </p:blipFill>
        <p:spPr bwMode="auto">
          <a:xfrm>
            <a:off x="2895600" y="1193800"/>
            <a:ext cx="3365500" cy="3390900"/>
          </a:xfrm>
          <a:prstGeom prst="rect">
            <a:avLst/>
          </a:prstGeom>
          <a:noFill/>
          <a:ln w="9525">
            <a:noFill/>
            <a:headEnd/>
            <a:tailEnd/>
          </a:ln>
        </p:spPr>
      </p:pic>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Variables explicatives géospatiales : synthèse</a:t>
            </a:r>
          </a:p>
        </p:txBody>
      </p:sp>
      <p:sp>
        <p:nvSpPr>
          <p:cNvPr id="3" name="Content Placeholder 2"/>
          <p:cNvSpPr>
            <a:spLocks noGrp="1"/>
          </p:cNvSpPr>
          <p:nvPr>
            <p:ph idx="1"/>
          </p:nvPr>
        </p:nvSpPr>
        <p:spPr/>
        <p:txBody>
          <a:bodyPr/>
          <a:lstStyle/>
          <a:p>
            <a:pPr lvl="0"/>
            <a:r>
              <a:rPr/>
              <a:t>Une variable géospatiale devient </a:t>
            </a:r>
            <a:r>
              <a:rPr i="1"/>
              <a:t>explicative</a:t>
            </a:r>
            <a:r>
              <a:rPr/>
              <a:t> quand on l’utilise pour rendre compte statistiquement d’un phénomène social, avec un objectif d’inférence (association, parfois causalité).</a:t>
            </a:r>
          </a:p>
          <a:p>
            <a:pPr lvl="0"/>
            <a:r>
              <a:rPr/>
              <a:t>Les quatre exemples partagent une structure commune : un </a:t>
            </a:r>
            <a:r>
              <a:rPr b="1"/>
              <a:t>choc ou une exposition géolocalisée</a:t>
            </a:r>
            <a:r>
              <a:rPr/>
              <a:t> (pluie, sécheresse, chaleur, conflit, évacuation) mise en regard d’un </a:t>
            </a:r>
            <a:r>
              <a:rPr b="1"/>
              <a:t>indicateur social</a:t>
            </a:r>
            <a:r>
              <a:rPr/>
              <a:t> (conflit, sex-ratio, déplacement).</a:t>
            </a:r>
          </a:p>
          <a:p>
            <a:pPr lvl="0"/>
            <a:r>
              <a:rPr/>
              <a:t>Point de vigilance commun : confusion, causalité inverse, qualité et résolution spatiale de la variable géospatiale utilisée ; Couttenier &amp; Soubeyran le montrent bien face à Hendrix &amp; Salehyan.</a:t>
            </a:r>
          </a:p>
          <a:p>
            <a:pPr lvl="0"/>
            <a:r>
              <a:rPr/>
              <a:t>Lien avec l’atelier de cet après-midi : ACLED et ERA5 sont précisément le type de données mobilisées dans ces quatre articles.</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Sources de données : variables explicatives géospatiales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286000"/>
                <a:gridCol w="5943600"/>
              </a:tblGrid>
              <a:tr h="0">
                <a:tc>
                  <a:txBody>
                    <a:bodyPr/>
                    <a:lstStyle/>
                    <a:p>
                      <a:pPr lvl="0" indent="0" marL="0">
                        <a:buNone/>
                      </a:pPr>
                      <a:r>
                        <a:rPr/>
                        <a:t>Étude</a:t>
                      </a:r>
                    </a:p>
                  </a:txBody>
                  <a:tcPr/>
                </a:tc>
                <a:tc>
                  <a:txBody>
                    <a:bodyPr/>
                    <a:lstStyle/>
                    <a:p>
                      <a:pPr lvl="0" indent="0" marL="0">
                        <a:buNone/>
                      </a:pPr>
                      <a:r>
                        <a:rPr/>
                        <a:t>Source(s) de données</a:t>
                      </a:r>
                    </a:p>
                  </a:txBody>
                  <a:tcPr/>
                </a:tc>
              </a:tr>
              <a:tr h="0">
                <a:tc>
                  <a:txBody>
                    <a:bodyPr/>
                    <a:lstStyle/>
                    <a:p>
                      <a:pPr lvl="0" indent="0" marL="0">
                        <a:buNone/>
                      </a:pPr>
                      <a:r>
                        <a:rPr/>
                        <a:t>Hendrix &amp; Salehyan (2012)</a:t>
                      </a:r>
                    </a:p>
                  </a:txBody>
                </a:tc>
                <a:tc>
                  <a:txBody>
                    <a:bodyPr/>
                    <a:lstStyle/>
                    <a:p>
                      <a:pPr lvl="0" indent="0" marL="0">
                        <a:buNone/>
                      </a:pPr>
                      <a:r>
                        <a:rPr i="1"/>
                        <a:t>Social Conflict in Africa Database</a:t>
                      </a:r>
                      <a:r>
                        <a:rPr/>
                        <a:t> (SCAD) ; </a:t>
                      </a:r>
                      <a:r>
                        <a:rPr i="1"/>
                        <a:t>Global Precipitation Climatology Project</a:t>
                      </a:r>
                      <a:r>
                        <a:rPr/>
                        <a:t> (GPCP)</a:t>
                      </a:r>
                    </a:p>
                  </a:txBody>
                </a:tc>
              </a:tr>
              <a:tr h="0">
                <a:tc>
                  <a:txBody>
                    <a:bodyPr/>
                    <a:lstStyle/>
                    <a:p>
                      <a:pPr lvl="0" indent="0" marL="0">
                        <a:buNone/>
                      </a:pPr>
                      <a:r>
                        <a:rPr/>
                        <a:t>Couttenier &amp; Soubeyran (2014)</a:t>
                      </a:r>
                    </a:p>
                  </a:txBody>
                </a:tc>
                <a:tc>
                  <a:txBody>
                    <a:bodyPr/>
                    <a:lstStyle/>
                    <a:p>
                      <a:pPr lvl="0" indent="0" marL="0">
                        <a:buNone/>
                      </a:pPr>
                      <a:r>
                        <a:rPr/>
                        <a:t>Indice de sécheresse PDSI (Dai </a:t>
                      </a:r>
                      <a:r>
                        <a:rPr i="1"/>
                        <a:t>et al.</a:t>
                      </a:r>
                      <a:r>
                        <a:rPr/>
                        <a:t>, 2004) ; </a:t>
                      </a:r>
                      <a:r>
                        <a:rPr i="1"/>
                        <a:t>UCDP/PRIO Armed Conflict Dataset</a:t>
                      </a:r>
                    </a:p>
                  </a:txBody>
                </a:tc>
              </a:tr>
              <a:tr h="0">
                <a:tc>
                  <a:txBody>
                    <a:bodyPr/>
                    <a:lstStyle/>
                    <a:p>
                      <a:pPr lvl="0" indent="0" marL="0">
                        <a:buNone/>
                      </a:pPr>
                      <a:r>
                        <a:rPr/>
                        <a:t>Abdel-Ghany et al. (2026)</a:t>
                      </a:r>
                    </a:p>
                  </a:txBody>
                </a:tc>
                <a:tc>
                  <a:txBody>
                    <a:bodyPr/>
                    <a:lstStyle/>
                    <a:p>
                      <a:pPr lvl="0" indent="0" marL="0">
                        <a:buNone/>
                      </a:pPr>
                      <a:r>
                        <a:rPr/>
                        <a:t>DHS (104 enquêtes, 33 pays d’Afrique subsaharienne + Inde) ; température journalière NOAA CPC (grille 0,5°) ; précipitations CRU (University of East Anglia)</a:t>
                      </a:r>
                    </a:p>
                  </a:txBody>
                </a:tc>
              </a:tr>
              <a:tr h="0">
                <a:tc>
                  <a:txBody>
                    <a:bodyPr/>
                    <a:lstStyle/>
                    <a:p>
                      <a:pPr lvl="0" indent="0" marL="0">
                        <a:buNone/>
                      </a:pPr>
                      <a:r>
                        <a:rPr/>
                        <a:t>Darin, Kashyap &amp; Leasure (2026)</a:t>
                      </a:r>
                    </a:p>
                  </a:txBody>
                </a:tc>
                <a:tc>
                  <a:txBody>
                    <a:bodyPr/>
                    <a:lstStyle/>
                    <a:p>
                      <a:pPr lvl="0" indent="0" marL="0">
                        <a:buNone/>
                      </a:pPr>
                      <a:r>
                        <a:rPr/>
                        <a:t>API marketing Facebook ; ACLED ; ordres d’évacuation (X/Twitter, Facebook, </a:t>
                      </a:r>
                      <a:r>
                        <a:rPr i="1"/>
                        <a:t>Forensic Architecture</a:t>
                      </a:r>
                      <a:r>
                        <a:rPr/>
                        <a:t>) ; dommages aux bâtiments (radar Copernicus Sentinel-1) ; rapports de situation UNRWA</a:t>
                      </a:r>
                    </a:p>
                  </a:txBody>
                </a:tc>
              </a:tr>
            </a:tbl>
          </a:graphicData>
        </a:graphic>
      </p:graphicFrame>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 modélisation géospatiale</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Estimer ce qui n’est pas mesuré partout</a:t>
            </a:r>
          </a:p>
        </p:txBody>
      </p:sp>
      <p:sp>
        <p:nvSpPr>
          <p:cNvPr id="3" name="Content Placeholder 2"/>
          <p:cNvSpPr>
            <a:spLocks noGrp="1"/>
          </p:cNvSpPr>
          <p:nvPr>
            <p:ph idx="1"/>
          </p:nvPr>
        </p:nvSpPr>
        <p:spPr/>
        <p:txBody>
          <a:bodyPr/>
          <a:lstStyle/>
          <a:p>
            <a:pPr lvl="0"/>
            <a:r>
              <a:rPr/>
              <a:t>Les enquêtes sociales (recensements, DHS…) ne couvrent jamais tout le territoire ni tous les moments.</a:t>
            </a:r>
          </a:p>
          <a:p>
            <a:pPr lvl="0"/>
            <a:r>
              <a:rPr/>
              <a:t>La modélisation géospatiale consiste à </a:t>
            </a:r>
            <a:r>
              <a:rPr b="1"/>
              <a:t>prédire</a:t>
            </a:r>
            <a:r>
              <a:rPr/>
              <a:t> un indicateur en tout point de l’espace à partir des observations disponibles et de covariables géospatiales corrélées (climat, occupation du sol, accessibilité…).</a:t>
            </a:r>
          </a:p>
          <a:p>
            <a:pPr lvl="0"/>
            <a:r>
              <a:rPr/>
              <a:t>Approche typique : modèle géostatistique bayésien, produisant à la fois une estimation ponctuelle et une carte d’incertitude.</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Ferreira et al. (2020) : comment fait-on, concrètement ?</a:t>
            </a:r>
          </a:p>
        </p:txBody>
      </p:sp>
      <p:sp>
        <p:nvSpPr>
          <p:cNvPr id="3" name="Content Placeholder 2"/>
          <p:cNvSpPr>
            <a:spLocks noGrp="1"/>
          </p:cNvSpPr>
          <p:nvPr>
            <p:ph idx="1"/>
          </p:nvPr>
        </p:nvSpPr>
        <p:spPr/>
        <p:txBody>
          <a:bodyPr/>
          <a:lstStyle/>
          <a:p>
            <a:pPr lvl="0"/>
            <a:r>
              <a:rPr/>
              <a:t>Revue systématique de la littérature sur l’estimation géospatiale d’indicateurs de santé reproductive, maternelle, néonatale et infantile.</a:t>
            </a:r>
          </a:p>
          <a:p>
            <a:pPr lvl="0"/>
            <a:r>
              <a:rPr/>
              <a:t>Objectif : documenter les choix méthodologiques (source de données, covariables, technique de modélisation, résolution, validation) utilisés dans ce champ de recherche.</a:t>
            </a:r>
          </a:p>
          <a:p>
            <a:pPr lvl="0"/>
            <a:r>
              <a:rPr/>
              <a:t>Constat : une grande hétérogénéité de pratiques, mais un schéma général commun à la plupart des études.</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Ferreira et al. : le schéma général d’une estimation géospatiale</a:t>
            </a:r>
          </a:p>
        </p:txBody>
      </p:sp>
      <p:pic>
        <p:nvPicPr>
          <p:cNvPr descr="images/ferreira_fig1.png" id="0" name="Picture 1"/>
          <p:cNvPicPr>
            <a:picLocks noGrp="1" noChangeAspect="1"/>
          </p:cNvPicPr>
          <p:nvPr/>
        </p:nvPicPr>
        <p:blipFill>
          <a:blip r:embed="rId2"/>
          <a:stretch>
            <a:fillRect/>
          </a:stretch>
        </p:blipFill>
        <p:spPr bwMode="auto">
          <a:xfrm>
            <a:off x="3365500" y="1193800"/>
            <a:ext cx="24003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Vue d’ensemble d’un processus d’estimation géospatiale. Source : Ferreira et al., </a:t>
            </a:r>
            <a:r>
              <a:rPr i="1"/>
              <a:t>International Journal of Health Geographics</a:t>
            </a:r>
            <a:r>
              <a:rPr/>
              <a:t>, 2020 (adapté de Mayala et al.).</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Golding et al. (2017) : cartographier la mortalité des moins de 5 ans en Afrique</a:t>
            </a:r>
          </a:p>
        </p:txBody>
      </p:sp>
      <p:sp>
        <p:nvSpPr>
          <p:cNvPr id="3" name="Content Placeholder 2"/>
          <p:cNvSpPr>
            <a:spLocks noGrp="1"/>
          </p:cNvSpPr>
          <p:nvPr>
            <p:ph idx="1"/>
          </p:nvPr>
        </p:nvSpPr>
        <p:spPr/>
        <p:txBody>
          <a:bodyPr/>
          <a:lstStyle/>
          <a:p>
            <a:pPr lvl="0"/>
            <a:r>
              <a:rPr/>
              <a:t>Question : quelle est la mortalité des moins de 5 ans à très fine échelle (5×5 km) partout en Afrique, de 2000 à 2015 ?</a:t>
            </a:r>
          </a:p>
          <a:p>
            <a:pPr lvl="0"/>
            <a:r>
              <a:rPr/>
              <a:t>Méthode : modèle géostatistique bayésien combinant plusieurs sous-modèles (régression, forêts, boosting) par </a:t>
            </a:r>
            <a:r>
              <a:rPr i="1"/>
              <a:t>stacking</a:t>
            </a:r>
            <a:r>
              <a:rPr/>
              <a:t>, avec autocorrélation spatio-temporelle, calé sur les estimations nationales du </a:t>
            </a:r>
            <a:r>
              <a:rPr i="1"/>
              <a:t>Global Burden of Disease</a:t>
            </a:r>
            <a:r>
              <a:rPr/>
              <a:t>.</a:t>
            </a:r>
          </a:p>
          <a:p>
            <a:pPr lvl="0"/>
            <a:r>
              <a:rPr/>
              <a:t>Résultat : recul net de la mortalité entre 2000 et 2015, mais persistance de fortes disparités infranationales ; certaines zones du Tchad, du Mali, du Nigeria restent à plus de 170 décès pour 1 000 naissances vivantes.</a:t>
            </a:r>
          </a:p>
          <a:p>
            <a:pPr lvl="0"/>
            <a:r>
              <a:rPr/>
              <a:t>Publié dans </a:t>
            </a:r>
            <a:r>
              <a:rPr i="1"/>
              <a:t>The Lancet</a:t>
            </a:r>
            <a:r>
              <a:rPr/>
              <a:t> ; premier auteur : Nick Golding.</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Golding et al. : la mortalité des moins de 5 ans, 2010 et 2015</a:t>
            </a:r>
          </a:p>
        </p:txBody>
      </p:sp>
      <p:pic>
        <p:nvPicPr>
          <p:cNvPr descr="images/golding_fig2.png" id="0" name="Picture 1"/>
          <p:cNvPicPr>
            <a:picLocks noGrp="1" noChangeAspect="1"/>
          </p:cNvPicPr>
          <p:nvPr/>
        </p:nvPicPr>
        <p:blipFill>
          <a:blip r:embed="rId2"/>
          <a:stretch>
            <a:fillRect/>
          </a:stretch>
        </p:blipFill>
        <p:spPr bwMode="auto">
          <a:xfrm>
            <a:off x="1879600" y="1193800"/>
            <a:ext cx="53975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Taux de mortalité des moins de 5 ans à la résolution de 5×5 km, 2010 et 2015. Source : Golding et al., </a:t>
            </a:r>
            <a:r>
              <a:rPr i="1"/>
              <a:t>The Lancet</a:t>
            </a:r>
            <a:r>
              <a:rPr/>
              <a:t>, 2017.</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Wakefield et al. (2021) : cartographier la couverture vaccinale rougeole</a:t>
            </a:r>
          </a:p>
        </p:txBody>
      </p:sp>
      <p:sp>
        <p:nvSpPr>
          <p:cNvPr id="3" name="Content Placeholder 2"/>
          <p:cNvSpPr>
            <a:spLocks noGrp="1"/>
          </p:cNvSpPr>
          <p:nvPr>
            <p:ph idx="1"/>
          </p:nvPr>
        </p:nvSpPr>
        <p:spPr/>
        <p:txBody>
          <a:bodyPr/>
          <a:lstStyle/>
          <a:p>
            <a:pPr lvl="0"/>
            <a:r>
              <a:rPr/>
              <a:t>Question : comment a évolué la couverture vaccinale contre la rougeole (première dose, MCV1) dans 101 pays à revenu faible ou intermédiaire entre 2000 et 2019, au niveau du district ?</a:t>
            </a:r>
          </a:p>
          <a:p>
            <a:pPr lvl="0"/>
            <a:r>
              <a:rPr/>
              <a:t>Méthode : modélisation géospatiale bayésienne à partir des enquêtes ménages, avec quantification de l’inégalité géographique infranationale (coefficient de Gini).</a:t>
            </a:r>
          </a:p>
          <a:p>
            <a:pPr lvl="0"/>
            <a:r>
              <a:rPr/>
              <a:t>Résultat : couverture mondiale passée de 65,6 % à 81,0 %, mais ralentissement net des progrès après 2010 et inégalités persistantes entre zones urbaines et rurales éloignées.</a:t>
            </a:r>
          </a:p>
          <a:p>
            <a:pPr lvl="0"/>
            <a:r>
              <a:rPr/>
              <a:t>Publié dans </a:t>
            </a:r>
            <a:r>
              <a:rPr i="1"/>
              <a:t>Nature</a:t>
            </a:r>
            <a:r>
              <a:rPr/>
              <a:t> ; recherche menée avec Jon Wakefield, statisticien spécialiste de la géostatistique bayésienne appliquée à la santé.</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Wakefield et al. : la couverture vaccinale MCV1, 2000-2019</a:t>
            </a:r>
          </a:p>
        </p:txBody>
      </p:sp>
      <p:pic>
        <p:nvPicPr>
          <p:cNvPr descr="images/wakefield_fig1.png" id="0" name="Picture 1"/>
          <p:cNvPicPr>
            <a:picLocks noGrp="1" noChangeAspect="1"/>
          </p:cNvPicPr>
          <p:nvPr/>
        </p:nvPicPr>
        <p:blipFill>
          <a:blip r:embed="rId2"/>
          <a:stretch>
            <a:fillRect/>
          </a:stretch>
        </p:blipFill>
        <p:spPr bwMode="auto">
          <a:xfrm>
            <a:off x="2997200" y="1193800"/>
            <a:ext cx="31496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Couverture vaccinale MCV1 estimée par district dans 101 pays, 2000, 2010 et 2019. Source : Wakefield et al., </a:t>
            </a:r>
            <a:r>
              <a:rPr i="1"/>
              <a:t>Nature</a:t>
            </a:r>
            <a:r>
              <a:rPr/>
              <a:t>, 2021.</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Modélisation géospatiale : synthèse</a:t>
            </a:r>
          </a:p>
        </p:txBody>
      </p:sp>
      <p:sp>
        <p:nvSpPr>
          <p:cNvPr id="3" name="Content Placeholder 2"/>
          <p:cNvSpPr>
            <a:spLocks noGrp="1"/>
          </p:cNvSpPr>
          <p:nvPr>
            <p:ph idx="1"/>
          </p:nvPr>
        </p:nvSpPr>
        <p:spPr/>
        <p:txBody>
          <a:bodyPr/>
          <a:lstStyle/>
          <a:p>
            <a:pPr lvl="0"/>
            <a:r>
              <a:rPr/>
              <a:t>On ne se contente plus de décrire (partie 1) ni d’expliquer une association (partie 2) : on </a:t>
            </a:r>
            <a:r>
              <a:rPr b="1"/>
              <a:t>prédit</a:t>
            </a:r>
            <a:r>
              <a:rPr/>
              <a:t> une valeur à un endroit non observé, avec une incertitude quantifiée.</a:t>
            </a:r>
          </a:p>
          <a:p>
            <a:pPr lvl="0"/>
            <a:r>
              <a:rPr/>
              <a:t>Les trois exemples partagent une architecture commune : covariables géospatiales → modèle statistique/bayésien → carte + carte d’incertitude → agrégation à l’échelle utile (district, pays).</a:t>
            </a:r>
          </a:p>
          <a:p>
            <a:pPr lvl="0"/>
            <a:r>
              <a:rPr/>
              <a:t>Cette approche est au cœur des cartes de population, de pauvreté ou de santé aujourd’hui utilisées par les agences des Nations Unies et les instituts nationaux de statistique.</a:t>
            </a:r>
          </a:p>
          <a:p>
            <a:pPr lvl="0"/>
            <a:r>
              <a:rPr/>
              <a:t>Prérequis : disponibilité de covariables géospatiales pertinentes, exactement le rôle que jouera ERA5 dans l’atelier de cet après-midi.</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Sources de données : modélisation géospatiale</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286000"/>
                <a:gridCol w="5943600"/>
              </a:tblGrid>
              <a:tr h="0">
                <a:tc>
                  <a:txBody>
                    <a:bodyPr/>
                    <a:lstStyle/>
                    <a:p>
                      <a:pPr lvl="0" indent="0" marL="0">
                        <a:buNone/>
                      </a:pPr>
                      <a:r>
                        <a:rPr/>
                        <a:t>Étude</a:t>
                      </a:r>
                    </a:p>
                  </a:txBody>
                  <a:tcPr/>
                </a:tc>
                <a:tc>
                  <a:txBody>
                    <a:bodyPr/>
                    <a:lstStyle/>
                    <a:p>
                      <a:pPr lvl="0" indent="0" marL="0">
                        <a:buNone/>
                      </a:pPr>
                      <a:r>
                        <a:rPr/>
                        <a:t>Source(s) de données</a:t>
                      </a:r>
                    </a:p>
                  </a:txBody>
                  <a:tcPr/>
                </a:tc>
              </a:tr>
              <a:tr h="0">
                <a:tc>
                  <a:txBody>
                    <a:bodyPr/>
                    <a:lstStyle/>
                    <a:p>
                      <a:pPr lvl="0" indent="0" marL="0">
                        <a:buNone/>
                      </a:pPr>
                      <a:r>
                        <a:rPr/>
                        <a:t>Ferreira et al. (2020)</a:t>
                      </a:r>
                    </a:p>
                  </a:txBody>
                </a:tc>
                <a:tc>
                  <a:txBody>
                    <a:bodyPr/>
                    <a:lstStyle/>
                    <a:p>
                      <a:pPr lvl="0" indent="0" marL="0">
                        <a:buNone/>
                      </a:pPr>
                      <a:r>
                        <a:rPr/>
                        <a:t>Revue de la littérature : enquêtes DHS/MICS combinées à des covariables géospatiales (climat, occupation du sol, accessibilité…)</a:t>
                      </a:r>
                    </a:p>
                  </a:txBody>
                </a:tc>
              </a:tr>
              <a:tr h="0">
                <a:tc>
                  <a:txBody>
                    <a:bodyPr/>
                    <a:lstStyle/>
                    <a:p>
                      <a:pPr lvl="0" indent="0" marL="0">
                        <a:buNone/>
                      </a:pPr>
                      <a:r>
                        <a:rPr/>
                        <a:t>Golding et al. (2017)</a:t>
                      </a:r>
                    </a:p>
                  </a:txBody>
                </a:tc>
                <a:tc>
                  <a:txBody>
                    <a:bodyPr/>
                    <a:lstStyle/>
                    <a:p>
                      <a:pPr lvl="0" indent="0" marL="0">
                        <a:buNone/>
                      </a:pPr>
                      <a:r>
                        <a:rPr/>
                        <a:t>Enquêtes DHS, UNICEF MICS et enquêtes nationales (histoires de naissances complètes et résumées) ; estimations nationales du </a:t>
                      </a:r>
                      <a:r>
                        <a:rPr i="1"/>
                        <a:t>Global Burden of Disease</a:t>
                      </a:r>
                    </a:p>
                  </a:txBody>
                </a:tc>
              </a:tr>
              <a:tr h="0">
                <a:tc>
                  <a:txBody>
                    <a:bodyPr/>
                    <a:lstStyle/>
                    <a:p>
                      <a:pPr lvl="0" indent="0" marL="0">
                        <a:buNone/>
                      </a:pPr>
                      <a:r>
                        <a:rPr/>
                        <a:t>Wakefield et al. (2021)</a:t>
                      </a:r>
                    </a:p>
                  </a:txBody>
                </a:tc>
                <a:tc>
                  <a:txBody>
                    <a:bodyPr/>
                    <a:lstStyle/>
                    <a:p>
                      <a:pPr lvl="0" indent="0" marL="0">
                        <a:buNone/>
                      </a:pPr>
                      <a:r>
                        <a:rPr/>
                        <a:t>354 enquêtes ménages DHS/MICS (</a:t>
                      </a:r>
                      <a:r>
                        <a:rPr i="1"/>
                        <a:t>Global Health Data Exchange</a:t>
                      </a:r>
                      <a:r>
                        <a:rPr/>
                        <a:t>) ; 26 covariables géospatiales (WorldPop, temps de trajet, urbain/rural…) ; formulaire conjoint OMS/UNICEF</a:t>
                      </a:r>
                    </a:p>
                  </a:txBody>
                </a:tc>
              </a:tr>
            </a:tbl>
          </a:graphicData>
        </a:graphic>
      </p:graphicFrame>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3. Les variables géospatiales comme proxy</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Quand la donnée sociale n’existe pas</a:t>
            </a:r>
          </a:p>
        </p:txBody>
      </p:sp>
      <p:sp>
        <p:nvSpPr>
          <p:cNvPr id="3" name="Content Placeholder 2"/>
          <p:cNvSpPr>
            <a:spLocks noGrp="1"/>
          </p:cNvSpPr>
          <p:nvPr>
            <p:ph idx="1"/>
          </p:nvPr>
        </p:nvSpPr>
        <p:spPr/>
        <p:txBody>
          <a:bodyPr/>
          <a:lstStyle/>
          <a:p>
            <a:pPr lvl="0"/>
            <a:r>
              <a:rPr/>
              <a:t>Certaines données sociales sont chères, lentes à produire, ou tout simplement absentes dans les pays à faibles ressources statistiques : revenu des ménages, richesse, population exacte.</a:t>
            </a:r>
          </a:p>
          <a:p>
            <a:pPr lvl="0"/>
            <a:r>
              <a:rPr/>
              <a:t>Une </a:t>
            </a:r>
            <a:r>
              <a:rPr b="1"/>
              <a:t>variable proxy</a:t>
            </a:r>
            <a:r>
              <a:rPr/>
              <a:t> est une donnée observable, souvent géospatiale ou numérique, utilisée comme substitut indirect à la variable d’intérêt réellement souhaitée.</a:t>
            </a:r>
          </a:p>
          <a:p>
            <a:pPr lvl="0"/>
            <a:r>
              <a:rPr/>
              <a:t>Différence avec la partie 2 : on ne cherche pas à </a:t>
            </a:r>
            <a:r>
              <a:rPr i="1"/>
              <a:t>expliquer</a:t>
            </a:r>
            <a:r>
              <a:rPr/>
              <a:t> le phénomène social, mais à l’</a:t>
            </a:r>
            <a:r>
              <a:rPr i="1"/>
              <a:t>approximer</a:t>
            </a:r>
            <a:r>
              <a:rPr/>
              <a:t> directement, souvent à l’aide de l’apprentissage automatique.</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Noor et al. (2008) : les lumières nocturnes, proxy de la pauvreté</a:t>
            </a:r>
          </a:p>
        </p:txBody>
      </p:sp>
      <p:sp>
        <p:nvSpPr>
          <p:cNvPr id="3" name="Content Placeholder 2"/>
          <p:cNvSpPr>
            <a:spLocks noGrp="1"/>
          </p:cNvSpPr>
          <p:nvPr>
            <p:ph idx="1"/>
          </p:nvPr>
        </p:nvSpPr>
        <p:spPr/>
        <p:txBody>
          <a:bodyPr/>
          <a:lstStyle/>
          <a:p>
            <a:pPr lvl="0"/>
            <a:r>
              <a:rPr/>
              <a:t>Question : la luminosité nocturne captée par satellite peut-elle servir de proxy à la pauvreté des ménages, à l’échelle infranationale, en Afrique ?</a:t>
            </a:r>
          </a:p>
          <a:p>
            <a:pPr lvl="0"/>
            <a:r>
              <a:rPr/>
              <a:t>Données : indices de richesse par actifs calculés à partir d’enquêtes DHS/MICS pour 338 unités administratives de niveau 1 dans 37 pays africains, comparés à la luminosité nocturne (imagerie DMSP, 2000).</a:t>
            </a:r>
          </a:p>
          <a:p>
            <a:pPr lvl="0"/>
            <a:r>
              <a:rPr/>
              <a:t>Résultat : la luminosité moyenne des lumières nocturnes est fortement corrélée à l’indice de richesse par actifs (corrélation de Pearson = 0,64 ; corrélation de rang de Spearman = 0,79), et distingue nettement les unités les plus pauvres des moins pauvres.</a:t>
            </a:r>
          </a:p>
          <a:p>
            <a:pPr lvl="0"/>
            <a:r>
              <a:rPr/>
              <a:t>Ici, une donnée déjà géographique, la lumière nocturne, devient un proxy direct de la richesse une fois agrégée par unité administrative.</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Noor et al. : classement de richesse observé et prédit par lumières nocturnes</a:t>
            </a:r>
          </a:p>
        </p:txBody>
      </p:sp>
      <p:pic>
        <p:nvPicPr>
          <p:cNvPr descr="images/noor_fig3.png" id="0" name="Picture 1"/>
          <p:cNvPicPr>
            <a:picLocks noGrp="1" noChangeAspect="1"/>
          </p:cNvPicPr>
          <p:nvPr/>
        </p:nvPicPr>
        <p:blipFill>
          <a:blip r:embed="rId2"/>
          <a:stretch>
            <a:fillRect/>
          </a:stretch>
        </p:blipFill>
        <p:spPr bwMode="auto">
          <a:xfrm>
            <a:off x="1435100" y="1193800"/>
            <a:ext cx="62738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Cartes des unités administratives de niveau 1 en Afrique comparant le classement de richesse selon l’indice par actifs et selon la luminosité moyenne des lumières nocturnes. Source : Noor, Alegana, Gething, Tatem &amp; Snow, </a:t>
            </a:r>
            <a:r>
              <a:rPr i="1"/>
              <a:t>Population Health Metrics</a:t>
            </a:r>
            <a:r>
              <a:rPr/>
              <a:t>, 2008.</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Blumenstock, Cadamuro &amp; On (2015) : la richesse dans les métadonnées du téléphone</a:t>
            </a:r>
          </a:p>
        </p:txBody>
      </p:sp>
      <p:sp>
        <p:nvSpPr>
          <p:cNvPr id="3" name="Content Placeholder 2"/>
          <p:cNvSpPr>
            <a:spLocks noGrp="1"/>
          </p:cNvSpPr>
          <p:nvPr>
            <p:ph idx="1"/>
          </p:nvPr>
        </p:nvSpPr>
        <p:spPr/>
        <p:txBody>
          <a:bodyPr/>
          <a:lstStyle/>
          <a:p>
            <a:pPr lvl="0"/>
            <a:r>
              <a:rPr/>
              <a:t>Question : peut-on estimer la richesse d’un ménage à partir des seules métadonnées d’utilisation du téléphone mobile (durée, fréquence, réseau de contacts, mobilité) ?</a:t>
            </a:r>
          </a:p>
          <a:p>
            <a:pPr lvl="0"/>
            <a:r>
              <a:rPr/>
              <a:t>Données : 1,5 million d’utilisateurs au Rwanda, dont un sous-échantillon interrogé par téléphone et comparé à une enquête démographique et de santé (DHS).</a:t>
            </a:r>
          </a:p>
          <a:p>
            <a:pPr lvl="0"/>
            <a:r>
              <a:rPr/>
              <a:t>Résultat : les prédictions de richesse par district, à partir des seules données d’opérateur, reproduisent fidèlement la carte de richesse issue de l’enquête DHS.</a:t>
            </a:r>
          </a:p>
          <a:p>
            <a:pPr lvl="0"/>
            <a:r>
              <a:rPr/>
              <a:t>Ici, les métadonnées de téléphonie, un objet a priori non géographique, deviennent un proxy de richesse une fois agrégées spatialement par district.</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Blumenstock et al. : richesse prédite et richesse observée au Rwanda</a:t>
            </a:r>
          </a:p>
        </p:txBody>
      </p:sp>
      <p:pic>
        <p:nvPicPr>
          <p:cNvPr descr="images/paste-6.png" id="0" name="Picture 1"/>
          <p:cNvPicPr>
            <a:picLocks noGrp="1" noChangeAspect="1"/>
          </p:cNvPicPr>
          <p:nvPr/>
        </p:nvPicPr>
        <p:blipFill>
          <a:blip r:embed="rId2"/>
          <a:stretch>
            <a:fillRect/>
          </a:stretch>
        </p:blipFill>
        <p:spPr bwMode="auto">
          <a:xfrm>
            <a:off x="3060700" y="1193800"/>
            <a:ext cx="30226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Source : Blumenstock, Cadamuro &amp; On, Science, 2015.</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Leasure et al. (2020) : cartographier la population avec des covariables géospatiales</a:t>
            </a:r>
          </a:p>
        </p:txBody>
      </p:sp>
      <p:sp>
        <p:nvSpPr>
          <p:cNvPr id="3" name="Content Placeholder 2"/>
          <p:cNvSpPr>
            <a:spLocks noGrp="1"/>
          </p:cNvSpPr>
          <p:nvPr>
            <p:ph idx="1"/>
          </p:nvPr>
        </p:nvSpPr>
        <p:spPr/>
        <p:txBody>
          <a:bodyPr/>
          <a:lstStyle/>
          <a:p>
            <a:pPr lvl="0"/>
            <a:r>
              <a:rPr/>
              <a:t>Question : comment estimer la population sur l’ensemble d’un pays quand les données d’enquête (micro-recensements) ne couvrent qu’un échantillon de lieux ?</a:t>
            </a:r>
          </a:p>
          <a:p>
            <a:pPr lvl="0"/>
            <a:r>
              <a:rPr/>
              <a:t>Méthode : modèle bayésien hiérarchique combinant les densités de population observées avec des covariables géospatiales prédictives (population estimée par satellite, densité d’écoles, taille des ménages) sur une grille de 100 m, appliqué au Nigeria.</a:t>
            </a:r>
          </a:p>
          <a:p>
            <a:pPr lvl="0"/>
            <a:r>
              <a:rPr/>
              <a:t>Ici, les covariables géospatiales servent de </a:t>
            </a:r>
            <a:r>
              <a:rPr b="1"/>
              <a:t>proxy prédictif</a:t>
            </a:r>
            <a:r>
              <a:rPr/>
              <a:t> de la densité de population là où aucune enquête n’a eu lieu.</a:t>
            </a:r>
          </a:p>
          <a:p>
            <a:pPr lvl="0"/>
            <a:r>
              <a:rPr/>
              <a:t>Résultat : population totale du Nigeria estimée à environ 180 millions d’habitants, avec un intervalle de crédibilité à 95 % pour chaque unité administrative.</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Leasure et al. : les sites de micro-recensement au Nigeria</a:t>
            </a:r>
          </a:p>
        </p:txBody>
      </p:sp>
      <p:pic>
        <p:nvPicPr>
          <p:cNvPr descr="images/leasure_fig1.png" id="0" name="Picture 1"/>
          <p:cNvPicPr>
            <a:picLocks noGrp="1" noChangeAspect="1"/>
          </p:cNvPicPr>
          <p:nvPr/>
        </p:nvPicPr>
        <p:blipFill>
          <a:blip r:embed="rId2"/>
          <a:stretch>
            <a:fillRect/>
          </a:stretch>
        </p:blipFill>
        <p:spPr bwMode="auto">
          <a:xfrm>
            <a:off x="1282700" y="1193800"/>
            <a:ext cx="65913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Localisation des enquêtes de micro-recensement, par nombre de sites par cellule de 20 km, Nigeria. Source : Leasure et al., </a:t>
            </a:r>
            <a:r>
              <a:rPr i="1"/>
              <a:t>PNAS</a:t>
            </a:r>
            <a:r>
              <a:rPr/>
              <a:t>, 2020.</a:t>
            </a: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Variables géospatiales proxy : synthèse</a:t>
            </a:r>
          </a:p>
        </p:txBody>
      </p:sp>
      <p:sp>
        <p:nvSpPr>
          <p:cNvPr id="3" name="Content Placeholder 2"/>
          <p:cNvSpPr>
            <a:spLocks noGrp="1"/>
          </p:cNvSpPr>
          <p:nvPr>
            <p:ph idx="1"/>
          </p:nvPr>
        </p:nvSpPr>
        <p:spPr/>
        <p:txBody>
          <a:bodyPr/>
          <a:lstStyle/>
          <a:p>
            <a:pPr lvl="0"/>
            <a:r>
              <a:rPr/>
              <a:t>Un proxy géospatial fonctionne quand il est </a:t>
            </a:r>
            <a:r>
              <a:rPr b="1"/>
              <a:t>corrélé</a:t>
            </a:r>
            <a:r>
              <a:rPr/>
              <a:t> à la variable sociale d’intérêt, sans nécessairement en être une cause : nightlights, métadonnées d’appel, texture d’image satellite.</a:t>
            </a:r>
          </a:p>
          <a:p>
            <a:pPr lvl="0"/>
            <a:r>
              <a:rPr/>
              <a:t>Risque principal : tout ce que le proxy ne capture pas reste invisible ; un ménage sans téléphone, une zone systématiquement nuageuse sur les images satellite, une population non comptée dans les enquêtes d’entraînement.</a:t>
            </a:r>
          </a:p>
          <a:p>
            <a:pPr lvl="0"/>
            <a:r>
              <a:rPr/>
              <a:t>Ces méthodes se généralisent grâce à l’apprentissage automatique, mais restent dépendantes de données d’enquête de référence pour être calibrées et validées.</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Sources de données : variables géospatiales proxy</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286000"/>
                <a:gridCol w="5943600"/>
              </a:tblGrid>
              <a:tr h="0">
                <a:tc>
                  <a:txBody>
                    <a:bodyPr/>
                    <a:lstStyle/>
                    <a:p>
                      <a:pPr lvl="0" indent="0" marL="0">
                        <a:buNone/>
                      </a:pPr>
                      <a:r>
                        <a:rPr/>
                        <a:t>Étude</a:t>
                      </a:r>
                    </a:p>
                  </a:txBody>
                  <a:tcPr/>
                </a:tc>
                <a:tc>
                  <a:txBody>
                    <a:bodyPr/>
                    <a:lstStyle/>
                    <a:p>
                      <a:pPr lvl="0" indent="0" marL="0">
                        <a:buNone/>
                      </a:pPr>
                      <a:r>
                        <a:rPr/>
                        <a:t>Source(s) de données</a:t>
                      </a:r>
                    </a:p>
                  </a:txBody>
                  <a:tcPr/>
                </a:tc>
              </a:tr>
              <a:tr h="0">
                <a:tc>
                  <a:txBody>
                    <a:bodyPr/>
                    <a:lstStyle/>
                    <a:p>
                      <a:pPr lvl="0" indent="0" marL="0">
                        <a:buNone/>
                      </a:pPr>
                      <a:r>
                        <a:rPr/>
                        <a:t>Noor et al. (2008)</a:t>
                      </a:r>
                    </a:p>
                  </a:txBody>
                </a:tc>
                <a:tc>
                  <a:txBody>
                    <a:bodyPr/>
                    <a:lstStyle/>
                    <a:p>
                      <a:pPr lvl="0" indent="0" marL="0">
                        <a:buNone/>
                      </a:pPr>
                      <a:r>
                        <a:rPr/>
                        <a:t>Enquêtes DHS/MICS (indices de richesse par actifs, 338 unités admin. 1, 37 pays) ; imagerie de lumières nocturnes DMSP (2000)</a:t>
                      </a:r>
                    </a:p>
                  </a:txBody>
                </a:tc>
              </a:tr>
              <a:tr h="0">
                <a:tc>
                  <a:txBody>
                    <a:bodyPr/>
                    <a:lstStyle/>
                    <a:p>
                      <a:pPr lvl="0" indent="0" marL="0">
                        <a:buNone/>
                      </a:pPr>
                      <a:r>
                        <a:rPr/>
                        <a:t>Blumenstock, Cadamuro &amp; On (2015)</a:t>
                      </a:r>
                    </a:p>
                  </a:txBody>
                </a:tc>
                <a:tc>
                  <a:txBody>
                    <a:bodyPr/>
                    <a:lstStyle/>
                    <a:p>
                      <a:pPr lvl="0" indent="0" marL="0">
                        <a:buNone/>
                      </a:pPr>
                      <a:r>
                        <a:rPr/>
                        <a:t>Métadonnées d’opérateur mobile (</a:t>
                      </a:r>
                      <a:r>
                        <a:rPr i="1"/>
                        <a:t>call detail records</a:t>
                      </a:r>
                      <a:r>
                        <a:rPr/>
                        <a:t>, Rwanda, 2009) ; enquête téléphonique de validation ; DHS 2010</a:t>
                      </a:r>
                    </a:p>
                  </a:txBody>
                </a:tc>
              </a:tr>
              <a:tr h="0">
                <a:tc>
                  <a:txBody>
                    <a:bodyPr/>
                    <a:lstStyle/>
                    <a:p>
                      <a:pPr lvl="0" indent="0" marL="0">
                        <a:buNone/>
                      </a:pPr>
                      <a:r>
                        <a:rPr/>
                        <a:t>Leasure et al. (2020)</a:t>
                      </a:r>
                    </a:p>
                  </a:txBody>
                </a:tc>
                <a:tc>
                  <a:txBody>
                    <a:bodyPr/>
                    <a:lstStyle/>
                    <a:p>
                      <a:pPr lvl="0" indent="0" marL="0">
                        <a:buNone/>
                      </a:pPr>
                      <a:r>
                        <a:rPr/>
                        <a:t>Micro-recensements de terrain (Nigeria) ; covariables géospatiales WorldPop (bâti, écoles, routes, lumières nocturnes)</a:t>
                      </a:r>
                    </a:p>
                  </a:txBody>
                </a:tc>
              </a:tr>
            </a:tbl>
          </a:graphicData>
        </a:graphic>
      </p:graphicFrame>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Synthèse générale : trois usages, une même donnée géospatiale</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057400"/>
                <a:gridCol w="2857500"/>
                <a:gridCol w="3314700"/>
              </a:tblGrid>
              <a:tr h="0">
                <a:tc>
                  <a:txBody>
                    <a:bodyPr/>
                    <a:lstStyle/>
                    <a:p>
                      <a:pPr lvl="0" indent="0" marL="0">
                        <a:buNone/>
                      </a:pPr>
                      <a:r>
                        <a:rPr/>
                        <a:t>Usage</a:t>
                      </a:r>
                    </a:p>
                  </a:txBody>
                  <a:tcPr/>
                </a:tc>
                <a:tc>
                  <a:txBody>
                    <a:bodyPr/>
                    <a:lstStyle/>
                    <a:p>
                      <a:pPr lvl="0" indent="0" marL="0">
                        <a:buNone/>
                      </a:pPr>
                      <a:r>
                        <a:rPr/>
                        <a:t>Question posée</a:t>
                      </a:r>
                    </a:p>
                  </a:txBody>
                  <a:tcPr/>
                </a:tc>
                <a:tc>
                  <a:txBody>
                    <a:bodyPr/>
                    <a:lstStyle/>
                    <a:p>
                      <a:pPr lvl="0" indent="0" marL="0">
                        <a:buNone/>
                      </a:pPr>
                      <a:r>
                        <a:rPr/>
                        <a:t>Exemples du jour</a:t>
                      </a:r>
                    </a:p>
                  </a:txBody>
                  <a:tcPr/>
                </a:tc>
              </a:tr>
              <a:tr h="0">
                <a:tc>
                  <a:txBody>
                    <a:bodyPr/>
                    <a:lstStyle/>
                    <a:p>
                      <a:pPr lvl="0" indent="0" marL="0">
                        <a:buNone/>
                      </a:pPr>
                      <a:r>
                        <a:rPr/>
                        <a:t>Variable explicative</a:t>
                      </a:r>
                    </a:p>
                  </a:txBody>
                </a:tc>
                <a:tc>
                  <a:txBody>
                    <a:bodyPr/>
                    <a:lstStyle/>
                    <a:p>
                      <a:pPr lvl="0" indent="0" marL="0">
                        <a:buNone/>
                      </a:pPr>
                      <a:r>
                        <a:rPr/>
                        <a:t>La donnée géospatiale explique-t-elle statistiquement un phénomène social ?</a:t>
                      </a:r>
                    </a:p>
                  </a:txBody>
                </a:tc>
                <a:tc>
                  <a:txBody>
                    <a:bodyPr/>
                    <a:lstStyle/>
                    <a:p>
                      <a:pPr lvl="0" indent="0" marL="0">
                        <a:buNone/>
                      </a:pPr>
                      <a:r>
                        <a:rPr/>
                        <a:t>Hendrix &amp; Salehyan ; Couttenier &amp; Soubeyran ; Abdel-Ghany et al. ; Darin et al.</a:t>
                      </a:r>
                    </a:p>
                  </a:txBody>
                </a:tc>
              </a:tr>
              <a:tr h="0">
                <a:tc>
                  <a:txBody>
                    <a:bodyPr/>
                    <a:lstStyle/>
                    <a:p>
                      <a:pPr lvl="0" indent="0" marL="0">
                        <a:buNone/>
                      </a:pPr>
                      <a:r>
                        <a:rPr/>
                        <a:t>Modélisation géospatiale</a:t>
                      </a:r>
                    </a:p>
                  </a:txBody>
                </a:tc>
                <a:tc>
                  <a:txBody>
                    <a:bodyPr/>
                    <a:lstStyle/>
                    <a:p>
                      <a:pPr lvl="0" indent="0" marL="0">
                        <a:buNone/>
                      </a:pPr>
                      <a:r>
                        <a:rPr/>
                        <a:t>Peut-on estimer un indicateur social là où il n’est pas mesuré ?</a:t>
                      </a:r>
                    </a:p>
                  </a:txBody>
                </a:tc>
                <a:tc>
                  <a:txBody>
                    <a:bodyPr/>
                    <a:lstStyle/>
                    <a:p>
                      <a:pPr lvl="0" indent="0" marL="0">
                        <a:buNone/>
                      </a:pPr>
                      <a:r>
                        <a:rPr/>
                        <a:t>Ferreira et al. ; Golding et al. ; Wakefield et al.</a:t>
                      </a:r>
                    </a:p>
                  </a:txBody>
                </a:tc>
              </a:tr>
              <a:tr h="0">
                <a:tc>
                  <a:txBody>
                    <a:bodyPr/>
                    <a:lstStyle/>
                    <a:p>
                      <a:pPr lvl="0" indent="0" marL="0">
                        <a:buNone/>
                      </a:pPr>
                      <a:r>
                        <a:rPr/>
                        <a:t>Variable proxy</a:t>
                      </a:r>
                    </a:p>
                  </a:txBody>
                </a:tc>
                <a:tc>
                  <a:txBody>
                    <a:bodyPr/>
                    <a:lstStyle/>
                    <a:p>
                      <a:pPr lvl="0" indent="0" marL="0">
                        <a:buNone/>
                      </a:pPr>
                      <a:r>
                        <a:rPr/>
                        <a:t>Peut-on approximer une donnée sociale absente par une donnée géospatiale disponible ?</a:t>
                      </a:r>
                    </a:p>
                  </a:txBody>
                </a:tc>
                <a:tc>
                  <a:txBody>
                    <a:bodyPr/>
                    <a:lstStyle/>
                    <a:p>
                      <a:pPr lvl="0" indent="0" marL="0">
                        <a:buNone/>
                      </a:pPr>
                      <a:r>
                        <a:rPr/>
                        <a:t>Noor et al. ; Blumenstock et al. ; Leasure et al.</a:t>
                      </a:r>
                    </a:p>
                  </a:txBody>
                </a:tc>
              </a:tr>
            </a:tbl>
          </a:graphicData>
        </a:graphic>
      </p:graphicFrame>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 la théorie à la pratique</a:t>
            </a:r>
          </a:p>
        </p:txBody>
      </p:sp>
      <p:sp>
        <p:nvSpPr>
          <p:cNvPr id="3" name="Content Placeholder 2"/>
          <p:cNvSpPr>
            <a:spLocks noGrp="1"/>
          </p:cNvSpPr>
          <p:nvPr>
            <p:ph idx="1"/>
          </p:nvPr>
        </p:nvSpPr>
        <p:spPr/>
        <p:txBody>
          <a:bodyPr/>
          <a:lstStyle/>
          <a:p>
            <a:pPr lvl="0"/>
            <a:r>
              <a:rPr/>
              <a:t>Les origines historiques (Snow, Booth, Du Bois) rappellent que cartographier reste, avant tout, un outil pour voir et convaincre.</a:t>
            </a:r>
          </a:p>
          <a:p>
            <a:pPr lvl="0"/>
            <a:r>
              <a:rPr/>
              <a:t>Les trois usages (explicatif, modélisation, proxy) ne s’excluent pas : un même jeu de données (ACLED, ERA5) peut servir tour à tour d’explication, d’objet à modéliser, ou de proxy.</a:t>
            </a:r>
          </a:p>
          <a:p>
            <a:pPr lvl="0"/>
            <a:r>
              <a:rPr/>
              <a:t>Dans l’atelier qui suit, ACLED est mobilisé comme au sens de la partie 2 (comprendre la dynamique des conflits), et ERA5 comme variable climatique explicative et à modéliser spatialement, les deux logiques vues aujourd’hui.</a:t>
            </a:r>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Cet après-midi</a:t>
            </a:r>
          </a:p>
        </p:txBody>
      </p:sp>
      <p:sp>
        <p:nvSpPr>
          <p:cNvPr id="3" name="Content Placeholder 2"/>
          <p:cNvSpPr>
            <a:spLocks noGrp="1"/>
          </p:cNvSpPr>
          <p:nvPr>
            <p:ph idx="1"/>
          </p:nvPr>
        </p:nvSpPr>
        <p:spPr/>
        <p:txBody>
          <a:bodyPr/>
          <a:lstStyle/>
          <a:p>
            <a:pPr lvl="0"/>
            <a:r>
              <a:rPr/>
              <a:t>Place à la pratique en R : trois ateliers pour manipuler des données géospatiales en sciences sociales.</a:t>
            </a:r>
          </a:p>
          <a:p>
            <a:pPr lvl="0"/>
            <a:r>
              <a:rPr/>
              <a:t>Premier atelier : ACLED, les conflits armés au Cameroun.</a:t>
            </a:r>
          </a:p>
          <a:p>
            <a:pPr lvl="0"/>
            <a:r>
              <a:rPr/>
              <a:t>Second atelier : ERA5, la température au Cameroun.</a:t>
            </a:r>
          </a:p>
          <a:p>
            <a:pPr lvl="0"/>
            <a:r>
              <a:rPr/>
              <a:t>Troisième atelier : estimation en petits domaines (Fay-Herriot), l’insécurité alimentaire par commune au Bénin.</a:t>
            </a:r>
          </a:p>
        </p:txBody>
      </p:sp>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Avant de commencer : le problème que résout le SAE</a:t>
            </a:r>
          </a:p>
        </p:txBody>
      </p:sp>
      <p:sp>
        <p:nvSpPr>
          <p:cNvPr id="3" name="Content Placeholder 2"/>
          <p:cNvSpPr>
            <a:spLocks noGrp="1"/>
          </p:cNvSpPr>
          <p:nvPr>
            <p:ph idx="1"/>
          </p:nvPr>
        </p:nvSpPr>
        <p:spPr/>
        <p:txBody>
          <a:bodyPr/>
          <a:lstStyle/>
          <a:p>
            <a:pPr lvl="0"/>
            <a:r>
              <a:rPr/>
              <a:t>Une enquête nationale (EDS, EHCVM…) est dimensionnée pour être représentative au niveau national, et parfois régional - mais rarement à un niveau administratif plus fin (commune, district).</a:t>
            </a:r>
          </a:p>
          <a:p>
            <a:pPr lvl="0"/>
            <a:r>
              <a:rPr/>
              <a:t>En dessous de ce niveau, l’échantillon dans chaque domaine devient petit : l’estimation directe (la simple proportion observée) devient très bruitée, parfois même impossible à calculer (un seul cluster enquêté, par exemple).</a:t>
            </a:r>
          </a:p>
          <a:p>
            <a:pPr lvl="0"/>
            <a:r>
              <a:rPr/>
              <a:t>Or c’est justement à cette échelle fine que les politiques publiques ont besoin de chiffres : cibler une intervention, allouer un budget, prioriser une zone - une moyenne nationale ou régionale ne suffit pas.</a:t>
            </a:r>
          </a:p>
          <a:p>
            <a:pPr lvl="0"/>
            <a:r>
              <a:rPr/>
              <a:t>« Petit domaine » (</a:t>
            </a:r>
            <a:r>
              <a:rPr i="1"/>
              <a:t>small area</a:t>
            </a:r>
            <a:r>
              <a:rPr/>
              <a:t>) fait référence à la taille de l’ÉCHANTILLON dans le domaine, pas à sa taille géographique - un piège classique à éviter, qui reviendra à l’atelier 3.</a:t>
            </a:r>
          </a:p>
          <a:p>
            <a:pPr lvl="0"/>
            <a:r>
              <a:rPr/>
              <a:t>Vous avez déjà vu ce problème ce matin, sans le nom : c’est exactement ce que résolvaient Golding et al. et Wakefield et al. avec la modélisation géospatiale.</a:t>
            </a:r>
          </a:p>
        </p:txBody>
      </p:sp>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 principe : emprunter de la force à un modèle</a:t>
            </a:r>
          </a:p>
        </p:txBody>
      </p:sp>
      <p:sp>
        <p:nvSpPr>
          <p:cNvPr id="3" name="Content Placeholder 2"/>
          <p:cNvSpPr>
            <a:spLocks noGrp="1"/>
          </p:cNvSpPr>
          <p:nvPr>
            <p:ph idx="1"/>
          </p:nvPr>
        </p:nvSpPr>
        <p:spPr/>
        <p:txBody>
          <a:bodyPr/>
          <a:lstStyle/>
          <a:p>
            <a:pPr lvl="0"/>
            <a:r>
              <a:rPr/>
              <a:t>L’estimation en petits domaines (SAE) combine deux sources d’information plutôt qu’une seule :</a:t>
            </a:r>
          </a:p>
          <a:p>
            <a:pPr lvl="1"/>
            <a:r>
              <a:rPr/>
              <a:t>l’estimation directe du domaine (bruitée, mais sans biais) ;</a:t>
            </a:r>
          </a:p>
          <a:p>
            <a:pPr lvl="1"/>
            <a:r>
              <a:rPr/>
              <a:t>une prédiction tirée d’un modèle ajusté sur TOUS les domaines à partir d’une covariable connue partout (recensement, imagerie satellite…).</a:t>
            </a:r>
          </a:p>
          <a:p>
            <a:pPr lvl="0"/>
            <a:r>
              <a:rPr/>
              <a:t>Le résultat (l’EBLUP) est une moyenne pondérée des deux : plus un domaine est mal échantillonné, plus son estimation est tirée vers la prédiction du modèle - les domaines bien échantillonnés changent peu.</a:t>
            </a:r>
          </a:p>
          <a:p>
            <a:pPr lvl="0"/>
            <a:r>
              <a:rPr/>
              <a:t>Deux bénéfices distincts à ne pas confondre : gagner en </a:t>
            </a:r>
            <a:r>
              <a:rPr b="1"/>
              <a:t>précision</a:t>
            </a:r>
            <a:r>
              <a:rPr/>
              <a:t> (un chiffre plus fiable, au même niveau géographique) et, si la covariable est connue à une résolution plus fine que l’enquête, gagner en </a:t>
            </a:r>
            <a:r>
              <a:rPr b="1"/>
              <a:t>résolution</a:t>
            </a:r>
            <a:r>
              <a:rPr/>
              <a:t> (une carte plus détaillée que l’enquête elle-même).</a:t>
            </a:r>
          </a:p>
          <a:p>
            <a:pPr lvl="0"/>
            <a:r>
              <a:rPr/>
              <a:t>C’est ce second point, souvent oublié, que l’atelier 3 de cet après-midi illustrera concrètement : passer d’une estimation par commune à une carte à 3 km.</a:t>
            </a:r>
          </a:p>
        </p:txBody>
      </p:sp>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Atelier R Exercice 1 : ACLED, conflits armés au Cameroun</a:t>
            </a:r>
          </a:p>
        </p:txBody>
      </p:sp>
      <p:sp>
        <p:nvSpPr>
          <p:cNvPr id="3" name="Content Placeholder 2"/>
          <p:cNvSpPr>
            <a:spLocks noGrp="1"/>
          </p:cNvSpPr>
          <p:nvPr>
            <p:ph idx="1"/>
          </p:nvPr>
        </p:nvSpPr>
        <p:spPr/>
        <p:txBody>
          <a:bodyPr/>
          <a:lstStyle/>
          <a:p>
            <a:pPr lvl="0" indent="0" marL="0">
              <a:buNone/>
            </a:pPr>
            <a:r>
              <a:rPr/>
              <a:t>ACLED : </a:t>
            </a:r>
            <a:r>
              <a:rPr i="1"/>
              <a:t>Armed Conflict Location &amp; Event Data Project</a:t>
            </a:r>
            <a:r>
              <a:rPr/>
              <a:t>, base de données mondiale des événements de conflit armé (accès gratuit sur </a:t>
            </a:r>
            <a:r>
              <a:rPr>
                <a:hlinkClick r:id="rId2"/>
              </a:rPr>
              <a:t>acleddata.com</a:t>
            </a:r>
            <a:r>
              <a:rPr/>
              <a:t>).</a:t>
            </a:r>
          </a:p>
          <a:p>
            <a:pPr lvl="0"/>
            <a:r>
              <a:rPr/>
              <a:t>Charger l’export ACLED (CSV) et explorer sa structure (dimensions, colonnes, années disponibles).</a:t>
            </a:r>
          </a:p>
          <a:p>
            <a:pPr lvl="0"/>
            <a:r>
              <a:rPr/>
              <a:t>Résumer les événements par type et par région, et visualiser leur évolution annuelle.</a:t>
            </a:r>
          </a:p>
          <a:p>
            <a:pPr lvl="0"/>
            <a:r>
              <a:rPr/>
              <a:t>Calculer et représenter les décès annuels liés aux conflits.</a:t>
            </a:r>
          </a:p>
          <a:p>
            <a:pPr lvl="0"/>
            <a:r>
              <a:rPr/>
              <a:t>Convertir les événements en couche sf et les cartographier avec tmap.</a:t>
            </a:r>
          </a:p>
          <a:p>
            <a:pPr lvl="0"/>
            <a:r>
              <a:rPr/>
              <a:t>Agréger les événements par région (jointure spatiale) et produire une carte choroplèthe.</a:t>
            </a:r>
          </a:p>
        </p:txBody>
      </p:sp>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Atelier R Exercice 1 : les données ACLED</a:t>
            </a:r>
          </a:p>
        </p:txBody>
      </p:sp>
      <p:sp>
        <p:nvSpPr>
          <p:cNvPr id="3" name="Content Placeholder 2"/>
          <p:cNvSpPr>
            <a:spLocks noGrp="1"/>
          </p:cNvSpPr>
          <p:nvPr>
            <p:ph idx="1"/>
          </p:nvPr>
        </p:nvSpPr>
        <p:spPr/>
        <p:txBody>
          <a:bodyPr/>
          <a:lstStyle/>
          <a:p>
            <a:pPr lvl="0"/>
            <a:r>
              <a:rPr/>
              <a:t>Types d’événements : </a:t>
            </a:r>
            <a:r>
              <a:rPr i="1"/>
              <a:t>Battles</a:t>
            </a:r>
            <a:r>
              <a:rPr/>
              <a:t>, </a:t>
            </a:r>
            <a:r>
              <a:rPr i="1"/>
              <a:t>Explosions/Remote violence</a:t>
            </a:r>
            <a:r>
              <a:rPr/>
              <a:t>, </a:t>
            </a:r>
            <a:r>
              <a:rPr i="1"/>
              <a:t>Violence against civilians</a:t>
            </a:r>
            <a:r>
              <a:rPr/>
              <a:t>, </a:t>
            </a:r>
            <a:r>
              <a:rPr i="1"/>
              <a:t>Riots</a:t>
            </a:r>
            <a:r>
              <a:rPr/>
              <a:t>, </a:t>
            </a:r>
            <a:r>
              <a:rPr i="1"/>
              <a:t>Protests</a:t>
            </a:r>
            <a:r>
              <a:rPr/>
              <a:t>, </a:t>
            </a:r>
            <a:r>
              <a:rPr i="1"/>
              <a:t>Strategic developments</a:t>
            </a:r>
            <a:r>
              <a:rPr/>
              <a:t>.</a:t>
            </a:r>
          </a:p>
          <a:p>
            <a:pPr lvl="0"/>
            <a:r>
              <a:rPr/>
              <a:t>Colonnes clés du tableau : </a:t>
            </a:r>
            <a:r>
              <a:rPr>
                <a:latin typeface="Courier"/>
              </a:rPr>
              <a:t>event_date</a:t>
            </a:r>
            <a:r>
              <a:rPr/>
              <a:t> (date), </a:t>
            </a:r>
            <a:r>
              <a:rPr>
                <a:latin typeface="Courier"/>
              </a:rPr>
              <a:t>event_type</a:t>
            </a:r>
            <a:r>
              <a:rPr/>
              <a:t> / </a:t>
            </a:r>
            <a:r>
              <a:rPr>
                <a:latin typeface="Courier"/>
              </a:rPr>
              <a:t>sub_event_type</a:t>
            </a:r>
            <a:r>
              <a:rPr/>
              <a:t> (type), </a:t>
            </a:r>
            <a:r>
              <a:rPr>
                <a:latin typeface="Courier"/>
              </a:rPr>
              <a:t>actor1</a:t>
            </a:r>
            <a:r>
              <a:rPr/>
              <a:t> / </a:t>
            </a:r>
            <a:r>
              <a:rPr>
                <a:latin typeface="Courier"/>
              </a:rPr>
              <a:t>actor2</a:t>
            </a:r>
            <a:r>
              <a:rPr/>
              <a:t> (acteurs), </a:t>
            </a:r>
            <a:r>
              <a:rPr>
                <a:latin typeface="Courier"/>
              </a:rPr>
              <a:t>admin1</a:t>
            </a:r>
            <a:r>
              <a:rPr/>
              <a:t> (région), </a:t>
            </a:r>
            <a:r>
              <a:rPr>
                <a:latin typeface="Courier"/>
              </a:rPr>
              <a:t>admin2</a:t>
            </a:r>
            <a:r>
              <a:rPr/>
              <a:t> (département), </a:t>
            </a:r>
            <a:r>
              <a:rPr>
                <a:latin typeface="Courier"/>
              </a:rPr>
              <a:t>location</a:t>
            </a:r>
            <a:r>
              <a:rPr/>
              <a:t>, </a:t>
            </a:r>
            <a:r>
              <a:rPr>
                <a:latin typeface="Courier"/>
              </a:rPr>
              <a:t>latitude</a:t>
            </a:r>
            <a:r>
              <a:rPr/>
              <a:t> / </a:t>
            </a:r>
            <a:r>
              <a:rPr>
                <a:latin typeface="Courier"/>
              </a:rPr>
              <a:t>longitude</a:t>
            </a:r>
            <a:r>
              <a:rPr/>
              <a:t>, </a:t>
            </a:r>
            <a:r>
              <a:rPr>
                <a:latin typeface="Courier"/>
              </a:rPr>
              <a:t>fatalities</a:t>
            </a:r>
            <a:r>
              <a:rPr/>
              <a:t> (décès).</a:t>
            </a:r>
          </a:p>
          <a:p>
            <a:pPr lvl="0"/>
            <a:r>
              <a:rPr/>
              <a:t>Accès : compte gratuit sur </a:t>
            </a:r>
            <a:r>
              <a:rPr>
                <a:hlinkClick r:id="rId2"/>
              </a:rPr>
              <a:t>developer.acleddata.com</a:t>
            </a:r>
            <a:r>
              <a:rPr/>
              <a:t>, export en CSV via ACLED Explorer, ou appel direct de l’API depuis R avec le package </a:t>
            </a:r>
            <a:r>
              <a:rPr>
                <a:latin typeface="Courier"/>
              </a:rPr>
              <a:t>acledR</a:t>
            </a:r>
            <a:r>
              <a:rPr/>
              <a:t>.</a:t>
            </a:r>
          </a:p>
          <a:p>
            <a:pPr lvl="0"/>
            <a:r>
              <a:rPr/>
              <a:t>Bonne pratique : les identifiants API se stockent dans un fichier </a:t>
            </a:r>
            <a:r>
              <a:rPr>
                <a:latin typeface="Courier"/>
              </a:rPr>
              <a:t>.env</a:t>
            </a:r>
            <a:r>
              <a:rPr/>
              <a:t> local, jamais directement dans un script partagé.</a:t>
            </a:r>
          </a:p>
          <a:p>
            <a:pPr lvl="0"/>
            <a:r>
              <a:rPr/>
              <a:t>Script complet d’appel API (authentification </a:t>
            </a:r>
            <a:r>
              <a:rPr>
                <a:latin typeface="Courier"/>
              </a:rPr>
              <a:t>.env</a:t>
            </a:r>
            <a:r>
              <a:rPr/>
              <a:t>, repli sur CSV local) : </a:t>
            </a:r>
            <a:r>
              <a:rPr>
                <a:latin typeface="Courier"/>
              </a:rPr>
              <a:t>scripts_formateurs/jour_09_formateur_acled_api.R</a:t>
            </a:r>
            <a:r>
              <a:rPr/>
              <a:t>.</a:t>
            </a:r>
          </a:p>
        </p:txBody>
      </p:sp>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Atelier R Exercice 1 : fonctions clés</a:t>
            </a:r>
          </a:p>
        </p:txBody>
      </p:sp>
      <p:sp>
        <p:nvSpPr>
          <p:cNvPr id="3" name="Content Placeholder 2"/>
          <p:cNvSpPr>
            <a:spLocks noGrp="1"/>
          </p:cNvSpPr>
          <p:nvPr>
            <p:ph idx="1"/>
          </p:nvPr>
        </p:nvSpPr>
        <p:spPr/>
        <p:txBody>
          <a:bodyPr/>
          <a:lstStyle/>
          <a:p>
            <a:pPr lvl="0"/>
            <a:r>
              <a:rPr>
                <a:latin typeface="Courier"/>
              </a:rPr>
              <a:t>read_csv()</a:t>
            </a:r>
            <a:r>
              <a:rPr/>
              <a:t> : charger l’export ACLED (fichier CSV) comme data frame.</a:t>
            </a:r>
          </a:p>
          <a:p>
            <a:pPr lvl="0"/>
            <a:r>
              <a:rPr>
                <a:latin typeface="Courier"/>
              </a:rPr>
              <a:t>count()</a:t>
            </a:r>
            <a:r>
              <a:rPr/>
              <a:t> ou </a:t>
            </a:r>
            <a:r>
              <a:rPr>
                <a:latin typeface="Courier"/>
              </a:rPr>
              <a:t>group_by() + summarise()</a:t>
            </a:r>
            <a:r>
              <a:rPr/>
              <a:t> : compter les événements par type, par région ou par année.</a:t>
            </a:r>
          </a:p>
          <a:p>
            <a:pPr lvl="0"/>
            <a:r>
              <a:rPr>
                <a:latin typeface="Courier"/>
              </a:rPr>
              <a:t>st_as_sf(coords = c("longitude", "latitude"))</a:t>
            </a:r>
            <a:r>
              <a:rPr/>
              <a:t> : transformer le tableau en couche spatiale, à partir des deux colonnes de coordonnées.</a:t>
            </a:r>
          </a:p>
          <a:p>
            <a:pPr lvl="0"/>
            <a:r>
              <a:rPr>
                <a:latin typeface="Courier"/>
              </a:rPr>
              <a:t>tm_shape() + tm_dots()</a:t>
            </a:r>
            <a:r>
              <a:rPr/>
              <a:t> : afficher les événements comme des points sur une carte ; </a:t>
            </a:r>
            <a:r>
              <a:rPr>
                <a:latin typeface="Courier"/>
              </a:rPr>
              <a:t>tm_shape() + tm_polygons()</a:t>
            </a:r>
            <a:r>
              <a:rPr/>
              <a:t> pour une carte choroplèthe par région.</a:t>
            </a:r>
          </a:p>
          <a:p>
            <a:pPr lvl="0"/>
            <a:r>
              <a:rPr>
                <a:latin typeface="Courier"/>
              </a:rPr>
              <a:t>st_join()</a:t>
            </a:r>
            <a:r>
              <a:rPr/>
              <a:t> : associer chaque événement à la région administrative dans laquelle il se trouve (jointure spatiale).</a:t>
            </a:r>
          </a:p>
          <a:p>
            <a:pPr lvl="0"/>
            <a:r>
              <a:rPr>
                <a:latin typeface="Courier"/>
              </a:rPr>
              <a:t>acledR::acled_api()</a:t>
            </a:r>
            <a:r>
              <a:rPr/>
              <a:t> : appeler directement l’API ACLED depuis R, en alternative au fichier CSV déjà téléchargé.</a:t>
            </a:r>
          </a:p>
        </p:txBody>
      </p:sp>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Atelier R Exercice 2 : ERA5, température au Cameroun</a:t>
            </a:r>
          </a:p>
        </p:txBody>
      </p:sp>
      <p:sp>
        <p:nvSpPr>
          <p:cNvPr id="3" name="Content Placeholder 2"/>
          <p:cNvSpPr>
            <a:spLocks noGrp="1"/>
          </p:cNvSpPr>
          <p:nvPr>
            <p:ph idx="1"/>
          </p:nvPr>
        </p:nvSpPr>
        <p:spPr/>
        <p:txBody>
          <a:bodyPr/>
          <a:lstStyle/>
          <a:p>
            <a:pPr lvl="0" indent="0" marL="0">
              <a:buNone/>
            </a:pPr>
            <a:r>
              <a:rPr/>
              <a:t>ERA5 : réanalyse atmosphérique de l’ECMWF, accessible via le Copernicus Climate Data Store (résolution ~31 km, 1940 à aujourd’hui).</a:t>
            </a:r>
          </a:p>
          <a:p>
            <a:pPr lvl="0"/>
            <a:r>
              <a:rPr/>
              <a:t>Lire un fichier NetCDF ERA5 avec terra et explorer sa structure temporelle.</a:t>
            </a:r>
          </a:p>
          <a:p>
            <a:pPr lvl="0"/>
            <a:r>
              <a:rPr/>
              <a:t>Convertir les températures de Kelvin en Celsius et découper le raster sur le Cameroun.</a:t>
            </a:r>
          </a:p>
          <a:p>
            <a:pPr lvl="0"/>
            <a:r>
              <a:rPr/>
              <a:t>Extraire la température moyenne par région avec exactextractr.</a:t>
            </a:r>
          </a:p>
          <a:p>
            <a:pPr lvl="0"/>
            <a:r>
              <a:rPr/>
              <a:t>Visualiser la série temporelle nationale, la saisonnalité mensuelle et une carte d’anomalie.</a:t>
            </a:r>
          </a:p>
        </p:txBody>
      </p:sp>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Atelier R Exercice 2 : les données ERA5</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a:r>
                  <a:rPr/>
                  <a:t>Produit utilisé : </a:t>
                </a:r>
                <a:r>
                  <a:rPr i="1"/>
                  <a:t>ERA5 Single Levels Monthly Means</a:t>
                </a:r>
                <a:r>
                  <a:rPr/>
                  <a:t>, variable </a:t>
                </a:r>
                <a:r>
                  <a:rPr>
                    <a:latin typeface="Courier"/>
                  </a:rPr>
                  <a:t>2m_temperature</a:t>
                </a:r>
                <a:r>
                  <a:rPr/>
                  <a:t> (température à 2 m du sol, moyenne mensuelle).</a:t>
                </a:r>
              </a:p>
              <a:p>
                <a:pPr lvl="0"/>
                <a:r>
                  <a:rPr/>
                  <a:t>Format </a:t>
                </a:r>
                <a:r>
                  <a:rPr b="1"/>
                  <a:t>NetCDF</a:t>
                </a:r>
                <a:r>
                  <a:rPr/>
                  <a:t> : un seul fichier contient plusieurs couches (une par mois), organisées selon trois dimensions : longitude, latitude et temps.</a:t>
                </a:r>
              </a:p>
              <a:p>
                <a:pPr lvl="0"/>
                <a:r>
                  <a:rPr/>
                  <a:t>Les températures sont fournies en Kelvin : il faut toujours convertir en Celsius avant de les interpréter (</a:t>
                </a:r>
                <a14:m>
                  <m:oMath xmlns:m="http://schemas.openxmlformats.org/officeDocument/2006/math">
                    <m:sSub>
                      <m:e>
                        <m:r>
                          <m:t>T</m:t>
                        </m:r>
                      </m:e>
                      <m:sub>
                        <m:r>
                          <m:rPr>
                            <m:sty m:val="p"/>
                          </m:rPr>
                          <m:t>°</m:t>
                        </m:r>
                        <m:r>
                          <m:t>C</m:t>
                        </m:r>
                      </m:sub>
                    </m:sSub>
                    <m:r>
                      <m:rPr>
                        <m:sty m:val="p"/>
                      </m:rPr>
                      <m:t>=</m:t>
                    </m:r>
                    <m:sSub>
                      <m:e>
                        <m:r>
                          <m:t>T</m:t>
                        </m:r>
                      </m:e>
                      <m:sub>
                        <m:r>
                          <m:t>K</m:t>
                        </m:r>
                      </m:sub>
                    </m:sSub>
                    <m:r>
                      <m:rPr>
                        <m:sty m:val="p"/>
                      </m:rPr>
                      <m:t>−</m:t>
                    </m:r>
                    <m:r>
                      <m:t>273</m:t>
                    </m:r>
                    <m:r>
                      <m:rPr>
                        <m:sty m:val="p"/>
                      </m:rPr>
                      <m:t>,</m:t>
                    </m:r>
                    <m:r>
                      <m:t>15</m:t>
                    </m:r>
                  </m:oMath>
                </a14:m>
                <a:r>
                  <a:rPr/>
                  <a:t>).</a:t>
                </a:r>
              </a:p>
              <a:p>
                <a:pPr lvl="0"/>
                <a:r>
                  <a:rPr/>
                  <a:t>Accès : compte gratuit sur </a:t>
                </a:r>
                <a:r>
                  <a:rPr>
                    <a:hlinkClick r:id="rId2"/>
                  </a:rPr>
                  <a:t>cds.climate.copernicus.eu</a:t>
                </a:r>
                <a:r>
                  <a:rPr/>
                  <a:t> ; identifiants (UID + clé API) stockés dans </a:t>
                </a:r>
                <a:r>
                  <a:rPr>
                    <a:latin typeface="Courier"/>
                  </a:rPr>
                  <a:t>.env</a:t>
                </a:r>
                <a:r>
                  <a:rPr/>
                  <a:t> ; requêtes envoyées depuis R avec le package </a:t>
                </a:r>
                <a:r>
                  <a:rPr>
                    <a:latin typeface="Courier"/>
                  </a:rPr>
                  <a:t>ecmwfr</a:t>
                </a:r>
                <a:r>
                  <a:rPr/>
                  <a:t>.</a:t>
                </a:r>
              </a:p>
              <a:p>
                <a:pPr lvl="0"/>
                <a:r>
                  <a:rPr/>
                  <a:t>Script complet d’appel API (authentification </a:t>
                </a:r>
                <a:r>
                  <a:rPr>
                    <a:latin typeface="Courier"/>
                  </a:rPr>
                  <a:t>.env</a:t>
                </a:r>
                <a:r>
                  <a:rPr/>
                  <a:t>, repli sur NetCDF local) : </a:t>
                </a:r>
                <a:r>
                  <a:rPr>
                    <a:latin typeface="Courier"/>
                  </a:rPr>
                  <a:t>scripts_formateurs/jour_09_formateur_ecmwf_api.R</a:t>
                </a:r>
                <a:r>
                  <a:rPr/>
                  <a:t>.</a:t>
                </a:r>
              </a:p>
            </p:txBody>
          </p:sp>
        </mc:Choice>
      </mc:AlternateContent>
    </p:spTree>
  </p:cSl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Atelier R Exercice 2 : fonctions clés</a:t>
            </a:r>
          </a:p>
        </p:txBody>
      </p:sp>
      <p:sp>
        <p:nvSpPr>
          <p:cNvPr id="3" name="Content Placeholder 2"/>
          <p:cNvSpPr>
            <a:spLocks noGrp="1"/>
          </p:cNvSpPr>
          <p:nvPr>
            <p:ph idx="1"/>
          </p:nvPr>
        </p:nvSpPr>
        <p:spPr/>
        <p:txBody>
          <a:bodyPr/>
          <a:lstStyle/>
          <a:p>
            <a:pPr lvl="0"/>
            <a:r>
              <a:rPr>
                <a:latin typeface="Courier"/>
              </a:rPr>
              <a:t>rast()</a:t>
            </a:r>
            <a:r>
              <a:rPr/>
              <a:t> : lire le fichier NetCDF avec terra, qui charge automatiquement toutes les couches (tous les mois).</a:t>
            </a:r>
          </a:p>
          <a:p>
            <a:pPr lvl="0"/>
            <a:r>
              <a:rPr>
                <a:latin typeface="Courier"/>
              </a:rPr>
              <a:t>nlyr()</a:t>
            </a:r>
            <a:r>
              <a:rPr/>
              <a:t>, </a:t>
            </a:r>
            <a:r>
              <a:rPr>
                <a:latin typeface="Courier"/>
              </a:rPr>
              <a:t>res()</a:t>
            </a:r>
            <a:r>
              <a:rPr/>
              <a:t>, </a:t>
            </a:r>
            <a:r>
              <a:rPr>
                <a:latin typeface="Courier"/>
              </a:rPr>
              <a:t>time()</a:t>
            </a:r>
            <a:r>
              <a:rPr/>
              <a:t> : consulter respectivement le nombre de couches, la résolution spatiale et les dates de chaque couche.</a:t>
            </a:r>
          </a:p>
          <a:p>
            <a:pPr lvl="0"/>
            <a:r>
              <a:rPr>
                <a:latin typeface="Courier"/>
              </a:rPr>
              <a:t>crop()</a:t>
            </a:r>
            <a:r>
              <a:rPr/>
              <a:t> puis </a:t>
            </a:r>
            <a:r>
              <a:rPr>
                <a:latin typeface="Courier"/>
              </a:rPr>
              <a:t>mask()</a:t>
            </a:r>
            <a:r>
              <a:rPr/>
              <a:t> : découper le raster sur le contour du Cameroun.</a:t>
            </a:r>
          </a:p>
          <a:p>
            <a:pPr lvl="0"/>
            <a:r>
              <a:rPr>
                <a:latin typeface="Courier"/>
              </a:rPr>
              <a:t>exact_extract(..., "mean")</a:t>
            </a:r>
            <a:r>
              <a:rPr/>
              <a:t> : calculer la température moyenne par région, pour chaque couche (chaque mois) en une seule commande.</a:t>
            </a:r>
          </a:p>
          <a:p>
            <a:pPr lvl="0"/>
            <a:r>
              <a:rPr>
                <a:latin typeface="Courier"/>
              </a:rPr>
              <a:t>pivot_longer()</a:t>
            </a:r>
            <a:r>
              <a:rPr/>
              <a:t> : réorganiser un tableau où chaque mois est une colonne en un tableau où chaque ligne est une combinaison région-mois, plus facile à représenter avec ggplot2.</a:t>
            </a:r>
          </a:p>
          <a:p>
            <a:pPr lvl="0"/>
            <a:r>
              <a:rPr>
                <a:latin typeface="Courier"/>
              </a:rPr>
              <a:t>ecmwfr::wf_request()</a:t>
            </a:r>
            <a:r>
              <a:rPr/>
              <a:t> : soumettre une requête à l’API Copernicus CDS et télécharger le résultat, en alternative à un fichier NetCDF déjà présent localement.</a:t>
            </a:r>
          </a:p>
        </p:txBody>
      </p:sp>
    </p:spTree>
  </p:cSl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Atelier R Exercice 3 : petits domaines, de l’estimation directe à l’estimation lissée</a:t>
            </a:r>
          </a:p>
        </p:txBody>
      </p:sp>
      <p:sp>
        <p:nvSpPr>
          <p:cNvPr id="3" name="Content Placeholder 2"/>
          <p:cNvSpPr>
            <a:spLocks noGrp="1"/>
          </p:cNvSpPr>
          <p:nvPr>
            <p:ph idx="1"/>
          </p:nvPr>
        </p:nvSpPr>
        <p:spPr/>
        <p:txBody>
          <a:bodyPr/>
          <a:lstStyle/>
          <a:p>
            <a:pPr lvl="0"/>
            <a:r>
              <a:rPr/>
              <a:t>Une enquête nationale (EHCVM) donne une estimation fiable au niveau national, mais très bruitée dans les communes où peu de ménages ont été enquêtés.</a:t>
            </a:r>
          </a:p>
          <a:p>
            <a:pPr lvl="0"/>
            <a:r>
              <a:rPr/>
              <a:t>L’estimation en petits domaines (</a:t>
            </a:r>
            <a:r>
              <a:rPr i="1"/>
              <a:t>Small Area Estimation</a:t>
            </a:r>
            <a:r>
              <a:rPr/>
              <a:t>, SAE) « emprunte de la force » aux autres communes, via une covariable auxiliaire, pour stabiliser l’estimation dans les communes les moins bien échantillonnées.</a:t>
            </a:r>
          </a:p>
          <a:p>
            <a:pPr lvl="0"/>
            <a:r>
              <a:rPr/>
              <a:t>Exercice : comparer, commune par commune du Bénin, l’estimation directe de l’insécurité alimentaire (EHCVM 2018-2019) à son équivalent lissé par un modèle de Fay-Herriot - puis </a:t>
            </a:r>
            <a:r>
              <a:rPr b="1"/>
              <a:t>prédire à l’échelle d’une grille de 3 km</a:t>
            </a:r>
            <a:r>
              <a:rPr/>
              <a:t>, plus fine que l’enquête elle-même.</a:t>
            </a:r>
          </a:p>
          <a:p>
            <a:pPr lvl="0"/>
            <a:r>
              <a:rPr/>
              <a:t>Prolonge directement la partie théorique 2 (modélisation géospatiale) : Golding et al. et Wakefield et al. appliquent le même principe à bien plus grande échelle.</a:t>
            </a:r>
          </a:p>
        </p:txBody>
      </p:sp>
    </p:spTree>
  </p:cSl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Atelier R Exercice 3 : le principe du modèle de Fay-Herriot</a:t>
            </a:r>
          </a:p>
        </p:txBody>
      </p:sp>
      <p:sp>
        <p:nvSpPr>
          <p:cNvPr id="3" name="Content Placeholder 2"/>
          <p:cNvSpPr>
            <a:spLocks noGrp="1"/>
          </p:cNvSpPr>
          <p:nvPr>
            <p:ph idx="1"/>
          </p:nvPr>
        </p:nvSpPr>
        <p:spPr/>
        <p:txBody>
          <a:bodyPr/>
          <a:lstStyle/>
          <a:p>
            <a:pPr lvl="0"/>
            <a:r>
              <a:rPr/>
              <a:t>Pour chaque commune i, on observe une estimation directe p_i et sa variance d’échantillonnage psi_i (grande si peu de ménages enquêtés).</a:t>
            </a:r>
          </a:p>
          <a:p>
            <a:pPr lvl="0"/>
            <a:r>
              <a:rPr/>
              <a:t>Modèle de Fay-Herriot (1979) : p_i = x_i * beta + u_i + e_i, où u_i est la variance entre communes (à estimer) et e_i la variance d’échantillonnage (connue ou approximée).</a:t>
            </a:r>
          </a:p>
          <a:p>
            <a:pPr lvl="0"/>
            <a:r>
              <a:rPr/>
              <a:t>L’estimateur lissé (EBLUP) est une moyenne pondérée entre l’estimation directe p_i et la prédiction du modèle :</a:t>
            </a:r>
          </a:p>
          <a:p>
            <a:pPr lvl="1"/>
            <a:r>
              <a:rPr/>
              <a:t>commune peu échantillonnée (psi_i grand) : estimation tirée vers le modèle ;</a:t>
            </a:r>
          </a:p>
          <a:p>
            <a:pPr lvl="1"/>
            <a:r>
              <a:rPr/>
              <a:t>commune bien échantillonnée (psi_i petit) : estimation directe conservée presque telle quelle.</a:t>
            </a:r>
          </a:p>
          <a:p>
            <a:pPr lvl="0"/>
            <a:r>
              <a:rPr/>
              <a:t>Package R : </a:t>
            </a:r>
            <a:r>
              <a:rPr>
                <a:latin typeface="Courier"/>
              </a:rPr>
              <a:t>sae</a:t>
            </a:r>
            <a:r>
              <a:rPr/>
              <a:t>, fonction </a:t>
            </a:r>
            <a:r>
              <a:rPr>
                <a:latin typeface="Courier"/>
              </a:rPr>
              <a:t>mseFH()</a:t>
            </a:r>
            <a:r>
              <a:rPr/>
              <a:t>, ajuste le modèle et calcule l’erreur quadratique moyenne (EQM) de chaque estimation lissée. La formule peut inclure plusieurs covariables à la fois.</a:t>
            </a:r>
          </a:p>
          <a:p>
            <a:pPr lvl="0"/>
            <a:r>
              <a:rPr/>
              <a:t>Important : le modèle reste au même niveau géographique que l’estimation directe (ici, la commune) - “small area” fait référence à la taille de l’échantillon, pas à la résolution spatiale. Aller plus fin que la commune demande une étape supplémentaire (voir dernière diapo de cet atelier).</a:t>
            </a:r>
          </a:p>
        </p:txBody>
      </p:sp>
    </p:spTree>
  </p:cSl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Atelier R Exercice 3 : les données mobilisées</a:t>
            </a:r>
          </a:p>
        </p:txBody>
      </p:sp>
      <p:sp>
        <p:nvSpPr>
          <p:cNvPr id="3" name="Content Placeholder 2"/>
          <p:cNvSpPr>
            <a:spLocks noGrp="1"/>
          </p:cNvSpPr>
          <p:nvPr>
            <p:ph idx="1"/>
          </p:nvPr>
        </p:nvSpPr>
        <p:spPr/>
        <p:txBody>
          <a:bodyPr/>
          <a:lstStyle/>
          <a:p>
            <a:pPr lvl="0"/>
            <a:r>
              <a:rPr b="1"/>
              <a:t>Estimation directe</a:t>
            </a:r>
            <a:r>
              <a:rPr/>
              <a:t> : part des ménages en insécurité alimentaire, par commune, Enquête Harmonisée sur les Conditions de Vie des Ménages (EHCVM) 2018-2019, Bénin (</a:t>
            </a:r>
            <a:r>
              <a:rPr>
                <a:hlinkClick r:id="rId2"/>
              </a:rPr>
              <a:t>microdata.worldbank.org</a:t>
            </a:r>
            <a:r>
              <a:rPr/>
              <a:t>). Calculée avec le package </a:t>
            </a:r>
            <a:r>
              <a:rPr>
                <a:latin typeface="Courier"/>
              </a:rPr>
              <a:t>survey</a:t>
            </a:r>
            <a:r>
              <a:rPr/>
              <a:t> (poids d’enquête + grappes) - une vraie erreur-type, pas une approximation.</a:t>
            </a:r>
          </a:p>
          <a:p>
            <a:pPr lvl="0"/>
            <a:r>
              <a:rPr b="1"/>
              <a:t>Sélection des covariables</a:t>
            </a:r>
            <a:r>
              <a:rPr/>
              <a:t> : criblage de corrélation parmi 9 covariables géospatiales candidates (Google Earth Engine), toutes disponibles à la fois par commune et sur une grille de 3 km x 3 km (~15 400 cellules - à ne pas confondre avec les rasters de population à 100 m du Jour 7) ; retenues : part de terres urbaines et part de savane boisée (occupation du sol MODIS).</a:t>
            </a:r>
          </a:p>
          <a:p>
            <a:pPr lvl="0"/>
            <a:r>
              <a:rPr b="1"/>
              <a:t>Source et remerciements</a:t>
            </a:r>
            <a:r>
              <a:rPr/>
              <a:t> : données ménages, covariables et code d’extraction adaptés du dépôt </a:t>
            </a:r>
            <a:r>
              <a:rPr>
                <a:hlinkClick r:id="rId3"/>
              </a:rPr>
              <a:t>github.com/JoshMerfeld/saereplication</a:t>
            </a:r>
            <a:r>
              <a:rPr/>
              <a:t> (Josh Merfeld, University of Queensland) - merci à l’auteur d’avoir rendu ce matériel public. Le dépôt original utilise un modèle plus riche (EBP unitaire, package </a:t>
            </a:r>
            <a:r>
              <a:rPr>
                <a:latin typeface="Courier"/>
              </a:rPr>
              <a:t>povmap</a:t>
            </a:r>
            <a:r>
              <a:rPr/>
              <a:t>) ; ce TD simplifie volontairement vers un modèle d’aire (Fay-Herriot) à but pédagogique.</a:t>
            </a:r>
          </a:p>
        </p:txBody>
      </p:sp>
    </p:spTree>
  </p:cSl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Atelier R Exercice 3 : fonctions clés</a:t>
            </a:r>
          </a:p>
        </p:txBody>
      </p:sp>
      <p:sp>
        <p:nvSpPr>
          <p:cNvPr id="3" name="Content Placeholder 2"/>
          <p:cNvSpPr>
            <a:spLocks noGrp="1"/>
          </p:cNvSpPr>
          <p:nvPr>
            <p:ph idx="1"/>
          </p:nvPr>
        </p:nvSpPr>
        <p:spPr/>
        <p:txBody>
          <a:bodyPr/>
          <a:lstStyle/>
          <a:p>
            <a:pPr lvl="0"/>
            <a:r>
              <a:rPr>
                <a:latin typeface="Courier"/>
              </a:rPr>
              <a:t>survey::svydesign(ids, weights, data)</a:t>
            </a:r>
            <a:r>
              <a:rPr/>
              <a:t> + </a:t>
            </a:r>
            <a:r>
              <a:rPr>
                <a:latin typeface="Courier"/>
              </a:rPr>
              <a:t>svyby(~var, ~domaine, plan, svymean)</a:t>
            </a:r>
            <a:r>
              <a:rPr/>
              <a:t> : estimation directe pondérée et son erreur-type, en tenant compte du plan de sondage en grappes.</a:t>
            </a:r>
          </a:p>
          <a:p>
            <a:pPr lvl="0"/>
            <a:r>
              <a:rPr>
                <a:latin typeface="Courier"/>
              </a:rPr>
              <a:t>cor()</a:t>
            </a:r>
            <a:r>
              <a:rPr/>
              <a:t> sur des covariables candidates : cribler et choisir une covariable auxiliaire plutôt que la deviner.</a:t>
            </a:r>
          </a:p>
          <a:p>
            <a:pPr lvl="0"/>
            <a:r>
              <a:rPr>
                <a:latin typeface="Courier"/>
              </a:rPr>
              <a:t>sae::mseFH(formule, vardir, data)</a:t>
            </a:r>
            <a:r>
              <a:rPr/>
              <a:t> : ajuste le modèle de Fay-Herriot (ici avec deux covariables) et renvoie l’EBLUP (</a:t>
            </a:r>
            <a:r>
              <a:rPr>
                <a:latin typeface="Courier"/>
              </a:rPr>
              <a:t>$est$eblup</a:t>
            </a:r>
            <a:r>
              <a:rPr/>
              <a:t>) et son EQM estimée (</a:t>
            </a:r>
            <a:r>
              <a:rPr>
                <a:latin typeface="Courier"/>
              </a:rPr>
              <a:t>$mse</a:t>
            </a:r>
            <a:r>
              <a:rPr/>
              <a:t>).</a:t>
            </a:r>
          </a:p>
          <a:p>
            <a:pPr lvl="0"/>
            <a:r>
              <a:rPr>
                <a:latin typeface="Courier"/>
              </a:rPr>
              <a:t>geom_pointrange()</a:t>
            </a:r>
            <a:r>
              <a:rPr/>
              <a:t> + un nuage de points gain de précision vs taille d’échantillon : visualiser où et pourquoi le lissage agit.</a:t>
            </a:r>
          </a:p>
          <a:p>
            <a:pPr lvl="0"/>
            <a:r>
              <a:rPr>
                <a:latin typeface="Courier"/>
              </a:rPr>
              <a:t>tmap_arrange()</a:t>
            </a:r>
            <a:r>
              <a:rPr/>
              <a:t> : comparer côte à côte estimation directe, estimation lissée, et gain de précision.</a:t>
            </a:r>
          </a:p>
          <a:p>
            <a:pPr lvl="0"/>
            <a:r>
              <a:rPr/>
              <a:t>Reconstruction manuelle de l’effet aléatoire de commune (</a:t>
            </a:r>
            <a:r>
              <a:rPr>
                <a:latin typeface="Courier"/>
              </a:rPr>
              <a:t>u_hat</a:t>
            </a:r>
            <a:r>
              <a:rPr/>
              <a:t>) à partir des coefficients du modèle, appliquée aux covariables de chaque cellule de grille : la même logique que le lissage par commune, mais à résolution fine.</a:t>
            </a:r>
          </a:p>
        </p:txBody>
      </p:sp>
    </p:spTree>
  </p:cSl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Atelier R Exercice 3 : de la commune à la grille de 3 km</a:t>
            </a:r>
          </a:p>
        </p:txBody>
      </p:sp>
      <p:sp>
        <p:nvSpPr>
          <p:cNvPr id="3" name="Content Placeholder 2"/>
          <p:cNvSpPr>
            <a:spLocks noGrp="1"/>
          </p:cNvSpPr>
          <p:nvPr>
            <p:ph idx="1"/>
          </p:nvPr>
        </p:nvSpPr>
        <p:spPr/>
        <p:txBody>
          <a:bodyPr/>
          <a:lstStyle/>
          <a:p>
            <a:pPr lvl="0"/>
            <a:r>
              <a:rPr/>
              <a:t>Le modèle est ajusté au niveau commune, mais ses coefficients (part urbaine, part de savane) sont connus pour CHAQUE cellule de grille de 3 km - pas seulement pour les communes enquêtées.</a:t>
            </a:r>
          </a:p>
          <a:p>
            <a:pPr lvl="0"/>
            <a:r>
              <a:rPr/>
              <a:t>En combinant ces coefficients avec l’effet aléatoire de la commune (</a:t>
            </a:r>
            <a:r>
              <a:rPr>
                <a:latin typeface="Courier"/>
              </a:rPr>
              <a:t>u_hat</a:t>
            </a:r>
            <a:r>
              <a:rPr/>
              <a:t>, la part de l’écart à la covariable propre à chaque commune), on obtient une prédiction à 3 km : </a:t>
            </a:r>
            <a:r>
              <a:rPr>
                <a:latin typeface="Courier"/>
              </a:rPr>
              <a:t>insecure_pred = beta0 + beta_urbain * x_urbain + beta_savane * x_savane + u_hat</a:t>
            </a:r>
            <a:r>
              <a:rPr/>
              <a:t>.</a:t>
            </a:r>
          </a:p>
          <a:p>
            <a:pPr lvl="0"/>
            <a:r>
              <a:rPr/>
              <a:t>Résultat : une carte plus fine que l’enquête elle-même - le sens spatial du “small area”, au-delà du seul gain de précision statistique.</a:t>
            </a:r>
          </a:p>
          <a:p>
            <a:pPr lvl="0"/>
            <a:r>
              <a:rPr/>
              <a:t>Limite à garder en tête : c’est une extrapolation à partir d’une relation ajustée sur 76 communes ; elle suppose que cette relation covariable-indicateur est valable à l’intérieur de chaque commune, ce qui n’est pas vérifiable avec ces seules données.</a:t>
            </a:r>
          </a:p>
          <a:p>
            <a:pPr lvl="0"/>
            <a:r>
              <a:rPr/>
              <a:t>Piège à signaler : cette carte est visuellement la plus impressionnante du TD (rendu lisse et continu à 3 km) - mais aussi la moins mesurée. Le rendu ne doit pas être confondu avec une précision réelle à cette résolution.</a:t>
            </a:r>
          </a:p>
        </p:txBody>
      </p:sp>
    </p:spTree>
  </p:cSl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Atelier R Exercice 3 : ce que révèle la comparaison</a:t>
            </a:r>
          </a:p>
        </p:txBody>
      </p:sp>
      <p:sp>
        <p:nvSpPr>
          <p:cNvPr id="3" name="Content Placeholder 2"/>
          <p:cNvSpPr>
            <a:spLocks noGrp="1"/>
          </p:cNvSpPr>
          <p:nvPr>
            <p:ph idx="1"/>
          </p:nvPr>
        </p:nvSpPr>
        <p:spPr/>
        <p:txBody>
          <a:bodyPr/>
          <a:lstStyle/>
          <a:p>
            <a:pPr lvl="0"/>
            <a:r>
              <a:rPr/>
              <a:t>Le gain de précision Fay-Herriot n’est pas uniforme : il doit être concentré dans les communes où l’échantillon EHCVM est le plus petit - c’est le mécanisme même du SAE, à observer dans le nuage de points gain vs taille d’échantillon.</a:t>
            </a:r>
          </a:p>
          <a:p>
            <a:pPr lvl="0"/>
            <a:r>
              <a:rPr/>
              <a:t>Avec seulement 76 communes et deux covariables, la marge d’erreur sur les coefficients reste large : un rappel qu’un modèle d’aire nécessite en général davantage de domaines pour estimer sereinement l’effet d’une covariable.</a:t>
            </a:r>
          </a:p>
          <a:p>
            <a:pPr lvl="0"/>
            <a:r>
              <a:rPr/>
              <a:t>Message clé : le SAE ne remplace pas une enquête bien dimensionnée, mais il évite de publier des estimations communales trop bruitées pour être utiles à la décision - et, poussé à l’échelle de la grille, il permet de voir une variation spatiale invisible dans l’enquête seule.</a:t>
            </a:r>
          </a:p>
        </p:txBody>
      </p:sp>
    </p:spTree>
  </p:cSl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Limites et précautions</a:t>
            </a:r>
          </a:p>
        </p:txBody>
      </p:sp>
      <p:sp>
        <p:nvSpPr>
          <p:cNvPr id="3" name="Content Placeholder 2"/>
          <p:cNvSpPr>
            <a:spLocks noGrp="1"/>
          </p:cNvSpPr>
          <p:nvPr>
            <p:ph idx="1"/>
          </p:nvPr>
        </p:nvSpPr>
        <p:spPr/>
        <p:txBody>
          <a:bodyPr/>
          <a:lstStyle/>
          <a:p>
            <a:pPr lvl="0" indent="0" marL="0">
              <a:buNone/>
            </a:pPr>
            <a:r>
              <a:rPr b="1"/>
              <a:t>ACLED :</a:t>
            </a:r>
          </a:p>
          <a:p>
            <a:pPr lvl="0"/>
            <a:r>
              <a:rPr/>
              <a:t>Couverture dépend des sources médiatiques : zones enclavées sous-représentées.</a:t>
            </a:r>
          </a:p>
          <a:p>
            <a:pPr lvl="0"/>
            <a:r>
              <a:rPr/>
              <a:t>Nombre d’événements ≠ intensité de la violence.</a:t>
            </a:r>
          </a:p>
          <a:p>
            <a:pPr lvl="0"/>
            <a:r>
              <a:rPr/>
              <a:t>Citer ACLED et préciser la date de téléchargement.</a:t>
            </a:r>
          </a:p>
          <a:p>
            <a:pPr lvl="0" indent="0" marL="0">
              <a:buNone/>
            </a:pPr>
            <a:r>
              <a:rPr b="1"/>
              <a:t>ERA5 :</a:t>
            </a:r>
          </a:p>
          <a:p>
            <a:pPr lvl="0"/>
            <a:r>
              <a:rPr/>
              <a:t>Réanalyse, pas des observations directes : les zones sans stations météo dépendent du modèle.</a:t>
            </a:r>
          </a:p>
          <a:p>
            <a:pPr lvl="0"/>
            <a:r>
              <a:rPr/>
              <a:t>Résolution de 31 km : pas adaptée à l’analyse intra-urbaine.</a:t>
            </a:r>
          </a:p>
          <a:p>
            <a:pPr lvl="0"/>
            <a:r>
              <a:rPr/>
              <a:t>Unité en Kelvin : toujours vérifier la conversion.</a:t>
            </a:r>
          </a:p>
          <a:p>
            <a:pPr lvl="0" indent="0" marL="0">
              <a:buNone/>
            </a:pPr>
            <a:r>
              <a:rPr b="1"/>
              <a:t>Petits domaines (SAE) :</a:t>
            </a:r>
          </a:p>
          <a:p>
            <a:pPr lvl="0"/>
            <a:r>
              <a:rPr/>
              <a:t>Un modèle d’aire (Fay-Herriot) avec seulement 76 domaines et deux covariables a une puissance limitée pour valider ces covariables ; un modèle plus riche demanderait davantage de domaines.</a:t>
            </a:r>
          </a:p>
          <a:p>
            <a:pPr lvl="0"/>
            <a:r>
              <a:rPr/>
              <a:t>Le lissage réduit le bruit d’échantillonnage, mais n’invente pas d’information : il ne corrige ni un plan d’enquête mal dimensionné, ni un biais de couverture.</a:t>
            </a:r>
          </a:p>
          <a:p>
            <a:pPr lvl="0"/>
            <a:r>
              <a:rPr/>
              <a:t>La prédiction à l’échelle de la grille (3 km) est une extrapolation du modèle communal : elle suppose que la relation covariable-indicateur estimée sur 76 communes est valable à l’intérieur de chaque commune, hypothèse non vérifiable avec ces seules données.</a:t>
            </a:r>
          </a:p>
        </p:txBody>
      </p:sp>
    </p:spTree>
  </p:cSl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Messages clés</a:t>
            </a:r>
          </a:p>
        </p:txBody>
      </p:sp>
      <p:sp>
        <p:nvSpPr>
          <p:cNvPr id="3" name="Content Placeholder 2"/>
          <p:cNvSpPr>
            <a:spLocks noGrp="1"/>
          </p:cNvSpPr>
          <p:nvPr>
            <p:ph idx="1"/>
          </p:nvPr>
        </p:nvSpPr>
        <p:spPr/>
        <p:txBody>
          <a:bodyPr/>
          <a:lstStyle/>
          <a:p>
            <a:pPr lvl="0"/>
            <a:r>
              <a:rPr/>
              <a:t>ACLED, ERA5 et le modèle de Fay-Herriot sont trois sources et méthodes complémentaires pour les sciences sociales spatiales.</a:t>
            </a:r>
          </a:p>
          <a:p>
            <a:pPr lvl="0"/>
            <a:r>
              <a:rPr/>
              <a:t>ACLED et ERA5 utilisent une API avec authentification : stocker les clés dans un fichier </a:t>
            </a:r>
            <a:r>
              <a:rPr>
                <a:latin typeface="Courier"/>
              </a:rPr>
              <a:t>.env</a:t>
            </a:r>
            <a:r>
              <a:rPr/>
              <a:t>.</a:t>
            </a:r>
          </a:p>
          <a:p>
            <a:pPr lvl="0"/>
            <a:r>
              <a:rPr/>
              <a:t>NetCDF est multidimensionnel : </a:t>
            </a:r>
            <a:r>
              <a:rPr>
                <a:latin typeface="Courier"/>
              </a:rPr>
              <a:t>terra::rast()</a:t>
            </a:r>
            <a:r>
              <a:rPr/>
              <a:t> lit toutes les couches en une seule commande.</a:t>
            </a:r>
          </a:p>
          <a:p>
            <a:pPr lvl="0"/>
            <a:r>
              <a:rPr>
                <a:latin typeface="Courier"/>
              </a:rPr>
              <a:t>exactextractr</a:t>
            </a:r>
            <a:r>
              <a:rPr/>
              <a:t> permet d’extraire des statistiques zonales pour chaque couche en une ligne.</a:t>
            </a:r>
          </a:p>
          <a:p>
            <a:pPr lvl="0"/>
            <a:r>
              <a:rPr>
                <a:latin typeface="Courier"/>
              </a:rPr>
              <a:t>sae::mseFH()</a:t>
            </a:r>
            <a:r>
              <a:rPr/>
              <a:t> combine estimation directe et covariable auxiliaire pour stabiliser une estimation régionale bruitée.</a:t>
            </a:r>
          </a:p>
          <a:p>
            <a:pPr lvl="0"/>
            <a:r>
              <a:rPr/>
              <a:t>Toujours afficher la plage temporelle des données avant de les analyser.</a:t>
            </a:r>
          </a:p>
        </p:txBody>
      </p:sp>
    </p:spTree>
  </p:cSld>
</p:sld>
</file>

<file path=ppt/theme/theme1.xml><?xml version="1.0" encoding="utf-8"?>
<a:theme xmlns:a="http://schemas.openxmlformats.org/drawingml/2006/main" name="IFORD R Spatial Theme">
  <a:themeElements>
    <a:clrScheme name="IFORD">
      <a:dk1>
        <a:srgbClr val="132A35"/>
      </a:dk1>
      <a:lt1>
        <a:srgbClr val="FFFFFF"/>
      </a:lt1>
      <a:dk2>
        <a:srgbClr val="004B3C"/>
      </a:dk2>
      <a:lt2>
        <a:srgbClr val="F3F7F2"/>
      </a:lt2>
      <a:accent1>
        <a:srgbClr val="006B4F"/>
      </a:accent1>
      <a:accent2>
        <a:srgbClr val="F2A900"/>
      </a:accent2>
      <a:accent3>
        <a:srgbClr val="3A7D44"/>
      </a:accent3>
      <a:accent4>
        <a:srgbClr val="2B6CB0"/>
      </a:accent4>
      <a:accent5>
        <a:srgbClr val="7A4E8A"/>
      </a:accent5>
      <a:accent6>
        <a:srgbClr val="D95F02"/>
      </a:accent6>
      <a:hlink>
        <a:srgbClr val="006B4F"/>
      </a:hlink>
      <a:folHlink>
        <a:srgbClr val="7A4E8A"/>
      </a:folHlink>
    </a:clrScheme>
    <a:fontScheme name="Office">
      <a:majorFont>
        <a:latin typeface="Aptos"/>
        <a:ea typeface=""/>
        <a:cs typeface=""/>
        <a:font script="Jpan" typeface="ï¼­ï¼³ ï¼°ã‚´ã‚·ãƒƒã‚¯"/>
        <a:font script="Hang" typeface="ë§‘ì€ ê³ ë”•"/>
        <a:font script="Hans" typeface="å®‹ä½“"/>
        <a:font script="Hant" typeface="æ–°ç´°æ˜Žé«”"/>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ï¼­ï¼³ ï¼°ã‚´ã‚·ãƒƒã‚¯"/>
        <a:font script="Hang" typeface="ë§‘ì€ ê³ ë”•"/>
        <a:font script="Hans" typeface="å®‹ä½“"/>
        <a:font script="Hant" typeface="æ–°ç´°æ˜Žé«”"/>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901</Words>
  <Application>Microsoft Office PowerPoint</Application>
  <PresentationFormat>On-screen Show (16:9)</PresentationFormat>
  <Paragraphs>145</Paragraphs>
  <Slides>20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Aptos</vt:lpstr>
      <vt:lpstr>Arial</vt:lpstr>
      <vt:lpstr>Courier</vt:lpstr>
      <vt:lpstr>IFORD R Spatial Theme</vt:lpstr>
      <vt:lpstr>Jour 10 - Flux reproductibles et projet final</vt:lpstr>
      <vt:lpstr>Objectifs de la journee</vt:lpstr>
      <vt:lpstr>Programme 6 heures</vt:lpstr>
      <vt:lpstr>Reproductibilite</vt:lpstr>
      <vt:lpstr>Structure conseillee</vt:lpstr>
      <vt:lpstr>Quarto: idee centrale</vt:lpstr>
      <vt:lpstr>Un seul fichier, plusieurs formats</vt:lpstr>
      <vt:lpstr>Quand choisir quel format?</vt:lpstr>
      <vt:lpstr>PowerPoint Presentation</vt:lpstr>
      <vt:lpstr>Anatomie d’un fichier Quarto</vt:lpstr>
      <vt:lpstr>Demonstration Quarto</vt:lpstr>
      <vt:lpstr>tmap: plot vs view</vt:lpstr>
      <vt:lpstr>Automatisation</vt:lpstr>
      <vt:lpstr>Atelier R</vt:lpstr>
      <vt:lpstr>Mini-projet</vt:lpstr>
      <vt:lpstr>Grille de presentation</vt:lpstr>
      <vt:lpstr>FAIR</vt:lpstr>
      <vt:lpstr>Metadonnees minimales</vt:lpstr>
      <vt:lpstr>Feuille de route INS/BUCREP</vt:lpstr>
      <vt:lpstr>Messages de cloture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Jour 9 - Applications spatiales et sciences sociales</dc:title>
  <dc:creator>IFORD - Formation R spatial</dc:creator>
  <cp:keywords/>
  <dcterms:created xsi:type="dcterms:W3CDTF">2026-08-05T21:37:00Z</dcterms:created>
  <dcterms:modified xsi:type="dcterms:W3CDTF">2026-08-05T21:37:00Z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header-includes">
    <vt:lpwstr/>
  </property>
  <property fmtid="{D5CDD505-2E9C-101B-9397-08002B2CF9AE}" pid="6" name="include-after">
    <vt:lpwstr/>
  </property>
  <property fmtid="{D5CDD505-2E9C-101B-9397-08002B2CF9AE}" pid="7" name="include-before">
    <vt:lpwstr/>
  </property>
  <property fmtid="{D5CDD505-2E9C-101B-9397-08002B2CF9AE}" pid="8" name="labels">
    <vt:lpwstr/>
  </property>
  <property fmtid="{D5CDD505-2E9C-101B-9397-08002B2CF9AE}" pid="9" name="subtitle">
    <vt:lpwstr>Fondements théoriques, ACLED (conflits armés) et ERA5 (température) au Cameroun, petits domaines au Bénin</vt:lpwstr>
  </property>
  <property fmtid="{D5CDD505-2E9C-101B-9397-08002B2CF9AE}" pid="10" name="toc-title">
    <vt:lpwstr>Table of contents</vt:lpwstr>
  </property>
</Properties>
</file>