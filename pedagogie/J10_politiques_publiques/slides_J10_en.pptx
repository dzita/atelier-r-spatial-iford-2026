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36"/>
          <a:sy d="100" n="136"/>
        </p:scale>
        <p:origin x="816" y="12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71" Type="http://schemas.openxmlformats.org/officeDocument/2006/relationships/tableStyles" Target="tableStyles.xml" /><Relationship Id="rId1" Type="http://schemas.openxmlformats.org/officeDocument/2006/relationships/slideMaster" Target="slideMasters/slideMaster1.xml" /><Relationship Id="rId70" Type="http://schemas.openxmlformats.org/officeDocument/2006/relationships/theme" Target="theme/theme1.xml" /><Relationship Id="rId69" Type="http://schemas.openxmlformats.org/officeDocument/2006/relationships/viewProps" Target="viewProps.xml" /><Relationship Id="rId68"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9001" name="IFORD Top Brand Bar"/>
          <p:cNvSpPr/>
          <p:nvPr/>
        </p:nvSpPr>
        <p:spPr>
          <a:xfrm>
            <a:off x="0" y="0"/>
            <a:ext cx="9144000" cy="91440"/>
          </a:xfrm>
          <a:prstGeom prst="rect">
            <a:avLst/>
          </a:prstGeom>
          <a:solidFill>
            <a:srgbClr val="006B4F"/>
          </a:solidFill>
          <a:ln>
            <a:noFill/>
          </a:ln>
        </p:spPr>
        <p:txBody>
          <a:bodyPr/>
          <a:lstStyle/>
          <a:p>
            <a:endParaRPr/>
          </a:p>
        </p:txBody>
      </p:sp>
      <p:sp>
        <p:nvSpPr>
          <p:cNvPr id="9002" name="IFORD Bottom Accent"/>
          <p:cNvSpPr/>
          <p:nvPr/>
        </p:nvSpPr>
        <p:spPr>
          <a:xfrm>
            <a:off x="0" y="5052060"/>
            <a:ext cx="9144000" cy="91440"/>
          </a:xfrm>
          <a:prstGeom prst="rect">
            <a:avLst/>
          </a:prstGeom>
          <a:solidFill>
            <a:srgbClr val="F2A900"/>
          </a:solidFill>
          <a:ln>
            <a:noFill/>
          </a:ln>
        </p:spPr>
        <p:txBody>
          <a:bodyPr/>
          <a:lstStyle/>
          <a:p>
            <a:endParaRPr/>
          </a:p>
        </p:txBody>
      </p:sp>
      <p:sp>
        <p:nvSpPr>
          <p:cNvPr id="9003" name="IFORD Footer Label"/>
          <p:cNvSpPr/>
          <p:nvPr/>
        </p:nvSpPr>
        <p:spPr>
          <a:xfrm>
            <a:off x="457200" y="4785000"/>
            <a:ext cx="3500000" cy="320000"/>
          </a:xfrm>
          <a:prstGeom prst="rect">
            <a:avLst/>
          </a:prstGeom>
          <a:noFill/>
          <a:ln>
            <a:noFill/>
          </a:ln>
        </p:spPr>
        <p:txBody>
          <a:bodyPr anchor="ctr" bIns="0" lIns="0" rIns="0" tIns="0"/>
          <a:lstStyle/>
          <a:p>
            <a:r>
              <a:rPr lang="fr-FR" sz="900">
                <a:solidFill>
                  <a:srgbClr val="5F6F64"/>
                </a:solidFill>
                <a:latin typeface="Aptos"/>
              </a:rPr>
              <a:t>IFORD - Formation R spatial</a:t>
            </a:r>
          </a:p>
        </p:txBody>
      </p:sp>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6/16/2026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3200">
          <a:solidFill>
            <a:srgbClr val="004B3C"/>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600">
          <a:solidFill>
            <a:srgbClr val="132A35"/>
          </a:solidFill>
          <a:latin typeface="+mn-lt"/>
          <a:ea typeface="+mn-ea"/>
          <a:cs typeface="+mn-cs"/>
        </a:defRPr>
      </a:lvl1pPr>
      <a:lvl2pPr algn="l" defTabSz="342900" eaLnBrk="1" hangingPunct="1" indent="-342900" latinLnBrk="0" marL="685800" rtl="0">
        <a:spcBef>
          <a:spcPct val="20000"/>
        </a:spcBef>
        <a:buFont typeface="Arial"/>
        <a:buChar char="–"/>
        <a:defRPr kern="1200" sz="15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4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2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2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2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2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2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2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cleddata.com/"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eveloper.acleddata.com/"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ds.climate.copernicus.eu/"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icrodata.worldbank.org/index.php/catalog/4291" TargetMode="External" /><Relationship Id="rId3" Type="http://schemas.openxmlformats.org/officeDocument/2006/relationships/hyperlink" Target="https://github.com/JoshMerfeld/saereplication" TargetMode="Externa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Day 9 - Spatial applications and social sciences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Theoretical foundations, ACLED (armed conflict) and ERA5 (temperature) in Cameroon, small area estimation in Benin</a:t>
            </a:r>
            <a:br/>
            <a:br/>
            <a:r>
              <a:rPr/>
              <a:t>IFORD - Spatial R training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Objectives for the day</a:t>
            </a:r>
          </a:p>
        </p:txBody>
      </p:sp>
      <p:sp>
        <p:nvSpPr>
          <p:cNvPr id="3" name="Content Placeholder 2"/>
          <p:cNvSpPr>
            <a:spLocks noGrp="1"/>
          </p:cNvSpPr>
          <p:nvPr>
            <p:ph idx="1"/>
          </p:nvPr>
        </p:nvSpPr>
        <p:spPr/>
        <p:txBody>
          <a:bodyPr/>
          <a:lstStyle/>
          <a:p>
            <a:pPr lvl="0"/>
            <a:r>
              <a:rPr/>
              <a:t>Understand why and how the social sciences have taken up space as a tool of analysis, from the hand-drawn maps of the 19th century to contemporary geospatial modelling.</a:t>
            </a:r>
          </a:p>
          <a:p>
            <a:pPr lvl="0"/>
            <a:r>
              <a:rPr/>
              <a:t>Distinguish three uses of geospatial data in a social analysis: </a:t>
            </a:r>
            <a:r>
              <a:rPr b="1"/>
              <a:t>explanatory variable</a:t>
            </a:r>
            <a:r>
              <a:rPr/>
              <a:t>, </a:t>
            </a:r>
            <a:r>
              <a:rPr b="1"/>
              <a:t>object of modelling</a:t>
            </a:r>
            <a:r>
              <a:rPr/>
              <a:t>, </a:t>
            </a:r>
            <a:r>
              <a:rPr b="1"/>
              <a:t>proxy variable</a:t>
            </a:r>
            <a:r>
              <a:rPr/>
              <a:t>.</a:t>
            </a:r>
          </a:p>
          <a:p>
            <a:pPr lvl="0"/>
            <a:r>
              <a:rPr/>
              <a:t>Discover, through recent research articles, concrete examples for each of these uses.</a:t>
            </a:r>
          </a:p>
          <a:p>
            <a:pPr lvl="0"/>
            <a:r>
              <a:rPr/>
              <a:t>Work hands-on with three geospatial data sources: ACLED (conflict), ERA5 (climate), and a small area estimation model (Fay-Herriot).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Morning programme: 9:30 to 13:00</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4114800"/>
              </a:tblGrid>
              <a:tr h="0">
                <a:tc>
                  <a:txBody>
                    <a:bodyPr/>
                    <a:lstStyle/>
                    <a:p>
                      <a:pPr lvl="0" indent="0" marL="0">
                        <a:buNone/>
                      </a:pPr>
                      <a:r>
                        <a:rPr/>
                        <a:t>Time</a:t>
                      </a:r>
                    </a:p>
                  </a:txBody>
                  <a:tcPr/>
                </a:tc>
                <a:tc>
                  <a:txBody>
                    <a:bodyPr/>
                    <a:lstStyle/>
                    <a:p>
                      <a:pPr lvl="0" indent="0" marL="0">
                        <a:buNone/>
                      </a:pPr>
                      <a:r>
                        <a:rPr/>
                        <a:t>Duration</a:t>
                      </a:r>
                    </a:p>
                  </a:txBody>
                  <a:tcPr/>
                </a:tc>
                <a:tc>
                  <a:txBody>
                    <a:bodyPr/>
                    <a:lstStyle/>
                    <a:p>
                      <a:pPr lvl="0" indent="0" marL="0">
                        <a:buNone/>
                      </a:pPr>
                      <a:r>
                        <a:rPr/>
                        <a:t>Content</a:t>
                      </a:r>
                    </a:p>
                  </a:txBody>
                  <a:tcPr/>
                </a:tc>
              </a:tr>
              <a:tr h="0">
                <a:tc>
                  <a:txBody>
                    <a:bodyPr/>
                    <a:lstStyle/>
                    <a:p>
                      <a:pPr lvl="0" indent="0" marL="0">
                        <a:buNone/>
                      </a:pPr>
                      <a:r>
                        <a:rPr/>
                        <a:t>09:30-10:30</a:t>
                      </a:r>
                    </a:p>
                  </a:txBody>
                </a:tc>
                <a:tc>
                  <a:txBody>
                    <a:bodyPr/>
                    <a:lstStyle/>
                    <a:p>
                      <a:pPr lvl="0" indent="0" marL="0">
                        <a:buNone/>
                      </a:pPr>
                      <a:r>
                        <a:rPr/>
                        <a:t>1h00</a:t>
                      </a:r>
                    </a:p>
                  </a:txBody>
                </a:tc>
                <a:tc>
                  <a:txBody>
                    <a:bodyPr/>
                    <a:lstStyle/>
                    <a:p>
                      <a:pPr lvl="0" indent="0" marL="0">
                        <a:buNone/>
                      </a:pPr>
                      <a:r>
                        <a:rPr/>
                        <a:t>Part 1 - The origins of social geography (Snow, Booth, Du Bois)</a:t>
                      </a:r>
                    </a:p>
                  </a:txBody>
                </a:tc>
              </a:tr>
              <a:tr h="0">
                <a:tc>
                  <a:txBody>
                    <a:bodyPr/>
                    <a:lstStyle/>
                    <a:p>
                      <a:pPr lvl="0" indent="0" marL="0">
                        <a:buNone/>
                      </a:pPr>
                      <a:r>
                        <a:rPr/>
                        <a:t>10:30-11:00</a:t>
                      </a:r>
                    </a:p>
                  </a:txBody>
                </a:tc>
                <a:tc>
                  <a:txBody>
                    <a:bodyPr/>
                    <a:lstStyle/>
                    <a:p>
                      <a:pPr lvl="0" indent="0" marL="0">
                        <a:buNone/>
                      </a:pPr>
                      <a:r>
                        <a:rPr/>
                        <a:t>30 min</a:t>
                      </a:r>
                    </a:p>
                  </a:txBody>
                </a:tc>
                <a:tc>
                  <a:txBody>
                    <a:bodyPr/>
                    <a:lstStyle/>
                    <a:p>
                      <a:pPr lvl="0" indent="0" marL="0">
                        <a:buNone/>
                      </a:pPr>
                      <a:r>
                        <a:rPr b="1"/>
                        <a:t>Break</a:t>
                      </a:r>
                    </a:p>
                  </a:txBody>
                </a:tc>
              </a:tr>
              <a:tr h="0">
                <a:tc>
                  <a:txBody>
                    <a:bodyPr/>
                    <a:lstStyle/>
                    <a:p>
                      <a:pPr lvl="0" indent="0" marL="0">
                        <a:buNone/>
                      </a:pPr>
                      <a:r>
                        <a:rPr/>
                        <a:t>11:00-12:00</a:t>
                      </a:r>
                    </a:p>
                  </a:txBody>
                </a:tc>
                <a:tc>
                  <a:txBody>
                    <a:bodyPr/>
                    <a:lstStyle/>
                    <a:p>
                      <a:pPr lvl="0" indent="0" marL="0">
                        <a:buNone/>
                      </a:pPr>
                      <a:r>
                        <a:rPr/>
                        <a:t>1h00</a:t>
                      </a:r>
                    </a:p>
                  </a:txBody>
                </a:tc>
                <a:tc>
                  <a:txBody>
                    <a:bodyPr/>
                    <a:lstStyle/>
                    <a:p>
                      <a:pPr lvl="0" indent="0" marL="0">
                        <a:buNone/>
                      </a:pPr>
                      <a:r>
                        <a:rPr/>
                        <a:t>Part 2 - Geospatial variables as explanatory variables and geospatial modelling</a:t>
                      </a:r>
                    </a:p>
                  </a:txBody>
                </a:tc>
              </a:tr>
              <a:tr h="0">
                <a:tc>
                  <a:txBody>
                    <a:bodyPr/>
                    <a:lstStyle/>
                    <a:p>
                      <a:pPr lvl="0" indent="0" marL="0">
                        <a:buNone/>
                      </a:pPr>
                      <a:r>
                        <a:rPr/>
                        <a:t>12:00-12:15</a:t>
                      </a:r>
                    </a:p>
                  </a:txBody>
                </a:tc>
                <a:tc>
                  <a:txBody>
                    <a:bodyPr/>
                    <a:lstStyle/>
                    <a:p>
                      <a:pPr lvl="0" indent="0" marL="0">
                        <a:buNone/>
                      </a:pPr>
                      <a:r>
                        <a:rPr/>
                        <a:t>15 min</a:t>
                      </a:r>
                    </a:p>
                  </a:txBody>
                </a:tc>
                <a:tc>
                  <a:txBody>
                    <a:bodyPr/>
                    <a:lstStyle/>
                    <a:p>
                      <a:pPr lvl="0" indent="0" marL="0">
                        <a:buNone/>
                      </a:pPr>
                      <a:r>
                        <a:rPr b="1"/>
                        <a:t>Break</a:t>
                      </a:r>
                    </a:p>
                  </a:txBody>
                </a:tc>
              </a:tr>
              <a:tr h="0">
                <a:tc>
                  <a:txBody>
                    <a:bodyPr/>
                    <a:lstStyle/>
                    <a:p>
                      <a:pPr lvl="0" indent="0" marL="0">
                        <a:buNone/>
                      </a:pPr>
                      <a:r>
                        <a:rPr/>
                        <a:t>12:15-13:00</a:t>
                      </a:r>
                    </a:p>
                  </a:txBody>
                </a:tc>
                <a:tc>
                  <a:txBody>
                    <a:bodyPr/>
                    <a:lstStyle/>
                    <a:p>
                      <a:pPr lvl="0" indent="0" marL="0">
                        <a:buNone/>
                      </a:pPr>
                      <a:r>
                        <a:rPr/>
                        <a:t>45 min</a:t>
                      </a:r>
                    </a:p>
                  </a:txBody>
                </a:tc>
                <a:tc>
                  <a:txBody>
                    <a:bodyPr/>
                    <a:lstStyle/>
                    <a:p>
                      <a:pPr lvl="0" indent="0" marL="0">
                        <a:buNone/>
                      </a:pPr>
                      <a:r>
                        <a:rPr/>
                        <a:t>Part 3 - Geospatial variables as proxies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Theoretical part: geography in the service of the social sciences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Why cross space and the social sciences?</a:t>
            </a:r>
          </a:p>
        </p:txBody>
      </p:sp>
      <p:sp>
        <p:nvSpPr>
          <p:cNvPr id="4" name="Text Placeholder 3"/>
          <p:cNvSpPr>
            <a:spLocks noGrp="1"/>
          </p:cNvSpPr>
          <p:nvPr>
            <p:ph idx="2" sz="half" type="body"/>
          </p:nvPr>
        </p:nvSpPr>
        <p:spPr/>
        <p:txBody>
          <a:bodyPr/>
          <a:lstStyle/>
          <a:p>
            <a:pPr lvl="0"/>
            <a:r>
              <a:rPr/>
              <a:t>Social phenomena (epidemics, poverty, conflict, migration) are never randomly distributed in space.</a:t>
            </a:r>
          </a:p>
          <a:p>
            <a:pPr lvl="0"/>
            <a:r>
              <a:rPr/>
              <a:t>Locating a phenomenon is often the first step towards understanding its causes.</a:t>
            </a:r>
          </a:p>
          <a:p>
            <a:pPr lvl="0"/>
            <a:r>
              <a:rPr/>
              <a:t>Three broad families of use of geospatial data structure this day: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2552700"/>
              </a:tblGrid>
              <a:tr h="0">
                <a:tc>
                  <a:txBody>
                    <a:bodyPr/>
                    <a:lstStyle/>
                    <a:p>
                      <a:pPr lvl="0" indent="0" marL="0">
                        <a:buNone/>
                      </a:pPr>
                      <a:r>
                        <a:rPr/>
                        <a:t>#</a:t>
                      </a:r>
                    </a:p>
                  </a:txBody>
                  <a:tcPr/>
                </a:tc>
                <a:tc>
                  <a:txBody>
                    <a:bodyPr/>
                    <a:lstStyle/>
                    <a:p>
                      <a:pPr lvl="0" indent="0" marL="0">
                        <a:buNone/>
                      </a:pPr>
                      <a:r>
                        <a:rPr/>
                        <a:t>Use</a:t>
                      </a:r>
                    </a:p>
                  </a:txBody>
                  <a:tcPr/>
                </a:tc>
                <a:tc>
                  <a:txBody>
                    <a:bodyPr/>
                    <a:lstStyle/>
                    <a:p>
                      <a:pPr lvl="0" indent="0" marL="0">
                        <a:buNone/>
                      </a:pPr>
                      <a:r>
                        <a:rPr/>
                        <a:t>Type of question</a:t>
                      </a:r>
                    </a:p>
                  </a:txBody>
                  <a:tcPr/>
                </a:tc>
              </a:tr>
              <a:tr h="0">
                <a:tc>
                  <a:txBody>
                    <a:bodyPr/>
                    <a:lstStyle/>
                    <a:p>
                      <a:pPr lvl="0" indent="0" marL="0">
                        <a:buNone/>
                      </a:pPr>
                      <a:r>
                        <a:rPr/>
                        <a:t>1</a:t>
                      </a:r>
                    </a:p>
                  </a:txBody>
                </a:tc>
                <a:tc>
                  <a:txBody>
                    <a:bodyPr/>
                    <a:lstStyle/>
                    <a:p>
                      <a:pPr lvl="0" indent="0" marL="0">
                        <a:buNone/>
                      </a:pPr>
                      <a:r>
                        <a:rPr/>
                        <a:t>Historical origins</a:t>
                      </a:r>
                    </a:p>
                  </a:txBody>
                </a:tc>
                <a:tc>
                  <a:txBody>
                    <a:bodyPr/>
                    <a:lstStyle/>
                    <a:p>
                      <a:pPr lvl="0" indent="0" marL="0">
                        <a:buNone/>
                      </a:pPr>
                      <a:r>
                        <a:rPr/>
                        <a:t>How did the map invent spatial social analysis?</a:t>
                      </a:r>
                    </a:p>
                  </a:txBody>
                </a:tc>
              </a:tr>
              <a:tr h="0">
                <a:tc>
                  <a:txBody>
                    <a:bodyPr/>
                    <a:lstStyle/>
                    <a:p>
                      <a:pPr lvl="0" indent="0" marL="0">
                        <a:buNone/>
                      </a:pPr>
                      <a:r>
                        <a:rPr/>
                        <a:t>2</a:t>
                      </a:r>
                    </a:p>
                  </a:txBody>
                </a:tc>
                <a:tc>
                  <a:txBody>
                    <a:bodyPr/>
                    <a:lstStyle/>
                    <a:p>
                      <a:pPr lvl="0" indent="0" marL="0">
                        <a:buNone/>
                      </a:pPr>
                      <a:r>
                        <a:rPr/>
                        <a:t>Explanatory variable and geospatial modelling</a:t>
                      </a:r>
                    </a:p>
                  </a:txBody>
                </a:tc>
                <a:tc>
                  <a:txBody>
                    <a:bodyPr/>
                    <a:lstStyle/>
                    <a:p>
                      <a:pPr lvl="0" indent="0" marL="0">
                        <a:buNone/>
                      </a:pPr>
                      <a:r>
                        <a:rPr/>
                        <a:t>Does climate, the environment… explain a social phenomenon? How do we estimate an indicator where it is not measured?</a:t>
                      </a:r>
                    </a:p>
                  </a:txBody>
                </a:tc>
              </a:tr>
              <a:tr h="0">
                <a:tc>
                  <a:txBody>
                    <a:bodyPr/>
                    <a:lstStyle/>
                    <a:p>
                      <a:pPr lvl="0" indent="0" marL="0">
                        <a:buNone/>
                      </a:pPr>
                      <a:r>
                        <a:rPr/>
                        <a:t>3</a:t>
                      </a:r>
                    </a:p>
                  </a:txBody>
                </a:tc>
                <a:tc>
                  <a:txBody>
                    <a:bodyPr/>
                    <a:lstStyle/>
                    <a:p>
                      <a:pPr lvl="0" indent="0" marL="0">
                        <a:buNone/>
                      </a:pPr>
                      <a:r>
                        <a:rPr/>
                        <a:t>Proxy variable</a:t>
                      </a:r>
                    </a:p>
                  </a:txBody>
                </a:tc>
                <a:tc>
                  <a:txBody>
                    <a:bodyPr/>
                    <a:lstStyle/>
                    <a:p>
                      <a:pPr lvl="0" indent="0" marL="0">
                        <a:buNone/>
                      </a:pPr>
                      <a:r>
                        <a:rPr/>
                        <a:t>Can we approximate an absent social datum with an observable geospatial datum?</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 The origins of social geography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19th century: the map before the theory</a:t>
            </a:r>
          </a:p>
        </p:txBody>
      </p:sp>
      <p:sp>
        <p:nvSpPr>
          <p:cNvPr id="3" name="Content Placeholder 2"/>
          <p:cNvSpPr>
            <a:spLocks noGrp="1"/>
          </p:cNvSpPr>
          <p:nvPr>
            <p:ph idx="1"/>
          </p:nvPr>
        </p:nvSpPr>
        <p:spPr/>
        <p:txBody>
          <a:bodyPr/>
          <a:lstStyle/>
          <a:p>
            <a:pPr lvl="0"/>
            <a:r>
              <a:rPr/>
              <a:t>Before GIS, pioneers hand-drew maps linking a social phenomenon to its precise location.</a:t>
            </a:r>
          </a:p>
          <a:p>
            <a:pPr lvl="0"/>
            <a:r>
              <a:rPr/>
              <a:t>Three founding examples, each in a different context: an epidemic (London, 1854), urban poverty (London, 1889-1903), the African American condition (Philadelphia, 1899).</a:t>
            </a:r>
          </a:p>
          <a:p>
            <a:pPr lvl="0"/>
            <a:r>
              <a:rPr/>
              <a:t>Common thread: mapping the micro (the street, the household) to reveal a macro phenomenon (contagion, social class, race).</a:t>
            </a:r>
          </a:p>
          <a:p>
            <a:pPr lvl="0"/>
            <a:r>
              <a:rPr/>
              <a:t>This work precedes modern spatial statistics and epidemiology as a discipline by several decades.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Snow and the Broad Street cholera outbreak (1854)</a:t>
            </a:r>
          </a:p>
        </p:txBody>
      </p:sp>
      <p:sp>
        <p:nvSpPr>
          <p:cNvPr id="3" name="Content Placeholder 2"/>
          <p:cNvSpPr>
            <a:spLocks noGrp="1"/>
          </p:cNvSpPr>
          <p:nvPr>
            <p:ph idx="1"/>
          </p:nvPr>
        </p:nvSpPr>
        <p:spPr/>
        <p:txBody>
          <a:bodyPr/>
          <a:lstStyle/>
          <a:p>
            <a:pPr lvl="0"/>
            <a:r>
              <a:rPr/>
              <a:t>London, the Soho district: a cholera outbreak kills over 600 people in a few days.</a:t>
            </a:r>
          </a:p>
          <a:p>
            <a:pPr lvl="0"/>
            <a:r>
              <a:rPr/>
              <a:t>The dominant theory of the time is “miasma” (foul air); Snow suspects transmission by water.</a:t>
            </a:r>
          </a:p>
          <a:p>
            <a:pPr lvl="0"/>
            <a:r>
              <a:rPr/>
              <a:t>His method: plot every death on a map, along with the location of the district’s public water pumps.</a:t>
            </a:r>
          </a:p>
          <a:p>
            <a:pPr lvl="0"/>
            <a:r>
              <a:rPr/>
              <a:t>The cluster of points concentrates around one particular pump, on Broad Street; its removal (removing the handle) precedes the end of the outbreak.</a:t>
            </a:r>
          </a:p>
          <a:p>
            <a:pPr lvl="0"/>
            <a:r>
              <a:rPr/>
              <a:t>Considered the founding act of modern spatial epidemiology.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Snow’s map</a:t>
            </a:r>
          </a:p>
        </p:txBody>
      </p:sp>
      <p:pic>
        <p:nvPicPr>
          <p:cNvPr descr="images/snow_map.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Map of deaths (black bars) and water pumps around Broad Street, Soho, 1854. Source: John Snow, </a:t>
            </a:r>
            <a:r>
              <a:rPr i="1"/>
              <a:t>On the Mode of Communication of Cholera</a:t>
            </a:r>
            <a:r>
              <a:rPr/>
              <a:t>, 1855.</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Charles Booth and mapping poverty in London (1889-1903)</a:t>
            </a:r>
          </a:p>
        </p:txBody>
      </p:sp>
      <p:sp>
        <p:nvSpPr>
          <p:cNvPr id="3" name="Content Placeholder 2"/>
          <p:cNvSpPr>
            <a:spLocks noGrp="1"/>
          </p:cNvSpPr>
          <p:nvPr>
            <p:ph idx="1"/>
          </p:nvPr>
        </p:nvSpPr>
        <p:spPr/>
        <p:txBody>
          <a:bodyPr/>
          <a:lstStyle/>
          <a:p>
            <a:pPr lvl="0"/>
            <a:r>
              <a:rPr/>
              <a:t>A social reformer and shipowner, Booth challenges the poverty estimates of the time, which he considers exaggerated by the socialist press.</a:t>
            </a:r>
          </a:p>
          <a:p>
            <a:pPr lvl="0"/>
            <a:r>
              <a:rPr/>
              <a:t>He funds a street-by-street survey of the whole of London, carried out with investigators and police officers who know each neighbourhood.</a:t>
            </a:r>
          </a:p>
          <a:p>
            <a:pPr lvl="0"/>
            <a:r>
              <a:rPr/>
              <a:t>Each street is classed into seven categories, from “lowest class, vicious, semi-criminal” (black) to “wealthy” (yellow), and coloured on a map.</a:t>
            </a:r>
          </a:p>
          <a:p>
            <a:pPr lvl="0"/>
            <a:r>
              <a:rPr/>
              <a:t>Result: the </a:t>
            </a:r>
            <a:r>
              <a:rPr i="1"/>
              <a:t>Maps Descriptive of London Poverty</a:t>
            </a:r>
            <a:r>
              <a:rPr/>
              <a:t>, in 12 sheets, published in </a:t>
            </a:r>
            <a:r>
              <a:rPr i="1"/>
              <a:t>Life and Labour of the People in London</a:t>
            </a:r>
            <a:r>
              <a:rPr/>
              <a:t>.</a:t>
            </a:r>
          </a:p>
          <a:p>
            <a:pPr lvl="0"/>
            <a:r>
              <a:rPr/>
              <a:t>Left a lasting mark on social survey methods and administrative thematic mapping.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Booth’s map</a:t>
            </a:r>
          </a:p>
        </p:txBody>
      </p:sp>
      <p:pic>
        <p:nvPicPr>
          <p:cNvPr descr="images/booth_map.jpg" id="0" name="Picture 1"/>
          <p:cNvPicPr>
            <a:picLocks noGrp="1" noChangeAspect="1"/>
          </p:cNvPicPr>
          <p:nvPr/>
        </p:nvPicPr>
        <p:blipFill>
          <a:blip r:embed="rId2"/>
          <a:stretch>
            <a:fillRect/>
          </a:stretch>
        </p:blipFill>
        <p:spPr bwMode="auto">
          <a:xfrm>
            <a:off x="2971800" y="1193800"/>
            <a:ext cx="3200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Extract from the descriptive map of London poverty, sheet 3 (northern districts), 1898-99. Source: Charles Booth, </a:t>
            </a:r>
            <a:r>
              <a:rPr i="1"/>
              <a:t>Life and Labour of the People in London</a:t>
            </a:r>
            <a:r>
              <a:rPr/>
              <a:t>; The British Library.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 E. B. Du Bois and the Seventh Ward of Philadelphia (1899)</a:t>
            </a:r>
          </a:p>
        </p:txBody>
      </p:sp>
      <p:sp>
        <p:nvSpPr>
          <p:cNvPr id="3" name="Content Placeholder 2"/>
          <p:cNvSpPr>
            <a:spLocks noGrp="1"/>
          </p:cNvSpPr>
          <p:nvPr>
            <p:ph idx="1"/>
          </p:nvPr>
        </p:nvSpPr>
        <p:spPr/>
        <p:txBody>
          <a:bodyPr/>
          <a:lstStyle/>
          <a:p>
            <a:pPr lvl="0"/>
            <a:r>
              <a:rPr/>
              <a:t>The first African American sociologist to earn a doctorate from Harvard, Du Bois is commissioned by the University of Pennsylvania to study the “Negro question” in Philadelphia’s seventh ward.</a:t>
            </a:r>
          </a:p>
          <a:p>
            <a:pPr lvl="0"/>
            <a:r>
              <a:rPr/>
              <a:t>He conducts a door-to-door survey of over 2,500 households and maps the social class of every home, street by street.</a:t>
            </a:r>
          </a:p>
          <a:p>
            <a:pPr lvl="0"/>
            <a:r>
              <a:rPr/>
              <a:t>The resulting book, </a:t>
            </a:r>
            <a:r>
              <a:rPr i="1"/>
              <a:t>The Philadelphia Negro</a:t>
            </a:r>
            <a:r>
              <a:rPr/>
              <a:t> (1899), is the first empirical urban sociological study of this scale in the United States.</a:t>
            </a:r>
          </a:p>
          <a:p>
            <a:pPr lvl="0"/>
            <a:r>
              <a:rPr/>
              <a:t>He later presents, at the Paris Exposition Universelle (1900), a series of maps and statistical infographics on the African American population, work that remained under-recognised for a long time.</a:t>
            </a:r>
          </a:p>
          <a:p>
            <a:pPr lvl="0"/>
            <a:r>
              <a:rPr/>
              <a:t>Like Booth, whose method Du Bois studied, the goal is to replace prejudice with systematic measurement, street by street.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Du Bois’s map</a:t>
            </a:r>
          </a:p>
        </p:txBody>
      </p:sp>
      <p:pic>
        <p:nvPicPr>
          <p:cNvPr descr="images/dubois_map.jpg" id="0" name="Picture 1"/>
          <p:cNvPicPr>
            <a:picLocks noGrp="1" noChangeAspect="1"/>
          </p:cNvPicPr>
          <p:nvPr/>
        </p:nvPicPr>
        <p:blipFill>
          <a:blip r:embed="rId2"/>
          <a:stretch>
            <a:fillRect/>
          </a:stretch>
        </p:blipFill>
        <p:spPr bwMode="auto">
          <a:xfrm>
            <a:off x="2654300" y="1193800"/>
            <a:ext cx="3848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Social class map by block, </a:t>
            </a:r>
            <a:r>
              <a:rPr i="1"/>
              <a:t>The Philadelphia Negro</a:t>
            </a:r>
            <a:r>
              <a:rPr/>
              <a:t>, W. E. B. Du Bois, 1899. Source: </a:t>
            </a:r>
            <a:r>
              <a:rPr i="1"/>
              <a:t>THE WARD</a:t>
            </a:r>
            <a:r>
              <a:rPr/>
              <a:t> project, digital exhibition.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these three maps have in common</a:t>
            </a:r>
          </a:p>
        </p:txBody>
      </p:sp>
      <p:sp>
        <p:nvSpPr>
          <p:cNvPr id="3" name="Content Placeholder 2"/>
          <p:cNvSpPr>
            <a:spLocks noGrp="1"/>
          </p:cNvSpPr>
          <p:nvPr>
            <p:ph idx="1"/>
          </p:nvPr>
        </p:nvSpPr>
        <p:spPr/>
        <p:txBody>
          <a:bodyPr/>
          <a:lstStyle/>
          <a:p>
            <a:pPr lvl="0"/>
            <a:r>
              <a:rPr/>
              <a:t>A </a:t>
            </a:r>
            <a:r>
              <a:rPr b="1"/>
              <a:t>fine-grained unit of observation</a:t>
            </a:r>
            <a:r>
              <a:rPr/>
              <a:t> (the address, the street, the household) allowing variations invisible at city or country scale to be seen.</a:t>
            </a:r>
          </a:p>
          <a:p>
            <a:pPr lvl="0"/>
            <a:r>
              <a:rPr/>
              <a:t>A </a:t>
            </a:r>
            <a:r>
              <a:rPr b="1"/>
              <a:t>heavy, direct fieldwork collection</a:t>
            </a:r>
            <a:r>
              <a:rPr/>
              <a:t>: no pre-existing administrative data, everything is surveyed or observed.</a:t>
            </a:r>
          </a:p>
          <a:p>
            <a:pPr lvl="0"/>
            <a:r>
              <a:rPr/>
              <a:t>A goal of </a:t>
            </a:r>
            <a:r>
              <a:rPr b="1"/>
              <a:t>visual proof</a:t>
            </a:r>
            <a:r>
              <a:rPr/>
              <a:t> intended to convince decision-makers or a sceptical public.</a:t>
            </a:r>
          </a:p>
          <a:p>
            <a:pPr lvl="0"/>
            <a:r>
              <a:rPr/>
              <a:t>Limitations already present: subjectivity of the coding (Booth’s classes), interviewer bias, data frozen at a single point in time.</a:t>
            </a:r>
          </a:p>
          <a:p>
            <a:pPr lvl="0"/>
            <a:r>
              <a:rPr/>
              <a:t>These are the direct ancestors of the GIS and spatial statistics used today, including in this afternoon’s ACLED/ERA5 workshop.</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origins of social geography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Snow (1854)</a:t>
                      </a:r>
                    </a:p>
                  </a:txBody>
                </a:tc>
                <a:tc>
                  <a:txBody>
                    <a:bodyPr/>
                    <a:lstStyle/>
                    <a:p>
                      <a:pPr lvl="0" indent="0" marL="0">
                        <a:buNone/>
                      </a:pPr>
                      <a:r>
                        <a:rPr/>
                        <a:t>Field survey: deaths recorded house by house, location of the district’s water pumps</a:t>
                      </a:r>
                    </a:p>
                  </a:txBody>
                </a:tc>
              </a:tr>
              <a:tr h="0">
                <a:tc>
                  <a:txBody>
                    <a:bodyPr/>
                    <a:lstStyle/>
                    <a:p>
                      <a:pPr lvl="0" indent="0" marL="0">
                        <a:buNone/>
                      </a:pPr>
                      <a:r>
                        <a:rPr/>
                        <a:t>Booth (1889-1903)</a:t>
                      </a:r>
                    </a:p>
                  </a:txBody>
                </a:tc>
                <a:tc>
                  <a:txBody>
                    <a:bodyPr/>
                    <a:lstStyle/>
                    <a:p>
                      <a:pPr lvl="0" indent="0" marL="0">
                        <a:buNone/>
                      </a:pPr>
                      <a:r>
                        <a:rPr/>
                        <a:t>Street-by-street field survey (investigators and police officers), across the whole of London</a:t>
                      </a:r>
                    </a:p>
                  </a:txBody>
                </a:tc>
              </a:tr>
              <a:tr h="0">
                <a:tc>
                  <a:txBody>
                    <a:bodyPr/>
                    <a:lstStyle/>
                    <a:p>
                      <a:pPr lvl="0" indent="0" marL="0">
                        <a:buNone/>
                      </a:pPr>
                      <a:r>
                        <a:rPr/>
                        <a:t>Du Bois (1899)</a:t>
                      </a:r>
                    </a:p>
                  </a:txBody>
                </a:tc>
                <a:tc>
                  <a:txBody>
                    <a:bodyPr/>
                    <a:lstStyle/>
                    <a:p>
                      <a:pPr lvl="0" indent="0" marL="0">
                        <a:buNone/>
                      </a:pPr>
                      <a:r>
                        <a:rPr/>
                        <a:t>Door-to-door survey of over 2,500 households, 7th ward of Philadelphia</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 Geospatial variables as explanatory variables and geospatial modelling</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the descriptive map to the explanatory variable</a:t>
            </a:r>
          </a:p>
        </p:txBody>
      </p:sp>
      <p:sp>
        <p:nvSpPr>
          <p:cNvPr id="3" name="Content Placeholder 2"/>
          <p:cNvSpPr>
            <a:spLocks noGrp="1"/>
          </p:cNvSpPr>
          <p:nvPr>
            <p:ph idx="1"/>
          </p:nvPr>
        </p:nvSpPr>
        <p:spPr/>
        <p:txBody>
          <a:bodyPr/>
          <a:lstStyle/>
          <a:p>
            <a:pPr lvl="0"/>
            <a:r>
              <a:rPr/>
              <a:t>Once the map has been established, the next step is to test whether a geospatial variable (climate, environment, distance…) </a:t>
            </a:r>
            <a:r>
              <a:rPr b="1"/>
              <a:t>statistically explains</a:t>
            </a:r>
            <a:r>
              <a:rPr/>
              <a:t> a social phenomenon.</a:t>
            </a:r>
          </a:p>
          <a:p>
            <a:pPr lvl="0"/>
            <a:r>
              <a:rPr/>
              <a:t>We move on from pure description to inference: regression, fixed-effects models, causality.</a:t>
            </a:r>
          </a:p>
          <a:p>
            <a:pPr lvl="0"/>
            <a:r>
              <a:rPr/>
              <a:t>Three recent examples, three different scales: the African continent, two regions of the Global South, a city at war.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(2012): rainfall and social conflict in Africa</a:t>
            </a:r>
          </a:p>
        </p:txBody>
      </p:sp>
      <p:sp>
        <p:nvSpPr>
          <p:cNvPr id="3" name="Content Placeholder 2"/>
          <p:cNvSpPr>
            <a:spLocks noGrp="1"/>
          </p:cNvSpPr>
          <p:nvPr>
            <p:ph idx="1"/>
          </p:nvPr>
        </p:nvSpPr>
        <p:spPr/>
        <p:txBody>
          <a:bodyPr/>
          <a:lstStyle/>
          <a:p>
            <a:pPr lvl="0"/>
            <a:r>
              <a:rPr/>
              <a:t>Question: do departures of rainfall from normal explain riots, protests and violence in Africa?</a:t>
            </a:r>
          </a:p>
          <a:p>
            <a:pPr lvl="0"/>
            <a:r>
              <a:rPr/>
              <a:t>Data: over 6,000 social conflict events (</a:t>
            </a:r>
            <a:r>
              <a:rPr i="1"/>
              <a:t>Social Conflict in Africa Database</a:t>
            </a:r>
            <a:r>
              <a:rPr/>
              <a:t>, 1990-2009) cross-referenced with rainfall deviations standardised by country (</a:t>
            </a:r>
            <a:r>
              <a:rPr i="1"/>
              <a:t>Global Precipitation Climatology Project</a:t>
            </a:r>
            <a:r>
              <a:rPr/>
              <a:t>).</a:t>
            </a:r>
          </a:p>
          <a:p>
            <a:pPr lvl="0"/>
            <a:r>
              <a:rPr/>
              <a:t>Result: rainfall deviations (too much rain </a:t>
            </a:r>
            <a:r>
              <a:rPr b="1"/>
              <a:t>or</a:t>
            </a:r>
            <a:r>
              <a:rPr/>
              <a:t> too little) are associated with more conflict, with a stronger effect for violent events.</a:t>
            </a:r>
          </a:p>
          <a:p>
            <a:pPr lvl="0"/>
            <a:r>
              <a:rPr/>
              <a:t>Methodological lesson: rainfall is used as an </a:t>
            </a:r>
            <a:r>
              <a:rPr i="1"/>
              <a:t>exogenous</a:t>
            </a:r>
            <a:r>
              <a:rPr/>
              <a:t> explanatory variable, unlikely itself to be caused by conflict, an asset for causal inference.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Hendrix &amp; Salehyan: social conflict events in Africa</a:t>
            </a:r>
          </a:p>
        </p:txBody>
      </p:sp>
      <p:pic>
        <p:nvPicPr>
          <p:cNvPr descr="images/paste-2.png" id="0" name="Picture 1"/>
          <p:cNvPicPr>
            <a:picLocks noGrp="1" noChangeAspect="1"/>
          </p:cNvPicPr>
          <p:nvPr/>
        </p:nvPicPr>
        <p:blipFill>
          <a:blip r:embed="rId2"/>
          <a:stretch>
            <a:fillRect/>
          </a:stretch>
        </p:blipFill>
        <p:spPr bwMode="auto">
          <a:xfrm>
            <a:off x="1803400" y="1193800"/>
            <a:ext cx="55245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(2014): drought and civil war</a:t>
            </a:r>
          </a:p>
        </p:txBody>
      </p:sp>
      <p:sp>
        <p:nvSpPr>
          <p:cNvPr id="3" name="Content Placeholder 2"/>
          <p:cNvSpPr>
            <a:spLocks noGrp="1"/>
          </p:cNvSpPr>
          <p:nvPr>
            <p:ph idx="1"/>
          </p:nvPr>
        </p:nvSpPr>
        <p:spPr/>
        <p:txBody>
          <a:bodyPr/>
          <a:lstStyle/>
          <a:p>
            <a:pPr lvl="0"/>
            <a:r>
              <a:rPr/>
              <a:t>Question: does the link between drought and civil war hold up to stricter control for global climate shocks (common to all countries in the same year)?</a:t>
            </a:r>
          </a:p>
          <a:p>
            <a:pPr lvl="0"/>
            <a:r>
              <a:rPr/>
              <a:t>Data: Palmer Drought Severity Index (PDSI, combining precipitation, temperature and soil), aggregated by country-year for sub-Saharan Africa, 1950-2005.</a:t>
            </a:r>
          </a:p>
          <a:p>
            <a:pPr lvl="0"/>
            <a:r>
              <a:rPr/>
              <a:t>Method: a difference-in-differences specification with country </a:t>
            </a:r>
            <a:r>
              <a:rPr b="1"/>
              <a:t>and</a:t>
            </a:r>
            <a:r>
              <a:rPr/>
              <a:t> year fixed effects, to isolate variation specific to each country rather than global climate shocks (e.g. El Niño).</a:t>
            </a:r>
          </a:p>
          <a:p>
            <a:pPr lvl="0"/>
            <a:r>
              <a:rPr/>
              <a:t>Result: the rainfall/temperature-conflict link found in the literature weakens sharply and becomes barely significant once global shocks are controlled for; with the PDSI, a finer measure of water stress, a weak positive link reappears.</a:t>
            </a:r>
          </a:p>
          <a:p>
            <a:pPr lvl="0"/>
            <a:r>
              <a:rPr/>
              <a:t>Key message, echoing Hendrix &amp; Salehyan: a geospatial variable only “explains” a social phenomenon if confounding factors are seriously controlled for.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Couttenier &amp; Soubeyran: maps of the drought index in Africa</a:t>
            </a:r>
          </a:p>
        </p:txBody>
      </p:sp>
      <p:pic>
        <p:nvPicPr>
          <p:cNvPr descr="images/paste-4.png" id="0" name="Picture 1"/>
          <p:cNvPicPr>
            <a:picLocks noGrp="1" noChangeAspect="1"/>
          </p:cNvPicPr>
          <p:nvPr/>
        </p:nvPicPr>
        <p:blipFill>
          <a:blip r:embed="rId2"/>
          <a:stretch>
            <a:fillRect/>
          </a:stretch>
        </p:blipFill>
        <p:spPr bwMode="auto">
          <a:xfrm>
            <a:off x="2171700" y="1193800"/>
            <a:ext cx="4800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(2026): temperature and sex ratio at birth</a:t>
            </a:r>
          </a:p>
        </p:txBody>
      </p:sp>
      <p:sp>
        <p:nvSpPr>
          <p:cNvPr id="3" name="Content Placeholder 2"/>
          <p:cNvSpPr>
            <a:spLocks noGrp="1"/>
          </p:cNvSpPr>
          <p:nvPr>
            <p:ph idx="1"/>
          </p:nvPr>
        </p:nvSpPr>
        <p:spPr/>
        <p:txBody>
          <a:bodyPr/>
          <a:lstStyle/>
          <a:p>
            <a:pPr lvl="0"/>
            <a:r>
              <a:rPr/>
              <a:t>Question: does heat exposure during pregnancy alter the ratio of girls to boys at birth?</a:t>
            </a:r>
          </a:p>
          <a:p>
            <a:pPr lvl="0"/>
            <a:r>
              <a:rPr/>
              <a:t>Data: 5 million births from DHS surveys in 33 sub-Saharan African countries and India, cross-referenced with high-resolution daily temperature data.</a:t>
            </a:r>
          </a:p>
          <a:p>
            <a:pPr lvl="0"/>
            <a:r>
              <a:rPr/>
              <a:t>Proposed mechanism: heat increases prenatal mortality, particularly among male fetuses (more fragile in utero), and may also favour selective abortion where son preference is strong (India).</a:t>
            </a:r>
          </a:p>
          <a:p>
            <a:pPr lvl="0"/>
            <a:r>
              <a:rPr/>
              <a:t>Result: days above 20°C during the first trimester are associated with fewer male births, in both sub-Saharan Africa and India.</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Abdel-Ghany et al.: the mechanism tested</a:t>
            </a:r>
          </a:p>
        </p:txBody>
      </p:sp>
      <p:pic>
        <p:nvPicPr>
          <p:cNvPr descr="images/ghany_fig1.png" id="0" name="Picture 1"/>
          <p:cNvPicPr>
            <a:picLocks noGrp="1" noChangeAspect="1"/>
          </p:cNvPicPr>
          <p:nvPr/>
        </p:nvPicPr>
        <p:blipFill>
          <a:blip r:embed="rId2"/>
          <a:stretch>
            <a:fillRect/>
          </a:stretch>
        </p:blipFill>
        <p:spPr bwMode="auto">
          <a:xfrm>
            <a:off x="2908300" y="1193800"/>
            <a:ext cx="3327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Conceptual framework of the biological and behavioural mechanisms linking heat exposure and sex-differentiated prenatal mortality. Source: Abdel-Ghany et al., </a:t>
            </a:r>
            <a:r>
              <a:rPr i="1"/>
              <a:t>PNAS</a:t>
            </a:r>
            <a:r>
              <a:rPr/>
              <a:t>, 2026.</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(2026): digital data and forced displacement in Gaza</a:t>
            </a:r>
          </a:p>
        </p:txBody>
      </p:sp>
      <p:sp>
        <p:nvSpPr>
          <p:cNvPr id="3" name="Content Placeholder 2"/>
          <p:cNvSpPr>
            <a:spLocks noGrp="1"/>
          </p:cNvSpPr>
          <p:nvPr>
            <p:ph idx="1"/>
          </p:nvPr>
        </p:nvSpPr>
        <p:spPr/>
        <p:txBody>
          <a:bodyPr/>
          <a:lstStyle/>
          <a:p>
            <a:pPr lvl="0"/>
            <a:r>
              <a:rPr/>
              <a:t>Question: can the scale and pace of forced population displacement be tracked at high frequency using digital data, when usual collection systems are disrupted?</a:t>
            </a:r>
          </a:p>
          <a:p>
            <a:pPr lvl="0"/>
            <a:r>
              <a:rPr/>
              <a:t>Data: population estimates derived from the Facebook marketing API, set against conflict events (ACLED), evacuation orders, and building damage (Sentinel-1 radar imagery).</a:t>
            </a:r>
          </a:p>
          <a:p>
            <a:pPr lvl="0"/>
            <a:r>
              <a:rPr/>
              <a:t>These geospatial and temporal variables (events, evacuations, damage) are used to </a:t>
            </a:r>
            <a:r>
              <a:rPr b="1"/>
              <a:t>explain</a:t>
            </a:r>
            <a:r>
              <a:rPr/>
              <a:t> the dynamics and pace of population displacement.</a:t>
            </a:r>
          </a:p>
          <a:p>
            <a:pPr lvl="0"/>
            <a:r>
              <a:rPr/>
              <a:t>Result: up to 70% of Gaza’s population displaced between 7 October 2023 and 15 May 2024, with growing volatility in population movements as the conflict continues.</a:t>
            </a:r>
          </a:p>
          <a:p>
            <a:pPr lvl="0"/>
            <a:r>
              <a:rPr/>
              <a:t>Study led by the Oxford demography team; Douglas Leasure and Ridhi Kashyap, co-authors, also appear in section 2 of this course.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Darin, Kashyap &amp; Leasure: the dynamics of displacement in Gaza</a:t>
            </a:r>
          </a:p>
        </p:txBody>
      </p:sp>
      <p:pic>
        <p:nvPicPr>
          <p:cNvPr descr="images/paste-5.png" id="0" name="Picture 1"/>
          <p:cNvPicPr>
            <a:picLocks noGrp="1" noChangeAspect="1"/>
          </p:cNvPicPr>
          <p:nvPr/>
        </p:nvPicPr>
        <p:blipFill>
          <a:blip r:embed="rId2"/>
          <a:stretch>
            <a:fillRect/>
          </a:stretch>
        </p:blipFill>
        <p:spPr bwMode="auto">
          <a:xfrm>
            <a:off x="2895600" y="1193800"/>
            <a:ext cx="33655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explanatory variables: summary</a:t>
            </a:r>
          </a:p>
        </p:txBody>
      </p:sp>
      <p:sp>
        <p:nvSpPr>
          <p:cNvPr id="3" name="Content Placeholder 2"/>
          <p:cNvSpPr>
            <a:spLocks noGrp="1"/>
          </p:cNvSpPr>
          <p:nvPr>
            <p:ph idx="1"/>
          </p:nvPr>
        </p:nvSpPr>
        <p:spPr/>
        <p:txBody>
          <a:bodyPr/>
          <a:lstStyle/>
          <a:p>
            <a:pPr lvl="0"/>
            <a:r>
              <a:rPr/>
              <a:t>A geospatial variable becomes </a:t>
            </a:r>
            <a:r>
              <a:rPr i="1"/>
              <a:t>explanatory</a:t>
            </a:r>
            <a:r>
              <a:rPr/>
              <a:t> when it is used to statistically account for a social phenomenon, with a goal of inference (association, sometimes causality).</a:t>
            </a:r>
          </a:p>
          <a:p>
            <a:pPr lvl="0"/>
            <a:r>
              <a:rPr/>
              <a:t>The four examples share a common structure: a </a:t>
            </a:r>
            <a:r>
              <a:rPr b="1"/>
              <a:t>geolocated shock or exposure</a:t>
            </a:r>
            <a:r>
              <a:rPr/>
              <a:t> (rain, drought, heat, conflict, evacuation) set against a </a:t>
            </a:r>
            <a:r>
              <a:rPr b="1"/>
              <a:t>social indicator</a:t>
            </a:r>
            <a:r>
              <a:rPr/>
              <a:t> (conflict, sex ratio, displacement).</a:t>
            </a:r>
          </a:p>
          <a:p>
            <a:pPr lvl="0"/>
            <a:r>
              <a:rPr/>
              <a:t>Common point of caution: confounding, reverse causality, quality and spatial resolution of the geospatial variable used; Couttenier &amp; Soubeyran illustrate this well against Hendrix &amp; Salehyan.</a:t>
            </a:r>
          </a:p>
          <a:p>
            <a:pPr lvl="0"/>
            <a:r>
              <a:rPr/>
              <a:t>Link to this afternoon’s workshop: ACLED and ERA5 are precisely the type of data used in these four articles.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geospatial explanatory variables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Hendrix &amp; Salehyan (2012)</a:t>
                      </a:r>
                    </a:p>
                  </a:txBody>
                </a:tc>
                <a:tc>
                  <a:txBody>
                    <a:bodyPr/>
                    <a:lstStyle/>
                    <a:p>
                      <a:pPr lvl="0" indent="0" marL="0">
                        <a:buNone/>
                      </a:pPr>
                      <a:r>
                        <a:rPr i="1"/>
                        <a:t>Social Conflict in Africa Database</a:t>
                      </a:r>
                      <a:r>
                        <a:rPr/>
                        <a:t> (SCAD); </a:t>
                      </a:r>
                      <a:r>
                        <a:rPr i="1"/>
                        <a:t>Global Precipitation Climatology Project</a:t>
                      </a:r>
                      <a:r>
                        <a:rPr/>
                        <a:t> (GPCP)</a:t>
                      </a:r>
                    </a:p>
                  </a:txBody>
                </a:tc>
              </a:tr>
              <a:tr h="0">
                <a:tc>
                  <a:txBody>
                    <a:bodyPr/>
                    <a:lstStyle/>
                    <a:p>
                      <a:pPr lvl="0" indent="0" marL="0">
                        <a:buNone/>
                      </a:pPr>
                      <a:r>
                        <a:rPr/>
                        <a:t>Couttenier &amp; Soubeyran (2014)</a:t>
                      </a:r>
                    </a:p>
                  </a:txBody>
                </a:tc>
                <a:tc>
                  <a:txBody>
                    <a:bodyPr/>
                    <a:lstStyle/>
                    <a:p>
                      <a:pPr lvl="0" indent="0" marL="0">
                        <a:buNone/>
                      </a:pPr>
                      <a:r>
                        <a:rPr/>
                        <a:t>PDSI drought index (Dai </a:t>
                      </a:r>
                      <a:r>
                        <a:rPr i="1"/>
                        <a:t>et al.</a:t>
                      </a:r>
                      <a:r>
                        <a:rPr/>
                        <a:t>, 2004); </a:t>
                      </a:r>
                      <a:r>
                        <a:rPr i="1"/>
                        <a:t>UCDP/PRIO Armed Conflict Dataset</a:t>
                      </a:r>
                    </a:p>
                  </a:txBody>
                </a:tc>
              </a:tr>
              <a:tr h="0">
                <a:tc>
                  <a:txBody>
                    <a:bodyPr/>
                    <a:lstStyle/>
                    <a:p>
                      <a:pPr lvl="0" indent="0" marL="0">
                        <a:buNone/>
                      </a:pPr>
                      <a:r>
                        <a:rPr/>
                        <a:t>Abdel-Ghany et al. (2026)</a:t>
                      </a:r>
                    </a:p>
                  </a:txBody>
                </a:tc>
                <a:tc>
                  <a:txBody>
                    <a:bodyPr/>
                    <a:lstStyle/>
                    <a:p>
                      <a:pPr lvl="0" indent="0" marL="0">
                        <a:buNone/>
                      </a:pPr>
                      <a:r>
                        <a:rPr/>
                        <a:t>DHS (104 surveys, 33 sub-Saharan African countries + India); daily NOAA CPC temperature (0.5° grid); CRU precipitation (University of East Anglia)</a:t>
                      </a:r>
                    </a:p>
                  </a:txBody>
                </a:tc>
              </a:tr>
              <a:tr h="0">
                <a:tc>
                  <a:txBody>
                    <a:bodyPr/>
                    <a:lstStyle/>
                    <a:p>
                      <a:pPr lvl="0" indent="0" marL="0">
                        <a:buNone/>
                      </a:pPr>
                      <a:r>
                        <a:rPr/>
                        <a:t>Darin, Kashyap &amp; Leasure (2026)</a:t>
                      </a:r>
                    </a:p>
                  </a:txBody>
                </a:tc>
                <a:tc>
                  <a:txBody>
                    <a:bodyPr/>
                    <a:lstStyle/>
                    <a:p>
                      <a:pPr lvl="0" indent="0" marL="0">
                        <a:buNone/>
                      </a:pPr>
                      <a:r>
                        <a:rPr/>
                        <a:t>Facebook marketing API; ACLED; evacuation orders (X/Twitter, Facebook, </a:t>
                      </a:r>
                      <a:r>
                        <a:rPr i="1"/>
                        <a:t>Forensic Architecture</a:t>
                      </a:r>
                      <a:r>
                        <a:rPr/>
                        <a:t>); building damage (Copernicus Sentinel-1 radar); UNRWA situation reports</a:t>
                      </a:r>
                    </a:p>
                  </a:txBody>
                </a:tc>
              </a:tr>
            </a:tbl>
          </a:graphicData>
        </a:graphic>
      </p:graphicFrame>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modelling</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Estimating what is not measured everywhere</a:t>
            </a:r>
          </a:p>
        </p:txBody>
      </p:sp>
      <p:sp>
        <p:nvSpPr>
          <p:cNvPr id="3" name="Content Placeholder 2"/>
          <p:cNvSpPr>
            <a:spLocks noGrp="1"/>
          </p:cNvSpPr>
          <p:nvPr>
            <p:ph idx="1"/>
          </p:nvPr>
        </p:nvSpPr>
        <p:spPr/>
        <p:txBody>
          <a:bodyPr/>
          <a:lstStyle/>
          <a:p>
            <a:pPr lvl="0"/>
            <a:r>
              <a:rPr/>
              <a:t>Social surveys (censuses, DHS…) never cover the entire territory or every point in time.</a:t>
            </a:r>
          </a:p>
          <a:p>
            <a:pPr lvl="0"/>
            <a:r>
              <a:rPr/>
              <a:t>Geospatial modelling consists of </a:t>
            </a:r>
            <a:r>
              <a:rPr b="1"/>
              <a:t>predicting</a:t>
            </a:r>
            <a:r>
              <a:rPr/>
              <a:t> an indicator at every point in space, based on available observations and correlated geospatial covariates (climate, land cover, accessibility…).</a:t>
            </a:r>
          </a:p>
          <a:p>
            <a:pPr lvl="0"/>
            <a:r>
              <a:rPr/>
              <a:t>Typical approach: a Bayesian geostatistical model, producing both a point estimate and an uncertainty map.</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(2020): how is it actually done?</a:t>
            </a:r>
          </a:p>
        </p:txBody>
      </p:sp>
      <p:sp>
        <p:nvSpPr>
          <p:cNvPr id="3" name="Content Placeholder 2"/>
          <p:cNvSpPr>
            <a:spLocks noGrp="1"/>
          </p:cNvSpPr>
          <p:nvPr>
            <p:ph idx="1"/>
          </p:nvPr>
        </p:nvSpPr>
        <p:spPr/>
        <p:txBody>
          <a:bodyPr/>
          <a:lstStyle/>
          <a:p>
            <a:pPr lvl="0"/>
            <a:r>
              <a:rPr/>
              <a:t>A systematic review of the literature on geospatial estimation of reproductive, maternal, neonatal and child health indicators.</a:t>
            </a:r>
          </a:p>
          <a:p>
            <a:pPr lvl="0"/>
            <a:r>
              <a:rPr/>
              <a:t>Objective: document the methodological choices (data source, covariates, modelling technique, resolution, validation) used in this field of research.</a:t>
            </a:r>
          </a:p>
          <a:p>
            <a:pPr lvl="0"/>
            <a:r>
              <a:rPr/>
              <a:t>Finding: substantial heterogeneity of practice, but a general pattern common to most studies.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Ferreira et al.: the general pattern of a geospatial estimation</a:t>
            </a:r>
          </a:p>
        </p:txBody>
      </p:sp>
      <p:pic>
        <p:nvPicPr>
          <p:cNvPr descr="images/ferreira_fig1.png" id="0" name="Picture 1"/>
          <p:cNvPicPr>
            <a:picLocks noGrp="1" noChangeAspect="1"/>
          </p:cNvPicPr>
          <p:nvPr/>
        </p:nvPicPr>
        <p:blipFill>
          <a:blip r:embed="rId2"/>
          <a:stretch>
            <a:fillRect/>
          </a:stretch>
        </p:blipFill>
        <p:spPr bwMode="auto">
          <a:xfrm>
            <a:off x="3365500" y="1193800"/>
            <a:ext cx="2400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Overview of a geospatial estimation process. Source: Ferreira et al., </a:t>
            </a:r>
            <a:r>
              <a:rPr i="1"/>
              <a:t>International Journal of Health Geographics</a:t>
            </a:r>
            <a:r>
              <a:rPr/>
              <a:t>, 2020 (adapted from Mayala et al.).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(2017): mapping under-5 mortality in Africa</a:t>
            </a:r>
          </a:p>
        </p:txBody>
      </p:sp>
      <p:sp>
        <p:nvSpPr>
          <p:cNvPr id="3" name="Content Placeholder 2"/>
          <p:cNvSpPr>
            <a:spLocks noGrp="1"/>
          </p:cNvSpPr>
          <p:nvPr>
            <p:ph idx="1"/>
          </p:nvPr>
        </p:nvSpPr>
        <p:spPr/>
        <p:txBody>
          <a:bodyPr/>
          <a:lstStyle/>
          <a:p>
            <a:pPr lvl="0"/>
            <a:r>
              <a:rPr/>
              <a:t>Question: what is under-5 mortality at very fine scale (5×5 km) everywhere in Africa, from 2000 to 2015?</a:t>
            </a:r>
          </a:p>
          <a:p>
            <a:pPr lvl="0"/>
            <a:r>
              <a:rPr/>
              <a:t>Method: a Bayesian geostatistical model combining several sub-models (regression, random forests, boosting) via </a:t>
            </a:r>
            <a:r>
              <a:rPr i="1"/>
              <a:t>stacking</a:t>
            </a:r>
            <a:r>
              <a:rPr/>
              <a:t>, with spatio-temporal autocorrelation, calibrated on national </a:t>
            </a:r>
            <a:r>
              <a:rPr i="1"/>
              <a:t>Global Burden of Disease</a:t>
            </a:r>
            <a:r>
              <a:rPr/>
              <a:t> estimates.</a:t>
            </a:r>
          </a:p>
          <a:p>
            <a:pPr lvl="0"/>
            <a:r>
              <a:rPr/>
              <a:t>Result: a clear decline in mortality between 2000 and 2015, but persistent, sharp sub-national disparities; some areas of Chad, Mali, and Nigeria remain above 170 deaths per 1,000 live births.</a:t>
            </a:r>
          </a:p>
          <a:p>
            <a:pPr lvl="0"/>
            <a:r>
              <a:rPr/>
              <a:t>Published in </a:t>
            </a:r>
            <a:r>
              <a:rPr i="1"/>
              <a:t>The Lancet</a:t>
            </a:r>
            <a:r>
              <a:rPr/>
              <a:t>; lead author: Nick Golding.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Golding et al.: under-5 mortality, 2010 and 2015</a:t>
            </a:r>
          </a:p>
        </p:txBody>
      </p:sp>
      <p:pic>
        <p:nvPicPr>
          <p:cNvPr descr="images/golding_fig2.png" id="0" name="Picture 1"/>
          <p:cNvPicPr>
            <a:picLocks noGrp="1" noChangeAspect="1"/>
          </p:cNvPicPr>
          <p:nvPr/>
        </p:nvPicPr>
        <p:blipFill>
          <a:blip r:embed="rId2"/>
          <a:stretch>
            <a:fillRect/>
          </a:stretch>
        </p:blipFill>
        <p:spPr bwMode="auto">
          <a:xfrm>
            <a:off x="1879600" y="1193800"/>
            <a:ext cx="5397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Under-5 mortality rate at 5×5 km resolution, 2010 and 2015. Source: Golding et al., </a:t>
            </a:r>
            <a:r>
              <a:rPr i="1"/>
              <a:t>The Lancet</a:t>
            </a:r>
            <a:r>
              <a:rPr/>
              <a:t>, 2017.</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(2021): mapping measles vaccination coverage</a:t>
            </a:r>
          </a:p>
        </p:txBody>
      </p:sp>
      <p:sp>
        <p:nvSpPr>
          <p:cNvPr id="3" name="Content Placeholder 2"/>
          <p:cNvSpPr>
            <a:spLocks noGrp="1"/>
          </p:cNvSpPr>
          <p:nvPr>
            <p:ph idx="1"/>
          </p:nvPr>
        </p:nvSpPr>
        <p:spPr/>
        <p:txBody>
          <a:bodyPr/>
          <a:lstStyle/>
          <a:p>
            <a:pPr lvl="0"/>
            <a:r>
              <a:rPr/>
              <a:t>Question: how did measles vaccination coverage (first dose, MCV1) evolve in 101 low- and middle-income countries between 2000 and 2019, at district level?</a:t>
            </a:r>
          </a:p>
          <a:p>
            <a:pPr lvl="0"/>
            <a:r>
              <a:rPr/>
              <a:t>Method: Bayesian geospatial modelling from household surveys, with quantification of sub-national geographic inequality (Gini coefficient).</a:t>
            </a:r>
          </a:p>
          <a:p>
            <a:pPr lvl="0"/>
            <a:r>
              <a:rPr/>
              <a:t>Result: global coverage rose from 65.6% to 81.0%, but progress slowed markedly after 2010, with persistent inequalities between urban and remote rural areas.</a:t>
            </a:r>
          </a:p>
          <a:p>
            <a:pPr lvl="0"/>
            <a:r>
              <a:rPr/>
              <a:t>Published in </a:t>
            </a:r>
            <a:r>
              <a:rPr i="1"/>
              <a:t>Nature</a:t>
            </a:r>
            <a:r>
              <a:rPr/>
              <a:t>; research carried out with Jon Wakefield, a statistician specialising in Bayesian geostatistics applied to health.</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Wakefield et al.: MCV1 vaccination coverage, 2000-2019</a:t>
            </a:r>
          </a:p>
        </p:txBody>
      </p:sp>
      <p:pic>
        <p:nvPicPr>
          <p:cNvPr descr="images/wakefield_fig1.png" id="0" name="Picture 1"/>
          <p:cNvPicPr>
            <a:picLocks noGrp="1" noChangeAspect="1"/>
          </p:cNvPicPr>
          <p:nvPr/>
        </p:nvPicPr>
        <p:blipFill>
          <a:blip r:embed="rId2"/>
          <a:stretch>
            <a:fillRect/>
          </a:stretch>
        </p:blipFill>
        <p:spPr bwMode="auto">
          <a:xfrm>
            <a:off x="2997200" y="1193800"/>
            <a:ext cx="3149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Estimated MCV1 vaccination coverage by district in 101 countries, 2000, 2010 and 2019. Source: Wakefield et al., </a:t>
            </a:r>
            <a:r>
              <a:rPr i="1"/>
              <a:t>Nature</a:t>
            </a:r>
            <a:r>
              <a:rPr/>
              <a:t>, 2021.</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modelling: summary</a:t>
            </a:r>
          </a:p>
        </p:txBody>
      </p:sp>
      <p:sp>
        <p:nvSpPr>
          <p:cNvPr id="3" name="Content Placeholder 2"/>
          <p:cNvSpPr>
            <a:spLocks noGrp="1"/>
          </p:cNvSpPr>
          <p:nvPr>
            <p:ph idx="1"/>
          </p:nvPr>
        </p:nvSpPr>
        <p:spPr/>
        <p:txBody>
          <a:bodyPr/>
          <a:lstStyle/>
          <a:p>
            <a:pPr lvl="0"/>
            <a:r>
              <a:rPr/>
              <a:t>We no longer simply describe (part 1) or explain an association (part 2): we </a:t>
            </a:r>
            <a:r>
              <a:rPr b="1"/>
              <a:t>predict</a:t>
            </a:r>
            <a:r>
              <a:rPr/>
              <a:t> a value at an unobserved location, with quantified uncertainty.</a:t>
            </a:r>
          </a:p>
          <a:p>
            <a:pPr lvl="0"/>
            <a:r>
              <a:rPr/>
              <a:t>The three examples share a common architecture: geospatial covariates → statistical/Bayesian model → map + uncertainty map → aggregation to a useful scale (district, country).</a:t>
            </a:r>
          </a:p>
          <a:p>
            <a:pPr lvl="0"/>
            <a:r>
              <a:rPr/>
              <a:t>This approach is at the heart of the population, poverty, or health maps used today by United Nations agencies and national statistical institutes.</a:t>
            </a:r>
          </a:p>
          <a:p>
            <a:pPr lvl="0"/>
            <a:r>
              <a:rPr/>
              <a:t>Prerequisite: availability of relevant geospatial covariates, exactly the role ERA5 will play in this afternoon’s workshop.</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geospatial modelling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Ferreira et al. (2020)</a:t>
                      </a:r>
                    </a:p>
                  </a:txBody>
                </a:tc>
                <a:tc>
                  <a:txBody>
                    <a:bodyPr/>
                    <a:lstStyle/>
                    <a:p>
                      <a:pPr lvl="0" indent="0" marL="0">
                        <a:buNone/>
                      </a:pPr>
                      <a:r>
                        <a:rPr/>
                        <a:t>Literature review: DHS/MICS surveys combined with geospatial covariates (climate, land cover, accessibility…)</a:t>
                      </a:r>
                    </a:p>
                  </a:txBody>
                </a:tc>
              </a:tr>
              <a:tr h="0">
                <a:tc>
                  <a:txBody>
                    <a:bodyPr/>
                    <a:lstStyle/>
                    <a:p>
                      <a:pPr lvl="0" indent="0" marL="0">
                        <a:buNone/>
                      </a:pPr>
                      <a:r>
                        <a:rPr/>
                        <a:t>Golding et al. (2017)</a:t>
                      </a:r>
                    </a:p>
                  </a:txBody>
                </a:tc>
                <a:tc>
                  <a:txBody>
                    <a:bodyPr/>
                    <a:lstStyle/>
                    <a:p>
                      <a:pPr lvl="0" indent="0" marL="0">
                        <a:buNone/>
                      </a:pPr>
                      <a:r>
                        <a:rPr/>
                        <a:t>DHS surveys, UNICEF MICS and national surveys (complete and summary birth histories); national </a:t>
                      </a:r>
                      <a:r>
                        <a:rPr i="1"/>
                        <a:t>Global Burden of Disease</a:t>
                      </a:r>
                      <a:r>
                        <a:rPr/>
                        <a:t> estimates</a:t>
                      </a:r>
                    </a:p>
                  </a:txBody>
                </a:tc>
              </a:tr>
              <a:tr h="0">
                <a:tc>
                  <a:txBody>
                    <a:bodyPr/>
                    <a:lstStyle/>
                    <a:p>
                      <a:pPr lvl="0" indent="0" marL="0">
                        <a:buNone/>
                      </a:pPr>
                      <a:r>
                        <a:rPr/>
                        <a:t>Wakefield et al. (2021)</a:t>
                      </a:r>
                    </a:p>
                  </a:txBody>
                </a:tc>
                <a:tc>
                  <a:txBody>
                    <a:bodyPr/>
                    <a:lstStyle/>
                    <a:p>
                      <a:pPr lvl="0" indent="0" marL="0">
                        <a:buNone/>
                      </a:pPr>
                      <a:r>
                        <a:rPr/>
                        <a:t>354 DHS/MICS household surveys (</a:t>
                      </a:r>
                      <a:r>
                        <a:rPr i="1"/>
                        <a:t>Global Health Data Exchange</a:t>
                      </a:r>
                      <a:r>
                        <a:rPr/>
                        <a:t>); 26 geospatial covariates (WorldPop, travel time, urban/rural…); joint WHO/UNICEF form</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3. Geospatial variables as proxies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social data does not exist</a:t>
            </a:r>
          </a:p>
        </p:txBody>
      </p:sp>
      <p:sp>
        <p:nvSpPr>
          <p:cNvPr id="3" name="Content Placeholder 2"/>
          <p:cNvSpPr>
            <a:spLocks noGrp="1"/>
          </p:cNvSpPr>
          <p:nvPr>
            <p:ph idx="1"/>
          </p:nvPr>
        </p:nvSpPr>
        <p:spPr/>
        <p:txBody>
          <a:bodyPr/>
          <a:lstStyle/>
          <a:p>
            <a:pPr lvl="0"/>
            <a:r>
              <a:rPr/>
              <a:t>Some social data is expensive, slow to produce, or simply absent in statistically low-resource countries: household income, wealth, exact population.</a:t>
            </a:r>
          </a:p>
          <a:p>
            <a:pPr lvl="0"/>
            <a:r>
              <a:rPr/>
              <a:t>A </a:t>
            </a:r>
            <a:r>
              <a:rPr b="1"/>
              <a:t>proxy variable</a:t>
            </a:r>
            <a:r>
              <a:rPr/>
              <a:t> is an observable datum, often geospatial or digital, used as an indirect substitute for the variable of real interest.</a:t>
            </a:r>
          </a:p>
          <a:p>
            <a:pPr lvl="0"/>
            <a:r>
              <a:rPr/>
              <a:t>Difference with part 2: the goal is not to </a:t>
            </a:r>
            <a:r>
              <a:rPr i="1"/>
              <a:t>explain</a:t>
            </a:r>
            <a:r>
              <a:rPr/>
              <a:t> the social phenomenon, but to </a:t>
            </a:r>
            <a:r>
              <a:rPr i="1"/>
              <a:t>approximate</a:t>
            </a:r>
            <a:r>
              <a:rPr/>
              <a:t> it directly, often with the help of machine learning.</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(2008): nightlights as a proxy for poverty</a:t>
            </a:r>
          </a:p>
        </p:txBody>
      </p:sp>
      <p:sp>
        <p:nvSpPr>
          <p:cNvPr id="3" name="Content Placeholder 2"/>
          <p:cNvSpPr>
            <a:spLocks noGrp="1"/>
          </p:cNvSpPr>
          <p:nvPr>
            <p:ph idx="1"/>
          </p:nvPr>
        </p:nvSpPr>
        <p:spPr/>
        <p:txBody>
          <a:bodyPr/>
          <a:lstStyle/>
          <a:p>
            <a:pPr lvl="0"/>
            <a:r>
              <a:rPr/>
              <a:t>Question: can satellite-captured night-time luminosity serve as a proxy for household poverty, at sub-national scale, in Africa?</a:t>
            </a:r>
          </a:p>
          <a:p>
            <a:pPr lvl="0"/>
            <a:r>
              <a:rPr/>
              <a:t>Data: asset-based wealth indices calculated from DHS/MICS surveys for 338 level-1 administrative units in 37 African countries, compared with night-time luminosity (DMSP imagery, 2000).</a:t>
            </a:r>
          </a:p>
          <a:p>
            <a:pPr lvl="0"/>
            <a:r>
              <a:rPr/>
              <a:t>Result: mean night-time light luminosity is strongly correlated with the asset-based wealth index (Pearson correlation = 0.64; Spearman rank correlation = 0.79), and clearly distinguishes the poorest units from the least poor.</a:t>
            </a:r>
          </a:p>
          <a:p>
            <a:pPr lvl="0"/>
            <a:r>
              <a:rPr/>
              <a:t>Here, a datum that is already geographic, night-time light, becomes a direct proxy for wealth once aggregated by administrative unit.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Noor et al.: observed and predicted wealth ranking from nightlights</a:t>
            </a:r>
          </a:p>
        </p:txBody>
      </p:sp>
      <p:pic>
        <p:nvPicPr>
          <p:cNvPr descr="images/noor_fig3.png" id="0" name="Picture 1"/>
          <p:cNvPicPr>
            <a:picLocks noGrp="1" noChangeAspect="1"/>
          </p:cNvPicPr>
          <p:nvPr/>
        </p:nvPicPr>
        <p:blipFill>
          <a:blip r:embed="rId2"/>
          <a:stretch>
            <a:fillRect/>
          </a:stretch>
        </p:blipFill>
        <p:spPr bwMode="auto">
          <a:xfrm>
            <a:off x="1435100" y="1193800"/>
            <a:ext cx="6273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Maps of level-1 administrative units in Africa comparing wealth ranking by asset index and by mean night-time light luminosity. Source: Noor, Alegana, Gething, Tatem &amp; Snow, </a:t>
            </a:r>
            <a:r>
              <a:rPr i="1"/>
              <a:t>Population Health Metrics</a:t>
            </a:r>
            <a:r>
              <a:rPr/>
              <a:t>, 2008.</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Cadamuro &amp; On (2015): wealth in phone metadata</a:t>
            </a:r>
          </a:p>
        </p:txBody>
      </p:sp>
      <p:sp>
        <p:nvSpPr>
          <p:cNvPr id="3" name="Content Placeholder 2"/>
          <p:cNvSpPr>
            <a:spLocks noGrp="1"/>
          </p:cNvSpPr>
          <p:nvPr>
            <p:ph idx="1"/>
          </p:nvPr>
        </p:nvSpPr>
        <p:spPr/>
        <p:txBody>
          <a:bodyPr/>
          <a:lstStyle/>
          <a:p>
            <a:pPr lvl="0"/>
            <a:r>
              <a:rPr/>
              <a:t>Question: can a household’s wealth be estimated from mobile phone usage metadata alone (call duration, frequency, contact network, mobility)?</a:t>
            </a:r>
          </a:p>
          <a:p>
            <a:pPr lvl="0"/>
            <a:r>
              <a:rPr/>
              <a:t>Data: 1.5 million users in Rwanda, including a subsample surveyed by phone and compared against a Demographic and Health Survey (DHS).</a:t>
            </a:r>
          </a:p>
          <a:p>
            <a:pPr lvl="0"/>
            <a:r>
              <a:rPr/>
              <a:t>Result: wealth predictions by district, based solely on operator data, faithfully reproduce the wealth map from the DHS survey.</a:t>
            </a:r>
          </a:p>
          <a:p>
            <a:pPr lvl="0"/>
            <a:r>
              <a:rPr/>
              <a:t>Here, phone metadata, an object with no a priori geographic content, becomes a proxy for wealth once aggregated spatially by district.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Blumenstock et al.: predicted and observed wealth in Rwanda</a:t>
            </a:r>
          </a:p>
        </p:txBody>
      </p:sp>
      <p:pic>
        <p:nvPicPr>
          <p:cNvPr descr="images/paste-6.png" id="0" name="Picture 1"/>
          <p:cNvPicPr>
            <a:picLocks noGrp="1" noChangeAspect="1"/>
          </p:cNvPicPr>
          <p:nvPr/>
        </p:nvPicPr>
        <p:blipFill>
          <a:blip r:embed="rId2"/>
          <a:stretch>
            <a:fillRect/>
          </a:stretch>
        </p:blipFill>
        <p:spPr bwMode="auto">
          <a:xfrm>
            <a:off x="3060700" y="1193800"/>
            <a:ext cx="3022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Source: Blumenstock, Cadamuro &amp; On, Science, 2015.</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(2020): mapping population with geospatial covariates</a:t>
            </a:r>
          </a:p>
        </p:txBody>
      </p:sp>
      <p:sp>
        <p:nvSpPr>
          <p:cNvPr id="3" name="Content Placeholder 2"/>
          <p:cNvSpPr>
            <a:spLocks noGrp="1"/>
          </p:cNvSpPr>
          <p:nvPr>
            <p:ph idx="1"/>
          </p:nvPr>
        </p:nvSpPr>
        <p:spPr/>
        <p:txBody>
          <a:bodyPr/>
          <a:lstStyle/>
          <a:p>
            <a:pPr lvl="0"/>
            <a:r>
              <a:rPr/>
              <a:t>Question: how do we estimate population across an entire country when survey data (micro-censuses) covers only a sample of locations?</a:t>
            </a:r>
          </a:p>
          <a:p>
            <a:pPr lvl="0"/>
            <a:r>
              <a:rPr/>
              <a:t>Method: a hierarchical Bayesian model combining observed population densities with predictive geospatial covariates (satellite-estimated population, school density, household size) on a 100 m grid, applied to Nigeria.</a:t>
            </a:r>
          </a:p>
          <a:p>
            <a:pPr lvl="0"/>
            <a:r>
              <a:rPr/>
              <a:t>Here, geospatial covariates serve as a </a:t>
            </a:r>
            <a:r>
              <a:rPr b="1"/>
              <a:t>predictive proxy</a:t>
            </a:r>
            <a:r>
              <a:rPr/>
              <a:t> for population density where no survey has taken place.</a:t>
            </a:r>
          </a:p>
          <a:p>
            <a:pPr lvl="0"/>
            <a:r>
              <a:rPr/>
              <a:t>Result: total Nigerian population estimated at around 180 million, with a 95% credible interval for each administrative unit.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Leasure et al.: micro-census sites in Nigeria</a:t>
            </a:r>
          </a:p>
        </p:txBody>
      </p:sp>
      <p:pic>
        <p:nvPicPr>
          <p:cNvPr descr="images/leasure_fig1.png" id="0" name="Picture 1"/>
          <p:cNvPicPr>
            <a:picLocks noGrp="1" noChangeAspect="1"/>
          </p:cNvPicPr>
          <p:nvPr/>
        </p:nvPicPr>
        <p:blipFill>
          <a:blip r:embed="rId2"/>
          <a:stretch>
            <a:fillRect/>
          </a:stretch>
        </p:blipFill>
        <p:spPr bwMode="auto">
          <a:xfrm>
            <a:off x="1282700" y="1193800"/>
            <a:ext cx="6591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Location of micro-census surveys, by number of sites per 20 km cell, Nigeria. Source: Leasure et al., </a:t>
            </a:r>
            <a:r>
              <a:rPr i="1"/>
              <a:t>PNAS</a:t>
            </a:r>
            <a:r>
              <a:rPr/>
              <a:t>, 2020.</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Geospatial proxy variables: summary</a:t>
            </a:r>
          </a:p>
        </p:txBody>
      </p:sp>
      <p:sp>
        <p:nvSpPr>
          <p:cNvPr id="3" name="Content Placeholder 2"/>
          <p:cNvSpPr>
            <a:spLocks noGrp="1"/>
          </p:cNvSpPr>
          <p:nvPr>
            <p:ph idx="1"/>
          </p:nvPr>
        </p:nvSpPr>
        <p:spPr/>
        <p:txBody>
          <a:bodyPr/>
          <a:lstStyle/>
          <a:p>
            <a:pPr lvl="0"/>
            <a:r>
              <a:rPr/>
              <a:t>A geospatial proxy works when it is </a:t>
            </a:r>
            <a:r>
              <a:rPr b="1"/>
              <a:t>correlated</a:t>
            </a:r>
            <a:r>
              <a:rPr/>
              <a:t> with the social variable of interest, without necessarily being a cause of it: nightlights, call metadata, satellite image texture.</a:t>
            </a:r>
          </a:p>
          <a:p>
            <a:pPr lvl="0"/>
            <a:r>
              <a:rPr/>
              <a:t>Main risk: anything the proxy fails to capture remains invisible; a household without a phone, an area systematically cloudy in satellite images, a population not counted in the training surveys.</a:t>
            </a:r>
          </a:p>
          <a:p>
            <a:pPr lvl="0"/>
            <a:r>
              <a:rPr/>
              <a:t>These methods are generalising thanks to machine learning, but remain dependent on reference survey data for calibration and validation.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sources: geospatial proxy variables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286000"/>
                <a:gridCol w="5943600"/>
              </a:tblGrid>
              <a:tr h="0">
                <a:tc>
                  <a:txBody>
                    <a:bodyPr/>
                    <a:lstStyle/>
                    <a:p>
                      <a:pPr lvl="0" indent="0" marL="0">
                        <a:buNone/>
                      </a:pPr>
                      <a:r>
                        <a:rPr/>
                        <a:t>Study</a:t>
                      </a:r>
                    </a:p>
                  </a:txBody>
                  <a:tcPr/>
                </a:tc>
                <a:tc>
                  <a:txBody>
                    <a:bodyPr/>
                    <a:lstStyle/>
                    <a:p>
                      <a:pPr lvl="0" indent="0" marL="0">
                        <a:buNone/>
                      </a:pPr>
                      <a:r>
                        <a:rPr/>
                        <a:t>Data source(s)</a:t>
                      </a:r>
                    </a:p>
                  </a:txBody>
                  <a:tcPr/>
                </a:tc>
              </a:tr>
              <a:tr h="0">
                <a:tc>
                  <a:txBody>
                    <a:bodyPr/>
                    <a:lstStyle/>
                    <a:p>
                      <a:pPr lvl="0" indent="0" marL="0">
                        <a:buNone/>
                      </a:pPr>
                      <a:r>
                        <a:rPr/>
                        <a:t>Noor et al. (2008)</a:t>
                      </a:r>
                    </a:p>
                  </a:txBody>
                </a:tc>
                <a:tc>
                  <a:txBody>
                    <a:bodyPr/>
                    <a:lstStyle/>
                    <a:p>
                      <a:pPr lvl="0" indent="0" marL="0">
                        <a:buNone/>
                      </a:pPr>
                      <a:r>
                        <a:rPr/>
                        <a:t>DHS/MICS surveys (asset-based wealth indices, 338 admin. level-1 units, 37 countries); DMSP night-time light imagery (2000)</a:t>
                      </a:r>
                    </a:p>
                  </a:txBody>
                </a:tc>
              </a:tr>
              <a:tr h="0">
                <a:tc>
                  <a:txBody>
                    <a:bodyPr/>
                    <a:lstStyle/>
                    <a:p>
                      <a:pPr lvl="0" indent="0" marL="0">
                        <a:buNone/>
                      </a:pPr>
                      <a:r>
                        <a:rPr/>
                        <a:t>Blumenstock, Cadamuro &amp; On (2015)</a:t>
                      </a:r>
                    </a:p>
                  </a:txBody>
                </a:tc>
                <a:tc>
                  <a:txBody>
                    <a:bodyPr/>
                    <a:lstStyle/>
                    <a:p>
                      <a:pPr lvl="0" indent="0" marL="0">
                        <a:buNone/>
                      </a:pPr>
                      <a:r>
                        <a:rPr/>
                        <a:t>Mobile operator metadata (</a:t>
                      </a:r>
                      <a:r>
                        <a:rPr i="1"/>
                        <a:t>call detail records</a:t>
                      </a:r>
                      <a:r>
                        <a:rPr/>
                        <a:t>, Rwanda, 2009); validation phone survey; DHS 2010</a:t>
                      </a:r>
                    </a:p>
                  </a:txBody>
                </a:tc>
              </a:tr>
              <a:tr h="0">
                <a:tc>
                  <a:txBody>
                    <a:bodyPr/>
                    <a:lstStyle/>
                    <a:p>
                      <a:pPr lvl="0" indent="0" marL="0">
                        <a:buNone/>
                      </a:pPr>
                      <a:r>
                        <a:rPr/>
                        <a:t>Leasure et al. (2020)</a:t>
                      </a:r>
                    </a:p>
                  </a:txBody>
                </a:tc>
                <a:tc>
                  <a:txBody>
                    <a:bodyPr/>
                    <a:lstStyle/>
                    <a:p>
                      <a:pPr lvl="0" indent="0" marL="0">
                        <a:buNone/>
                      </a:pPr>
                      <a:r>
                        <a:rPr/>
                        <a:t>Field micro-censuses (Nigeria); WorldPop geospatial covariates (built-up, schools, roads, nightlights)</a:t>
                      </a:r>
                    </a:p>
                  </a:txBody>
                </a:tc>
              </a:tr>
            </a:tbl>
          </a:graphicData>
        </a:graphic>
      </p:graphicFrame>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General summary: three uses, one geospatial data type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857500"/>
                <a:gridCol w="3314700"/>
              </a:tblGrid>
              <a:tr h="0">
                <a:tc>
                  <a:txBody>
                    <a:bodyPr/>
                    <a:lstStyle/>
                    <a:p>
                      <a:pPr lvl="0" indent="0" marL="0">
                        <a:buNone/>
                      </a:pPr>
                      <a:r>
                        <a:rPr/>
                        <a:t>Use</a:t>
                      </a:r>
                    </a:p>
                  </a:txBody>
                  <a:tcPr/>
                </a:tc>
                <a:tc>
                  <a:txBody>
                    <a:bodyPr/>
                    <a:lstStyle/>
                    <a:p>
                      <a:pPr lvl="0" indent="0" marL="0">
                        <a:buNone/>
                      </a:pPr>
                      <a:r>
                        <a:rPr/>
                        <a:t>Question asked</a:t>
                      </a:r>
                    </a:p>
                  </a:txBody>
                  <a:tcPr/>
                </a:tc>
                <a:tc>
                  <a:txBody>
                    <a:bodyPr/>
                    <a:lstStyle/>
                    <a:p>
                      <a:pPr lvl="0" indent="0" marL="0">
                        <a:buNone/>
                      </a:pPr>
                      <a:r>
                        <a:rPr/>
                        <a:t>Examples from today</a:t>
                      </a:r>
                    </a:p>
                  </a:txBody>
                  <a:tcPr/>
                </a:tc>
              </a:tr>
              <a:tr h="0">
                <a:tc>
                  <a:txBody>
                    <a:bodyPr/>
                    <a:lstStyle/>
                    <a:p>
                      <a:pPr lvl="0" indent="0" marL="0">
                        <a:buNone/>
                      </a:pPr>
                      <a:r>
                        <a:rPr/>
                        <a:t>Explanatory variable</a:t>
                      </a:r>
                    </a:p>
                  </a:txBody>
                </a:tc>
                <a:tc>
                  <a:txBody>
                    <a:bodyPr/>
                    <a:lstStyle/>
                    <a:p>
                      <a:pPr lvl="0" indent="0" marL="0">
                        <a:buNone/>
                      </a:pPr>
                      <a:r>
                        <a:rPr/>
                        <a:t>Does the geospatial data statistically explain a social phenomenon?</a:t>
                      </a:r>
                    </a:p>
                  </a:txBody>
                </a:tc>
                <a:tc>
                  <a:txBody>
                    <a:bodyPr/>
                    <a:lstStyle/>
                    <a:p>
                      <a:pPr lvl="0" indent="0" marL="0">
                        <a:buNone/>
                      </a:pPr>
                      <a:r>
                        <a:rPr/>
                        <a:t>Hendrix &amp; Salehyan; Couttenier &amp; Soubeyran; Abdel-Ghany et al.; Darin et al.</a:t>
                      </a:r>
                    </a:p>
                  </a:txBody>
                </a:tc>
              </a:tr>
              <a:tr h="0">
                <a:tc>
                  <a:txBody>
                    <a:bodyPr/>
                    <a:lstStyle/>
                    <a:p>
                      <a:pPr lvl="0" indent="0" marL="0">
                        <a:buNone/>
                      </a:pPr>
                      <a:r>
                        <a:rPr/>
                        <a:t>Geospatial modelling</a:t>
                      </a:r>
                    </a:p>
                  </a:txBody>
                </a:tc>
                <a:tc>
                  <a:txBody>
                    <a:bodyPr/>
                    <a:lstStyle/>
                    <a:p>
                      <a:pPr lvl="0" indent="0" marL="0">
                        <a:buNone/>
                      </a:pPr>
                      <a:r>
                        <a:rPr/>
                        <a:t>Can we estimate a social indicator where it is not measured?</a:t>
                      </a:r>
                    </a:p>
                  </a:txBody>
                </a:tc>
                <a:tc>
                  <a:txBody>
                    <a:bodyPr/>
                    <a:lstStyle/>
                    <a:p>
                      <a:pPr lvl="0" indent="0" marL="0">
                        <a:buNone/>
                      </a:pPr>
                      <a:r>
                        <a:rPr/>
                        <a:t>Ferreira et al.; Golding et al.; Wakefield et al.</a:t>
                      </a:r>
                    </a:p>
                  </a:txBody>
                </a:tc>
              </a:tr>
              <a:tr h="0">
                <a:tc>
                  <a:txBody>
                    <a:bodyPr/>
                    <a:lstStyle/>
                    <a:p>
                      <a:pPr lvl="0" indent="0" marL="0">
                        <a:buNone/>
                      </a:pPr>
                      <a:r>
                        <a:rPr/>
                        <a:t>Proxy variable</a:t>
                      </a:r>
                    </a:p>
                  </a:txBody>
                </a:tc>
                <a:tc>
                  <a:txBody>
                    <a:bodyPr/>
                    <a:lstStyle/>
                    <a:p>
                      <a:pPr lvl="0" indent="0" marL="0">
                        <a:buNone/>
                      </a:pPr>
                      <a:r>
                        <a:rPr/>
                        <a:t>Can we approximate an absent social datum with an available geospatial datum?</a:t>
                      </a:r>
                    </a:p>
                  </a:txBody>
                </a:tc>
                <a:tc>
                  <a:txBody>
                    <a:bodyPr/>
                    <a:lstStyle/>
                    <a:p>
                      <a:pPr lvl="0" indent="0" marL="0">
                        <a:buNone/>
                      </a:pPr>
                      <a:r>
                        <a:rPr/>
                        <a:t>Noor et al.; Blumenstock et al.; Leasure et al.</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theory to practice</a:t>
            </a:r>
          </a:p>
        </p:txBody>
      </p:sp>
      <p:sp>
        <p:nvSpPr>
          <p:cNvPr id="3" name="Content Placeholder 2"/>
          <p:cNvSpPr>
            <a:spLocks noGrp="1"/>
          </p:cNvSpPr>
          <p:nvPr>
            <p:ph idx="1"/>
          </p:nvPr>
        </p:nvSpPr>
        <p:spPr/>
        <p:txBody>
          <a:bodyPr/>
          <a:lstStyle/>
          <a:p>
            <a:pPr lvl="0"/>
            <a:r>
              <a:rPr/>
              <a:t>The historical origins (Snow, Booth, Du Bois) remind us that mapping remains, above all, a tool to see and to convince.</a:t>
            </a:r>
          </a:p>
          <a:p>
            <a:pPr lvl="0"/>
            <a:r>
              <a:rPr/>
              <a:t>The three uses (explanatory, modelling, proxy) are not mutually exclusive: a single dataset (ACLED, ERA5) can serve in turn as an explanation, an object to be modelled, or a proxy.</a:t>
            </a:r>
          </a:p>
          <a:p>
            <a:pPr lvl="0"/>
            <a:r>
              <a:rPr/>
              <a:t>In the workshop that follows, ACLED is used in the sense of part 2 (understanding conflict dynamics), and ERA5 as an explanatory climate variable and one to be modelled spatially, the two logics seen today.</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This afternoon</a:t>
            </a:r>
          </a:p>
        </p:txBody>
      </p:sp>
      <p:sp>
        <p:nvSpPr>
          <p:cNvPr id="3" name="Content Placeholder 2"/>
          <p:cNvSpPr>
            <a:spLocks noGrp="1"/>
          </p:cNvSpPr>
          <p:nvPr>
            <p:ph idx="1"/>
          </p:nvPr>
        </p:nvSpPr>
        <p:spPr/>
        <p:txBody>
          <a:bodyPr/>
          <a:lstStyle/>
          <a:p>
            <a:pPr lvl="0"/>
            <a:r>
              <a:rPr/>
              <a:t>Time for hands-on practice in R: three workshops to work with geospatial data in the social sciences.</a:t>
            </a:r>
          </a:p>
          <a:p>
            <a:pPr lvl="0"/>
            <a:r>
              <a:rPr/>
              <a:t>First workshop: ACLED, armed conflict in Cameroon.</a:t>
            </a:r>
          </a:p>
          <a:p>
            <a:pPr lvl="0"/>
            <a:r>
              <a:rPr/>
              <a:t>Second workshop: ERA5, temperature in Cameroon.</a:t>
            </a:r>
          </a:p>
          <a:p>
            <a:pPr lvl="0"/>
            <a:r>
              <a:rPr/>
              <a:t>Third workshop: small area estimation (Fay-Herriot), food insecurity by commune in Benin.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Before we start: the problem small area estimation solves</a:t>
            </a:r>
          </a:p>
        </p:txBody>
      </p:sp>
      <p:sp>
        <p:nvSpPr>
          <p:cNvPr id="3" name="Content Placeholder 2"/>
          <p:cNvSpPr>
            <a:spLocks noGrp="1"/>
          </p:cNvSpPr>
          <p:nvPr>
            <p:ph idx="1"/>
          </p:nvPr>
        </p:nvSpPr>
        <p:spPr/>
        <p:txBody>
          <a:bodyPr/>
          <a:lstStyle/>
          <a:p>
            <a:pPr lvl="0"/>
            <a:r>
              <a:rPr/>
              <a:t>A national survey (DHS, EHCVM…) is designed to be representative at national level, and sometimes regional level, but rarely at a finer administrative level (commune, district).</a:t>
            </a:r>
          </a:p>
          <a:p>
            <a:pPr lvl="0"/>
            <a:r>
              <a:rPr/>
              <a:t>Below that level, the sample in each domain becomes small: the direct estimate (the simple observed proportion) becomes very noisy, sometimes even impossible to compute (a single cluster surveyed, for example).</a:t>
            </a:r>
          </a:p>
          <a:p>
            <a:pPr lvl="0"/>
            <a:r>
              <a:rPr/>
              <a:t>Yet it is precisely at this fine scale that public policy needs numbers: targeting an intervention, allocating a budget, prioritising an area, a national or regional average is not enough.</a:t>
            </a:r>
          </a:p>
          <a:p>
            <a:pPr lvl="0"/>
            <a:r>
              <a:rPr/>
              <a:t>“Small area” refers to the size of the SAMPLE in the domain, not its geographic size, a classic trap to avoid, one we will return to in workshop 3.</a:t>
            </a:r>
          </a:p>
          <a:p>
            <a:pPr lvl="0"/>
            <a:r>
              <a:rPr/>
              <a:t>You already saw this problem this morning, without the name: it is exactly what Golding et al. and Wakefield et al. were solving with geospatial modelling.</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principle: borrowing strength from a model</a:t>
            </a:r>
          </a:p>
        </p:txBody>
      </p:sp>
      <p:sp>
        <p:nvSpPr>
          <p:cNvPr id="3" name="Content Placeholder 2"/>
          <p:cNvSpPr>
            <a:spLocks noGrp="1"/>
          </p:cNvSpPr>
          <p:nvPr>
            <p:ph idx="1"/>
          </p:nvPr>
        </p:nvSpPr>
        <p:spPr/>
        <p:txBody>
          <a:bodyPr/>
          <a:lstStyle/>
          <a:p>
            <a:pPr lvl="0"/>
            <a:r>
              <a:rPr/>
              <a:t>Small area estimation (SAE) combines two sources of information rather than one:</a:t>
            </a:r>
          </a:p>
          <a:p>
            <a:pPr lvl="1"/>
            <a:r>
              <a:rPr/>
              <a:t>the direct estimate for the domain (noisy, but unbiased);</a:t>
            </a:r>
          </a:p>
          <a:p>
            <a:pPr lvl="1"/>
            <a:r>
              <a:rPr/>
              <a:t>a prediction from a model fitted across ALL domains using a covariate known everywhere (census, satellite imagery…).</a:t>
            </a:r>
          </a:p>
          <a:p>
            <a:pPr lvl="0"/>
            <a:r>
              <a:rPr/>
              <a:t>The result (the EBLUP) is a weighted average of the two: the more poorly sampled a domain is, the more its estimate is pulled towards the model’s prediction; well-sampled domains change little.</a:t>
            </a:r>
          </a:p>
          <a:p>
            <a:pPr lvl="0"/>
            <a:r>
              <a:rPr/>
              <a:t>Two distinct benefits not to be confused: gaining in </a:t>
            </a:r>
            <a:r>
              <a:rPr b="1"/>
              <a:t>precision</a:t>
            </a:r>
            <a:r>
              <a:rPr/>
              <a:t> (a more reliable figure, at the same geographic level) and, if the covariate is known at a finer resolution than the survey, gaining in </a:t>
            </a:r>
            <a:r>
              <a:rPr b="1"/>
              <a:t>resolution</a:t>
            </a:r>
            <a:r>
              <a:rPr/>
              <a:t> (a more detailed map than the survey itself).</a:t>
            </a:r>
          </a:p>
          <a:p>
            <a:pPr lvl="0"/>
            <a:r>
              <a:rPr/>
              <a:t>It is this second point, often overlooked, that this afternoon’s workshop 3 will concretely illustrate: going from a commune-level estimate to a 3 km map.</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1: ACLED, armed conflict in Cameroon</a:t>
            </a:r>
          </a:p>
        </p:txBody>
      </p:sp>
      <p:sp>
        <p:nvSpPr>
          <p:cNvPr id="3" name="Content Placeholder 2"/>
          <p:cNvSpPr>
            <a:spLocks noGrp="1"/>
          </p:cNvSpPr>
          <p:nvPr>
            <p:ph idx="1"/>
          </p:nvPr>
        </p:nvSpPr>
        <p:spPr/>
        <p:txBody>
          <a:bodyPr/>
          <a:lstStyle/>
          <a:p>
            <a:pPr lvl="0" indent="0" marL="0">
              <a:buNone/>
            </a:pPr>
            <a:r>
              <a:rPr/>
              <a:t>ACLED: the </a:t>
            </a:r>
            <a:r>
              <a:rPr i="1"/>
              <a:t>Armed Conflict Location &amp; Event Data Project</a:t>
            </a:r>
            <a:r>
              <a:rPr/>
              <a:t>, a global database of armed conflict events (free access at </a:t>
            </a:r>
            <a:r>
              <a:rPr>
                <a:hlinkClick r:id="rId2"/>
              </a:rPr>
              <a:t>acleddata.com</a:t>
            </a:r>
            <a:r>
              <a:rPr/>
              <a:t>).</a:t>
            </a:r>
          </a:p>
          <a:p>
            <a:pPr lvl="0"/>
            <a:r>
              <a:rPr/>
              <a:t>Load the ACLED export (CSV) and explore its structure (dimensions, columns, available years).</a:t>
            </a:r>
          </a:p>
          <a:p>
            <a:pPr lvl="0"/>
            <a:r>
              <a:rPr/>
              <a:t>Summarise events by type and by region, and visualise their annual trend.</a:t>
            </a:r>
          </a:p>
          <a:p>
            <a:pPr lvl="0"/>
            <a:r>
              <a:rPr/>
              <a:t>Calculate and plot annual conflict-related deaths.</a:t>
            </a:r>
          </a:p>
          <a:p>
            <a:pPr lvl="0"/>
            <a:r>
              <a:rPr/>
              <a:t>Convert events into an sf layer and map them with tmap.</a:t>
            </a:r>
          </a:p>
          <a:p>
            <a:pPr lvl="0"/>
            <a:r>
              <a:rPr/>
              <a:t>Aggregate events by region (spatial join) and produce a choropleth map.</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1: the ACLED data</a:t>
            </a:r>
          </a:p>
        </p:txBody>
      </p:sp>
      <p:sp>
        <p:nvSpPr>
          <p:cNvPr id="3" name="Content Placeholder 2"/>
          <p:cNvSpPr>
            <a:spLocks noGrp="1"/>
          </p:cNvSpPr>
          <p:nvPr>
            <p:ph idx="1"/>
          </p:nvPr>
        </p:nvSpPr>
        <p:spPr/>
        <p:txBody>
          <a:bodyPr/>
          <a:lstStyle/>
          <a:p>
            <a:pPr lvl="0"/>
            <a:r>
              <a:rPr/>
              <a:t>Event types: </a:t>
            </a:r>
            <a:r>
              <a:rPr i="1"/>
              <a:t>Battles</a:t>
            </a:r>
            <a:r>
              <a:rPr/>
              <a:t>, </a:t>
            </a:r>
            <a:r>
              <a:rPr i="1"/>
              <a:t>Explosions/Remote violence</a:t>
            </a:r>
            <a:r>
              <a:rPr/>
              <a:t>, </a:t>
            </a:r>
            <a:r>
              <a:rPr i="1"/>
              <a:t>Violence against civilians</a:t>
            </a:r>
            <a:r>
              <a:rPr/>
              <a:t>, </a:t>
            </a:r>
            <a:r>
              <a:rPr i="1"/>
              <a:t>Riots</a:t>
            </a:r>
            <a:r>
              <a:rPr/>
              <a:t>, </a:t>
            </a:r>
            <a:r>
              <a:rPr i="1"/>
              <a:t>Protests</a:t>
            </a:r>
            <a:r>
              <a:rPr/>
              <a:t>, </a:t>
            </a:r>
            <a:r>
              <a:rPr i="1"/>
              <a:t>Strategic developments</a:t>
            </a:r>
            <a:r>
              <a:rPr/>
              <a:t>.</a:t>
            </a:r>
          </a:p>
          <a:p>
            <a:pPr lvl="0"/>
            <a:r>
              <a:rPr/>
              <a:t>Key table columns: </a:t>
            </a:r>
            <a:r>
              <a:rPr>
                <a:latin typeface="Courier"/>
              </a:rPr>
              <a:t>event_date</a:t>
            </a:r>
            <a:r>
              <a:rPr/>
              <a:t> (date), </a:t>
            </a:r>
            <a:r>
              <a:rPr>
                <a:latin typeface="Courier"/>
              </a:rPr>
              <a:t>event_type</a:t>
            </a:r>
            <a:r>
              <a:rPr/>
              <a:t> / </a:t>
            </a:r>
            <a:r>
              <a:rPr>
                <a:latin typeface="Courier"/>
              </a:rPr>
              <a:t>sub_event_type</a:t>
            </a:r>
            <a:r>
              <a:rPr/>
              <a:t> (type), </a:t>
            </a:r>
            <a:r>
              <a:rPr>
                <a:latin typeface="Courier"/>
              </a:rPr>
              <a:t>actor1</a:t>
            </a:r>
            <a:r>
              <a:rPr/>
              <a:t> / </a:t>
            </a:r>
            <a:r>
              <a:rPr>
                <a:latin typeface="Courier"/>
              </a:rPr>
              <a:t>actor2</a:t>
            </a:r>
            <a:r>
              <a:rPr/>
              <a:t> (actors), </a:t>
            </a:r>
            <a:r>
              <a:rPr>
                <a:latin typeface="Courier"/>
              </a:rPr>
              <a:t>admin1</a:t>
            </a:r>
            <a:r>
              <a:rPr/>
              <a:t> (region), </a:t>
            </a:r>
            <a:r>
              <a:rPr>
                <a:latin typeface="Courier"/>
              </a:rPr>
              <a:t>admin2</a:t>
            </a:r>
            <a:r>
              <a:rPr/>
              <a:t> (department), </a:t>
            </a:r>
            <a:r>
              <a:rPr>
                <a:latin typeface="Courier"/>
              </a:rPr>
              <a:t>location</a:t>
            </a:r>
            <a:r>
              <a:rPr/>
              <a:t>, </a:t>
            </a:r>
            <a:r>
              <a:rPr>
                <a:latin typeface="Courier"/>
              </a:rPr>
              <a:t>latitude</a:t>
            </a:r>
            <a:r>
              <a:rPr/>
              <a:t> / </a:t>
            </a:r>
            <a:r>
              <a:rPr>
                <a:latin typeface="Courier"/>
              </a:rPr>
              <a:t>longitude</a:t>
            </a:r>
            <a:r>
              <a:rPr/>
              <a:t>, </a:t>
            </a:r>
            <a:r>
              <a:rPr>
                <a:latin typeface="Courier"/>
              </a:rPr>
              <a:t>fatalities</a:t>
            </a:r>
            <a:r>
              <a:rPr/>
              <a:t> (deaths).</a:t>
            </a:r>
          </a:p>
          <a:p>
            <a:pPr lvl="0"/>
            <a:r>
              <a:rPr/>
              <a:t>Access: free account at </a:t>
            </a:r>
            <a:r>
              <a:rPr>
                <a:hlinkClick r:id="rId2"/>
              </a:rPr>
              <a:t>developer.acleddata.com</a:t>
            </a:r>
            <a:r>
              <a:rPr/>
              <a:t>, CSV export via ACLED Explorer, or a direct API call from R with the </a:t>
            </a:r>
            <a:r>
              <a:rPr>
                <a:latin typeface="Courier"/>
              </a:rPr>
              <a:t>acledR</a:t>
            </a:r>
            <a:r>
              <a:rPr/>
              <a:t> package.</a:t>
            </a:r>
          </a:p>
          <a:p>
            <a:pPr lvl="0"/>
            <a:r>
              <a:rPr/>
              <a:t>Good practice: API credentials are stored in a local </a:t>
            </a:r>
            <a:r>
              <a:rPr>
                <a:latin typeface="Courier"/>
              </a:rPr>
              <a:t>.env</a:t>
            </a:r>
            <a:r>
              <a:rPr/>
              <a:t> file, never directly in a shared script.</a:t>
            </a:r>
          </a:p>
          <a:p>
            <a:pPr lvl="0"/>
            <a:r>
              <a:rPr/>
              <a:t>Complete API-call script (</a:t>
            </a:r>
            <a:r>
              <a:rPr>
                <a:latin typeface="Courier"/>
              </a:rPr>
              <a:t>.env</a:t>
            </a:r>
            <a:r>
              <a:rPr/>
              <a:t> authentication, fallback to a local CSV): </a:t>
            </a:r>
            <a:r>
              <a:rPr>
                <a:latin typeface="Courier"/>
              </a:rPr>
              <a:t>scripts_formateurs/jour_09_formateur_acled_api_en.R</a:t>
            </a:r>
            <a:r>
              <a:rPr/>
              <a:t>.</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1: key functions</a:t>
            </a:r>
          </a:p>
        </p:txBody>
      </p:sp>
      <p:sp>
        <p:nvSpPr>
          <p:cNvPr id="3" name="Content Placeholder 2"/>
          <p:cNvSpPr>
            <a:spLocks noGrp="1"/>
          </p:cNvSpPr>
          <p:nvPr>
            <p:ph idx="1"/>
          </p:nvPr>
        </p:nvSpPr>
        <p:spPr/>
        <p:txBody>
          <a:bodyPr/>
          <a:lstStyle/>
          <a:p>
            <a:pPr lvl="0"/>
            <a:r>
              <a:rPr>
                <a:latin typeface="Courier"/>
              </a:rPr>
              <a:t>read_csv()</a:t>
            </a:r>
            <a:r>
              <a:rPr/>
              <a:t>: load the ACLED export (CSV file) as a data frame.</a:t>
            </a:r>
          </a:p>
          <a:p>
            <a:pPr lvl="0"/>
            <a:r>
              <a:rPr>
                <a:latin typeface="Courier"/>
              </a:rPr>
              <a:t>count()</a:t>
            </a:r>
            <a:r>
              <a:rPr/>
              <a:t> or </a:t>
            </a:r>
            <a:r>
              <a:rPr>
                <a:latin typeface="Courier"/>
              </a:rPr>
              <a:t>group_by() + summarise()</a:t>
            </a:r>
            <a:r>
              <a:rPr/>
              <a:t>: count events by type, by region, or by year.</a:t>
            </a:r>
          </a:p>
          <a:p>
            <a:pPr lvl="0"/>
            <a:r>
              <a:rPr>
                <a:latin typeface="Courier"/>
              </a:rPr>
              <a:t>st_as_sf(coords = c("longitude", "latitude"))</a:t>
            </a:r>
            <a:r>
              <a:rPr/>
              <a:t>: turn the table into a spatial layer, using the two coordinate columns.</a:t>
            </a:r>
          </a:p>
          <a:p>
            <a:pPr lvl="0"/>
            <a:r>
              <a:rPr>
                <a:latin typeface="Courier"/>
              </a:rPr>
              <a:t>tm_shape() + tm_dots()</a:t>
            </a:r>
            <a:r>
              <a:rPr/>
              <a:t>: display events as points on a map; </a:t>
            </a:r>
            <a:r>
              <a:rPr>
                <a:latin typeface="Courier"/>
              </a:rPr>
              <a:t>tm_shape() + tm_polygons()</a:t>
            </a:r>
            <a:r>
              <a:rPr/>
              <a:t> for a choropleth map by region.</a:t>
            </a:r>
          </a:p>
          <a:p>
            <a:pPr lvl="0"/>
            <a:r>
              <a:rPr>
                <a:latin typeface="Courier"/>
              </a:rPr>
              <a:t>st_join()</a:t>
            </a:r>
            <a:r>
              <a:rPr/>
              <a:t>: attach each event to the administrative region it falls within (spatial join).</a:t>
            </a:r>
          </a:p>
          <a:p>
            <a:pPr lvl="0"/>
            <a:r>
              <a:rPr>
                <a:latin typeface="Courier"/>
              </a:rPr>
              <a:t>acledR::acled_api()</a:t>
            </a:r>
            <a:r>
              <a:rPr/>
              <a:t>: call the ACLED API directly from R, as an alternative to an already-downloaded CSV file.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2: ERA5, temperature in Cameroon</a:t>
            </a:r>
          </a:p>
        </p:txBody>
      </p:sp>
      <p:sp>
        <p:nvSpPr>
          <p:cNvPr id="3" name="Content Placeholder 2"/>
          <p:cNvSpPr>
            <a:spLocks noGrp="1"/>
          </p:cNvSpPr>
          <p:nvPr>
            <p:ph idx="1"/>
          </p:nvPr>
        </p:nvSpPr>
        <p:spPr/>
        <p:txBody>
          <a:bodyPr/>
          <a:lstStyle/>
          <a:p>
            <a:pPr lvl="0" indent="0" marL="0">
              <a:buNone/>
            </a:pPr>
            <a:r>
              <a:rPr/>
              <a:t>ERA5: an ECMWF atmospheric reanalysis, accessible via the Copernicus Climate Data Store (resolution ~31 km, 1940 to present).</a:t>
            </a:r>
          </a:p>
          <a:p>
            <a:pPr lvl="0"/>
            <a:r>
              <a:rPr/>
              <a:t>Read an ERA5 NetCDF file with terra and explore its temporal structure.</a:t>
            </a:r>
          </a:p>
          <a:p>
            <a:pPr lvl="0"/>
            <a:r>
              <a:rPr/>
              <a:t>Convert temperatures from Kelvin to Celsius and crop the raster to Cameroon.</a:t>
            </a:r>
          </a:p>
          <a:p>
            <a:pPr lvl="0"/>
            <a:r>
              <a:rPr/>
              <a:t>Extract mean temperature by region with exactextractr.</a:t>
            </a:r>
          </a:p>
          <a:p>
            <a:pPr lvl="0"/>
            <a:r>
              <a:rPr/>
              <a:t>Visualise the national time series, monthly seasonality, and an anomaly map.</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2: the ERA5 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Product used: </a:t>
                </a:r>
                <a:r>
                  <a:rPr i="1"/>
                  <a:t>ERA5 Single Levels Monthly Means</a:t>
                </a:r>
                <a:r>
                  <a:rPr/>
                  <a:t>, variable </a:t>
                </a:r>
                <a:r>
                  <a:rPr>
                    <a:latin typeface="Courier"/>
                  </a:rPr>
                  <a:t>2m_temperature</a:t>
                </a:r>
                <a:r>
                  <a:rPr/>
                  <a:t> (temperature at 2 m above ground, monthly mean).</a:t>
                </a:r>
              </a:p>
              <a:p>
                <a:pPr lvl="0"/>
                <a:r>
                  <a:rPr b="1"/>
                  <a:t>NetCDF</a:t>
                </a:r>
                <a:r>
                  <a:rPr/>
                  <a:t> format: a single file contains several layers (one per month), organised along three dimensions: longitude, latitude and time.</a:t>
                </a:r>
              </a:p>
              <a:p>
                <a:pPr lvl="0"/>
                <a:r>
                  <a:rPr/>
                  <a:t>Temperatures are provided in Kelvin: they must always be converted to Celsius before interpretation (</a:t>
                </a:r>
                <a14:m>
                  <m:oMath xmlns:m="http://schemas.openxmlformats.org/officeDocument/2006/math">
                    <m:sSub>
                      <m:e>
                        <m:r>
                          <m:t>T</m:t>
                        </m:r>
                      </m:e>
                      <m:sub>
                        <m:r>
                          <m:rPr>
                            <m:sty m:val="p"/>
                          </m:rPr>
                          <m:t>°</m:t>
                        </m:r>
                        <m:r>
                          <m:t>C</m:t>
                        </m:r>
                      </m:sub>
                    </m:sSub>
                    <m:r>
                      <m:rPr>
                        <m:sty m:val="p"/>
                      </m:rPr>
                      <m:t>=</m:t>
                    </m:r>
                    <m:sSub>
                      <m:e>
                        <m:r>
                          <m:t>T</m:t>
                        </m:r>
                      </m:e>
                      <m:sub>
                        <m:r>
                          <m:t>K</m:t>
                        </m:r>
                      </m:sub>
                    </m:sSub>
                    <m:r>
                      <m:rPr>
                        <m:sty m:val="p"/>
                      </m:rPr>
                      <m:t>−</m:t>
                    </m:r>
                    <m:r>
                      <m:t>273</m:t>
                    </m:r>
                    <m:r>
                      <m:rPr>
                        <m:sty m:val="p"/>
                      </m:rPr>
                      <m:t>,</m:t>
                    </m:r>
                    <m:r>
                      <m:t>15</m:t>
                    </m:r>
                  </m:oMath>
                </a14:m>
                <a:r>
                  <a:rPr/>
                  <a:t>).</a:t>
                </a:r>
              </a:p>
              <a:p>
                <a:pPr lvl="0"/>
                <a:r>
                  <a:rPr/>
                  <a:t>Access: free account at </a:t>
                </a:r>
                <a:r>
                  <a:rPr>
                    <a:hlinkClick r:id="rId2"/>
                  </a:rPr>
                  <a:t>cds.climate.copernicus.eu</a:t>
                </a:r>
                <a:r>
                  <a:rPr/>
                  <a:t>; credentials (UID + API key) stored in </a:t>
                </a:r>
                <a:r>
                  <a:rPr>
                    <a:latin typeface="Courier"/>
                  </a:rPr>
                  <a:t>.env</a:t>
                </a:r>
                <a:r>
                  <a:rPr/>
                  <a:t>; requests sent from R with the </a:t>
                </a:r>
                <a:r>
                  <a:rPr>
                    <a:latin typeface="Courier"/>
                  </a:rPr>
                  <a:t>ecmwfr</a:t>
                </a:r>
                <a:r>
                  <a:rPr/>
                  <a:t> package.</a:t>
                </a:r>
              </a:p>
              <a:p>
                <a:pPr lvl="0"/>
                <a:r>
                  <a:rPr/>
                  <a:t>Complete API-call script (</a:t>
                </a:r>
                <a:r>
                  <a:rPr>
                    <a:latin typeface="Courier"/>
                  </a:rPr>
                  <a:t>.env</a:t>
                </a:r>
                <a:r>
                  <a:rPr/>
                  <a:t> authentication, fallback to a local NetCDF file): </a:t>
                </a:r>
                <a:r>
                  <a:rPr>
                    <a:latin typeface="Courier"/>
                  </a:rPr>
                  <a:t>scripts_formateurs/jour_09_formateur_ecmwf_api_en.R</a:t>
                </a:r>
                <a:r>
                  <a:rPr/>
                  <a:t>.</a:t>
                </a:r>
              </a:p>
            </p:txBody>
          </p:sp>
        </mc:Choice>
      </mc:AlternateContent>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2: key functions</a:t>
            </a:r>
          </a:p>
        </p:txBody>
      </p:sp>
      <p:sp>
        <p:nvSpPr>
          <p:cNvPr id="3" name="Content Placeholder 2"/>
          <p:cNvSpPr>
            <a:spLocks noGrp="1"/>
          </p:cNvSpPr>
          <p:nvPr>
            <p:ph idx="1"/>
          </p:nvPr>
        </p:nvSpPr>
        <p:spPr/>
        <p:txBody>
          <a:bodyPr/>
          <a:lstStyle/>
          <a:p>
            <a:pPr lvl="0"/>
            <a:r>
              <a:rPr>
                <a:latin typeface="Courier"/>
              </a:rPr>
              <a:t>rast()</a:t>
            </a:r>
            <a:r>
              <a:rPr/>
              <a:t>: read the NetCDF file with terra, which automatically loads all layers (all months).</a:t>
            </a:r>
          </a:p>
          <a:p>
            <a:pPr lvl="0"/>
            <a:r>
              <a:rPr>
                <a:latin typeface="Courier"/>
              </a:rPr>
              <a:t>nlyr()</a:t>
            </a:r>
            <a:r>
              <a:rPr/>
              <a:t>, </a:t>
            </a:r>
            <a:r>
              <a:rPr>
                <a:latin typeface="Courier"/>
              </a:rPr>
              <a:t>res()</a:t>
            </a:r>
            <a:r>
              <a:rPr/>
              <a:t>, </a:t>
            </a:r>
            <a:r>
              <a:rPr>
                <a:latin typeface="Courier"/>
              </a:rPr>
              <a:t>time()</a:t>
            </a:r>
            <a:r>
              <a:rPr/>
              <a:t>: check, respectively, the number of layers, the spatial resolution, and the date of each layer.</a:t>
            </a:r>
          </a:p>
          <a:p>
            <a:pPr lvl="0"/>
            <a:r>
              <a:rPr>
                <a:latin typeface="Courier"/>
              </a:rPr>
              <a:t>crop()</a:t>
            </a:r>
            <a:r>
              <a:rPr/>
              <a:t> then </a:t>
            </a:r>
            <a:r>
              <a:rPr>
                <a:latin typeface="Courier"/>
              </a:rPr>
              <a:t>mask()</a:t>
            </a:r>
            <a:r>
              <a:rPr/>
              <a:t>: crop the raster to the outline of Cameroon.</a:t>
            </a:r>
          </a:p>
          <a:p>
            <a:pPr lvl="0"/>
            <a:r>
              <a:rPr>
                <a:latin typeface="Courier"/>
              </a:rPr>
              <a:t>exact_extract(..., "mean")</a:t>
            </a:r>
            <a:r>
              <a:rPr/>
              <a:t>: calculate mean temperature by region, for every layer (every month), in a single command.</a:t>
            </a:r>
          </a:p>
          <a:p>
            <a:pPr lvl="0"/>
            <a:r>
              <a:rPr>
                <a:latin typeface="Courier"/>
              </a:rPr>
              <a:t>pivot_longer()</a:t>
            </a:r>
            <a:r>
              <a:rPr/>
              <a:t>: reshape a table where each month is a column into a table where each row is a region-month combination, easier to plot with ggplot2.</a:t>
            </a:r>
          </a:p>
          <a:p>
            <a:pPr lvl="0"/>
            <a:r>
              <a:rPr>
                <a:latin typeface="Courier"/>
              </a:rPr>
              <a:t>ecmwfr::wf_request()</a:t>
            </a:r>
            <a:r>
              <a:rPr/>
              <a:t>: submit a request to the Copernicus CDS API and download the result, as an alternative to an already-present local NetCDF file.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small area estimation, from direct to smoothed estimate</a:t>
            </a:r>
          </a:p>
        </p:txBody>
      </p:sp>
      <p:sp>
        <p:nvSpPr>
          <p:cNvPr id="3" name="Content Placeholder 2"/>
          <p:cNvSpPr>
            <a:spLocks noGrp="1"/>
          </p:cNvSpPr>
          <p:nvPr>
            <p:ph idx="1"/>
          </p:nvPr>
        </p:nvSpPr>
        <p:spPr/>
        <p:txBody>
          <a:bodyPr/>
          <a:lstStyle/>
          <a:p>
            <a:pPr lvl="0"/>
            <a:r>
              <a:rPr/>
              <a:t>A national survey (EHCVM) gives a reliable national-level estimate, but a very noisy one in communes where few households were surveyed.</a:t>
            </a:r>
          </a:p>
          <a:p>
            <a:pPr lvl="0"/>
            <a:r>
              <a:rPr/>
              <a:t>Small Area Estimation (SAE) “borrows strength” from other communes, via an auxiliary covariate, to stabilise the estimate in the least well-sampled communes.</a:t>
            </a:r>
          </a:p>
          <a:p>
            <a:pPr lvl="0"/>
            <a:r>
              <a:rPr/>
              <a:t>Exercise: compare, commune by commune in Benin, the direct estimate of food insecurity (EHCVM 2018-2019) with its smoothed equivalent from a Fay-Herriot model, then </a:t>
            </a:r>
            <a:r>
              <a:rPr b="1"/>
              <a:t>predict at the scale of a 3 km grid</a:t>
            </a:r>
            <a:r>
              <a:rPr/>
              <a:t>, finer than the survey itself.</a:t>
            </a:r>
          </a:p>
          <a:p>
            <a:pPr lvl="0"/>
            <a:r>
              <a:rPr/>
              <a:t>Directly extends theoretical part 2 (geospatial modelling): Golding et al. and Wakefield et al. apply the same principle at a much larger scale.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the principle of the Fay-Herriot model</a:t>
            </a:r>
          </a:p>
        </p:txBody>
      </p:sp>
      <p:sp>
        <p:nvSpPr>
          <p:cNvPr id="3" name="Content Placeholder 2"/>
          <p:cNvSpPr>
            <a:spLocks noGrp="1"/>
          </p:cNvSpPr>
          <p:nvPr>
            <p:ph idx="1"/>
          </p:nvPr>
        </p:nvSpPr>
        <p:spPr/>
        <p:txBody>
          <a:bodyPr/>
          <a:lstStyle/>
          <a:p>
            <a:pPr lvl="0"/>
            <a:r>
              <a:rPr/>
              <a:t>For each commune i, we observe a direct estimate p_i and its sampling variance psi_i (large if few households were surveyed).</a:t>
            </a:r>
          </a:p>
          <a:p>
            <a:pPr lvl="0"/>
            <a:r>
              <a:rPr/>
              <a:t>Fay-Herriot model (1979): p_i = x_i * beta + u_i + e_i, where u_i is the between-commune variance (to be estimated) and e_i the sampling variance (known or approximated).</a:t>
            </a:r>
          </a:p>
          <a:p>
            <a:pPr lvl="0"/>
            <a:r>
              <a:rPr/>
              <a:t>The smoothed estimator (EBLUP) is a weighted average between the direct estimate p_i and the model’s prediction:</a:t>
            </a:r>
          </a:p>
          <a:p>
            <a:pPr lvl="1"/>
            <a:r>
              <a:rPr/>
              <a:t>poorly sampled commune (large psi_i): estimate pulled towards the model;</a:t>
            </a:r>
          </a:p>
          <a:p>
            <a:pPr lvl="1"/>
            <a:r>
              <a:rPr/>
              <a:t>well-sampled commune (small psi_i): direct estimate kept nearly as is.</a:t>
            </a:r>
          </a:p>
          <a:p>
            <a:pPr lvl="0"/>
            <a:r>
              <a:rPr/>
              <a:t>R package: </a:t>
            </a:r>
            <a:r>
              <a:rPr>
                <a:latin typeface="Courier"/>
              </a:rPr>
              <a:t>sae</a:t>
            </a:r>
            <a:r>
              <a:rPr/>
              <a:t>, function </a:t>
            </a:r>
            <a:r>
              <a:rPr>
                <a:latin typeface="Courier"/>
              </a:rPr>
              <a:t>mseFH()</a:t>
            </a:r>
            <a:r>
              <a:rPr/>
              <a:t>, fits the model and calculates the mean squared error (MSE) of each smoothed estimate. The formula can include several covariates at once.</a:t>
            </a:r>
          </a:p>
          <a:p>
            <a:pPr lvl="0"/>
            <a:r>
              <a:rPr/>
              <a:t>Important: the model stays at the same geographic level as the direct estimate (here, the commune); “small area” refers to the sample size, not the spatial resolution. Going finer than the commune requires an extra step (see the last slide of this workshop).</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the data used</a:t>
            </a:r>
          </a:p>
        </p:txBody>
      </p:sp>
      <p:sp>
        <p:nvSpPr>
          <p:cNvPr id="3" name="Content Placeholder 2"/>
          <p:cNvSpPr>
            <a:spLocks noGrp="1"/>
          </p:cNvSpPr>
          <p:nvPr>
            <p:ph idx="1"/>
          </p:nvPr>
        </p:nvSpPr>
        <p:spPr/>
        <p:txBody>
          <a:bodyPr/>
          <a:lstStyle/>
          <a:p>
            <a:pPr lvl="0"/>
            <a:r>
              <a:rPr b="1"/>
              <a:t>Direct estimate</a:t>
            </a:r>
            <a:r>
              <a:rPr/>
              <a:t>: share of households in food insecurity, by commune, Enquête Harmonisée sur les Conditions de Vie des Ménages (EHCVM) 2018-2019, Benin (</a:t>
            </a:r>
            <a:r>
              <a:rPr>
                <a:hlinkClick r:id="rId2"/>
              </a:rPr>
              <a:t>microdata.worldbank.org</a:t>
            </a:r>
            <a:r>
              <a:rPr/>
              <a:t>). Calculated with the </a:t>
            </a:r>
            <a:r>
              <a:rPr>
                <a:latin typeface="Courier"/>
              </a:rPr>
              <a:t>survey</a:t>
            </a:r>
            <a:r>
              <a:rPr/>
              <a:t> package (survey weights + clusters), a genuine standard error, not an approximation.</a:t>
            </a:r>
          </a:p>
          <a:p>
            <a:pPr lvl="0"/>
            <a:r>
              <a:rPr b="1"/>
              <a:t>Covariate selection</a:t>
            </a:r>
            <a:r>
              <a:rPr/>
              <a:t>: correlation screening among 9 candidate geospatial covariates (Google Earth Engine), all available both by commune and on a 3 km x 3 km grid (~15,400 cells, not to be confused with the 100 m population rasters from Day 7); retained: share of urban land and share of wooded savanna (MODIS land cover).</a:t>
            </a:r>
          </a:p>
          <a:p>
            <a:pPr lvl="0"/>
            <a:r>
              <a:rPr b="1"/>
              <a:t>Source and acknowledgements</a:t>
            </a:r>
            <a:r>
              <a:rPr/>
              <a:t>: household data, covariates, and extraction code adapted from the repository </a:t>
            </a:r>
            <a:r>
              <a:rPr>
                <a:hlinkClick r:id="rId3"/>
              </a:rPr>
              <a:t>github.com/JoshMerfeld/saereplication</a:t>
            </a:r>
            <a:r>
              <a:rPr/>
              <a:t> (Josh Merfeld, University of Queensland), thanks to the author for making this material public. The original repository uses a richer model (unit-level EBP, </a:t>
            </a:r>
            <a:r>
              <a:rPr>
                <a:latin typeface="Courier"/>
              </a:rPr>
              <a:t>povmap</a:t>
            </a:r>
            <a:r>
              <a:rPr/>
              <a:t> package); this exercise deliberately simplifies to an area-level model (Fay-Herriot) for teaching purposes.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key functions</a:t>
            </a:r>
          </a:p>
        </p:txBody>
      </p:sp>
      <p:sp>
        <p:nvSpPr>
          <p:cNvPr id="3" name="Content Placeholder 2"/>
          <p:cNvSpPr>
            <a:spLocks noGrp="1"/>
          </p:cNvSpPr>
          <p:nvPr>
            <p:ph idx="1"/>
          </p:nvPr>
        </p:nvSpPr>
        <p:spPr/>
        <p:txBody>
          <a:bodyPr/>
          <a:lstStyle/>
          <a:p>
            <a:pPr lvl="0"/>
            <a:r>
              <a:rPr>
                <a:latin typeface="Courier"/>
              </a:rPr>
              <a:t>survey::svydesign(ids, weights, data)</a:t>
            </a:r>
            <a:r>
              <a:rPr/>
              <a:t> + </a:t>
            </a:r>
            <a:r>
              <a:rPr>
                <a:latin typeface="Courier"/>
              </a:rPr>
              <a:t>svyby(~var, ~domaine, plan, svymean)</a:t>
            </a:r>
            <a:r>
              <a:rPr/>
              <a:t>: weighted direct estimate and its standard error, accounting for the cluster sampling design.</a:t>
            </a:r>
          </a:p>
          <a:p>
            <a:pPr lvl="0"/>
            <a:r>
              <a:rPr>
                <a:latin typeface="Courier"/>
              </a:rPr>
              <a:t>cor()</a:t>
            </a:r>
            <a:r>
              <a:rPr/>
              <a:t> on candidate covariates: screen and choose an auxiliary covariate rather than guessing.</a:t>
            </a:r>
          </a:p>
          <a:p>
            <a:pPr lvl="0"/>
            <a:r>
              <a:rPr>
                <a:latin typeface="Courier"/>
              </a:rPr>
              <a:t>sae::mseFH(formule, vardir, data)</a:t>
            </a:r>
            <a:r>
              <a:rPr/>
              <a:t>: fits the Fay-Herriot model (here with two covariates) and returns the EBLUP (</a:t>
            </a:r>
            <a:r>
              <a:rPr>
                <a:latin typeface="Courier"/>
              </a:rPr>
              <a:t>$est$eblup</a:t>
            </a:r>
            <a:r>
              <a:rPr/>
              <a:t>) and its estimated MSE (</a:t>
            </a:r>
            <a:r>
              <a:rPr>
                <a:latin typeface="Courier"/>
              </a:rPr>
              <a:t>$mse</a:t>
            </a:r>
            <a:r>
              <a:rPr/>
              <a:t>).</a:t>
            </a:r>
          </a:p>
          <a:p>
            <a:pPr lvl="0"/>
            <a:r>
              <a:rPr>
                <a:latin typeface="Courier"/>
              </a:rPr>
              <a:t>geom_pointrange()</a:t>
            </a:r>
            <a:r>
              <a:rPr/>
              <a:t> + a scatter plot of precision gain vs sample size: visualise where and why the smoothing acts.</a:t>
            </a:r>
          </a:p>
          <a:p>
            <a:pPr lvl="0"/>
            <a:r>
              <a:rPr>
                <a:latin typeface="Courier"/>
              </a:rPr>
              <a:t>tmap_arrange()</a:t>
            </a:r>
            <a:r>
              <a:rPr/>
              <a:t>: compare direct estimate, smoothed estimate, and precision gain side by side.</a:t>
            </a:r>
          </a:p>
          <a:p>
            <a:pPr lvl="0"/>
            <a:r>
              <a:rPr/>
              <a:t>Manual reconstruction of the commune random effect (</a:t>
            </a:r>
            <a:r>
              <a:rPr>
                <a:latin typeface="Courier"/>
              </a:rPr>
              <a:t>u_hat</a:t>
            </a:r>
            <a:r>
              <a:rPr/>
              <a:t>) from the model’s coefficients, applied to the covariates of each grid cell: the same logic as commune-level smoothing, but at fine resolution.</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from the commune to the 3 km grid</a:t>
            </a:r>
          </a:p>
        </p:txBody>
      </p:sp>
      <p:sp>
        <p:nvSpPr>
          <p:cNvPr id="3" name="Content Placeholder 2"/>
          <p:cNvSpPr>
            <a:spLocks noGrp="1"/>
          </p:cNvSpPr>
          <p:nvPr>
            <p:ph idx="1"/>
          </p:nvPr>
        </p:nvSpPr>
        <p:spPr/>
        <p:txBody>
          <a:bodyPr/>
          <a:lstStyle/>
          <a:p>
            <a:pPr lvl="0"/>
            <a:r>
              <a:rPr/>
              <a:t>The model is fitted at commune level, but its coefficients (urban share, savanna share) are known for EVERY 3 km grid cell, not just for the surveyed communes.</a:t>
            </a:r>
          </a:p>
          <a:p>
            <a:pPr lvl="0"/>
            <a:r>
              <a:rPr/>
              <a:t>Combining these coefficients with the commune’s random effect (</a:t>
            </a:r>
            <a:r>
              <a:rPr>
                <a:latin typeface="Courier"/>
              </a:rPr>
              <a:t>u_hat</a:t>
            </a:r>
            <a:r>
              <a:rPr/>
              <a:t>, the share of the covariate gap specific to each commune), we obtain a 3 km prediction: </a:t>
            </a:r>
            <a:r>
              <a:rPr>
                <a:latin typeface="Courier"/>
              </a:rPr>
              <a:t>insecure_pred = beta0 + beta_urbain * x_urbain + beta_savane * x_savane + u_hat</a:t>
            </a:r>
            <a:r>
              <a:rPr/>
              <a:t>.</a:t>
            </a:r>
          </a:p>
          <a:p>
            <a:pPr lvl="0"/>
            <a:r>
              <a:rPr/>
              <a:t>Result: a map finer than the survey itself, the spatial meaning of “small area”, beyond the sole gain in statistical precision.</a:t>
            </a:r>
          </a:p>
          <a:p>
            <a:pPr lvl="0"/>
            <a:r>
              <a:rPr/>
              <a:t>Limitation to keep in mind: this is an extrapolation from a relationship fitted on 76 communes; it assumes that this covariate-indicator relationship holds within each commune, which is not verifiable with this data alone.</a:t>
            </a:r>
          </a:p>
          <a:p>
            <a:pPr lvl="0"/>
            <a:r>
              <a:rPr/>
              <a:t>Pitfall to flag: this map is visually the most impressive of the exercise (smooth, continuous rendering at 3 km), but also the least measured. The rendering should not be mistaken for genuine precision at this resolution.</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Workshop Exercise 3: what the comparison reveals</a:t>
            </a:r>
          </a:p>
        </p:txBody>
      </p:sp>
      <p:sp>
        <p:nvSpPr>
          <p:cNvPr id="3" name="Content Placeholder 2"/>
          <p:cNvSpPr>
            <a:spLocks noGrp="1"/>
          </p:cNvSpPr>
          <p:nvPr>
            <p:ph idx="1"/>
          </p:nvPr>
        </p:nvSpPr>
        <p:spPr/>
        <p:txBody>
          <a:bodyPr/>
          <a:lstStyle/>
          <a:p>
            <a:pPr lvl="0"/>
            <a:r>
              <a:rPr/>
              <a:t>The Fay-Herriot precision gain is not uniform: it should be concentrated in the communes where the EHCVM sample is smallest, this is the very mechanism of SAE, to be observed in the scatter plot of gain vs sample size.</a:t>
            </a:r>
          </a:p>
          <a:p>
            <a:pPr lvl="0"/>
            <a:r>
              <a:rPr/>
              <a:t>With only 76 communes and two covariates, the margin of error on the coefficients remains wide: a reminder that an area-level model generally needs more domains to reliably estimate the effect of a covariate.</a:t>
            </a:r>
          </a:p>
          <a:p>
            <a:pPr lvl="0"/>
            <a:r>
              <a:rPr/>
              <a:t>Key message: SAE does not replace a properly sized survey, but it avoids publishing commune-level estimates too noisy to be useful for decision-making, and, pushed to grid scale, it reveals spatial variation invisible in the survey alone.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 and precautions</a:t>
            </a:r>
          </a:p>
        </p:txBody>
      </p:sp>
      <p:sp>
        <p:nvSpPr>
          <p:cNvPr id="3" name="Content Placeholder 2"/>
          <p:cNvSpPr>
            <a:spLocks noGrp="1"/>
          </p:cNvSpPr>
          <p:nvPr>
            <p:ph idx="1"/>
          </p:nvPr>
        </p:nvSpPr>
        <p:spPr/>
        <p:txBody>
          <a:bodyPr/>
          <a:lstStyle/>
          <a:p>
            <a:pPr lvl="0" indent="0" marL="0">
              <a:buNone/>
            </a:pPr>
            <a:r>
              <a:rPr b="1"/>
              <a:t>ACLED:</a:t>
            </a:r>
          </a:p>
          <a:p>
            <a:pPr lvl="0"/>
            <a:r>
              <a:rPr/>
              <a:t>Coverage depends on media sources: remote areas are under-represented.</a:t>
            </a:r>
          </a:p>
          <a:p>
            <a:pPr lvl="0"/>
            <a:r>
              <a:rPr/>
              <a:t>Number of events ≠ intensity of violence.</a:t>
            </a:r>
          </a:p>
          <a:p>
            <a:pPr lvl="0"/>
            <a:r>
              <a:rPr/>
              <a:t>Cite ACLED and specify the download date.</a:t>
            </a:r>
          </a:p>
          <a:p>
            <a:pPr lvl="0" indent="0" marL="0">
              <a:buNone/>
            </a:pPr>
            <a:r>
              <a:rPr b="1"/>
              <a:t>ERA5:</a:t>
            </a:r>
          </a:p>
          <a:p>
            <a:pPr lvl="0"/>
            <a:r>
              <a:rPr/>
              <a:t>A reanalysis, not direct observations: areas without weather stations depend on the model.</a:t>
            </a:r>
          </a:p>
          <a:p>
            <a:pPr lvl="0"/>
            <a:r>
              <a:rPr/>
              <a:t>Resolution of 31 km: not suited to intra-urban analysis.</a:t>
            </a:r>
          </a:p>
          <a:p>
            <a:pPr lvl="0"/>
            <a:r>
              <a:rPr/>
              <a:t>Unit is Kelvin: always check the conversion.</a:t>
            </a:r>
          </a:p>
          <a:p>
            <a:pPr lvl="0" indent="0" marL="0">
              <a:buNone/>
            </a:pPr>
            <a:r>
              <a:rPr b="1"/>
              <a:t>Small area estimation (SAE):</a:t>
            </a:r>
          </a:p>
          <a:p>
            <a:pPr lvl="0"/>
            <a:r>
              <a:rPr/>
              <a:t>An area-level model (Fay-Herriot) with only 76 domains and two covariates has limited power to validate these covariates; a richer model would require more domains.</a:t>
            </a:r>
          </a:p>
          <a:p>
            <a:pPr lvl="0"/>
            <a:r>
              <a:rPr/>
              <a:t>Smoothing reduces sampling noise, but does not invent information: it corrects neither an undersized survey design nor a coverage bias.</a:t>
            </a:r>
          </a:p>
          <a:p>
            <a:pPr lvl="0"/>
            <a:r>
              <a:rPr/>
              <a:t>The grid-scale prediction (3 km) is an extrapolation of the commune model: it assumes that the covariate-indicator relationship estimated on 76 communes holds within each commune, a hypothesis not verifiable with this data alone.</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messages</a:t>
            </a:r>
          </a:p>
        </p:txBody>
      </p:sp>
      <p:sp>
        <p:nvSpPr>
          <p:cNvPr id="3" name="Content Placeholder 2"/>
          <p:cNvSpPr>
            <a:spLocks noGrp="1"/>
          </p:cNvSpPr>
          <p:nvPr>
            <p:ph idx="1"/>
          </p:nvPr>
        </p:nvSpPr>
        <p:spPr/>
        <p:txBody>
          <a:bodyPr/>
          <a:lstStyle/>
          <a:p>
            <a:pPr lvl="0"/>
            <a:r>
              <a:rPr/>
              <a:t>ACLED, ERA5, and the Fay-Herriot model are three complementary sources and methods for the spatial social sciences.</a:t>
            </a:r>
          </a:p>
          <a:p>
            <a:pPr lvl="0"/>
            <a:r>
              <a:rPr/>
              <a:t>ACLED and ERA5 use an authenticated API: store the keys in a </a:t>
            </a:r>
            <a:r>
              <a:rPr>
                <a:latin typeface="Courier"/>
              </a:rPr>
              <a:t>.env</a:t>
            </a:r>
            <a:r>
              <a:rPr/>
              <a:t> file.</a:t>
            </a:r>
          </a:p>
          <a:p>
            <a:pPr lvl="0"/>
            <a:r>
              <a:rPr/>
              <a:t>NetCDF is multidimensional: </a:t>
            </a:r>
            <a:r>
              <a:rPr>
                <a:latin typeface="Courier"/>
              </a:rPr>
              <a:t>terra::rast()</a:t>
            </a:r>
            <a:r>
              <a:rPr/>
              <a:t> reads all layers in a single command.</a:t>
            </a:r>
          </a:p>
          <a:p>
            <a:pPr lvl="0"/>
            <a:r>
              <a:rPr>
                <a:latin typeface="Courier"/>
              </a:rPr>
              <a:t>exactextractr</a:t>
            </a:r>
            <a:r>
              <a:rPr/>
              <a:t> extracts zonal statistics for every layer in one line.</a:t>
            </a:r>
          </a:p>
          <a:p>
            <a:pPr lvl="0"/>
            <a:r>
              <a:rPr>
                <a:latin typeface="Courier"/>
              </a:rPr>
              <a:t>sae::mseFH()</a:t>
            </a:r>
            <a:r>
              <a:rPr/>
              <a:t> combines a direct estimate with an auxiliary covariate to stabilise a noisy regional estimate.</a:t>
            </a:r>
          </a:p>
          <a:p>
            <a:pPr lvl="0"/>
            <a:r>
              <a:rPr/>
              <a:t>Always check the time range of the data before analysing it.</a:t>
            </a:r>
          </a:p>
        </p:txBody>
      </p:sp>
    </p:spTree>
  </p:cSld>
</p:sld>
</file>

<file path=ppt/theme/theme1.xml><?xml version="1.0" encoding="utf-8"?>
<a:theme xmlns:a="http://schemas.openxmlformats.org/drawingml/2006/main" name="IFORD R Spatial Theme">
  <a:themeElements>
    <a:clrScheme name="IFORD">
      <a:dk1>
        <a:srgbClr val="132A35"/>
      </a:dk1>
      <a:lt1>
        <a:srgbClr val="FFFFFF"/>
      </a:lt1>
      <a:dk2>
        <a:srgbClr val="004B3C"/>
      </a:dk2>
      <a:lt2>
        <a:srgbClr val="F3F7F2"/>
      </a:lt2>
      <a:accent1>
        <a:srgbClr val="006B4F"/>
      </a:accent1>
      <a:accent2>
        <a:srgbClr val="F2A900"/>
      </a:accent2>
      <a:accent3>
        <a:srgbClr val="3A7D44"/>
      </a:accent3>
      <a:accent4>
        <a:srgbClr val="2B6CB0"/>
      </a:accent4>
      <a:accent5>
        <a:srgbClr val="7A4E8A"/>
      </a:accent5>
      <a:accent6>
        <a:srgbClr val="D95F02"/>
      </a:accent6>
      <a:hlink>
        <a:srgbClr val="006B4F"/>
      </a:hlink>
      <a:folHlink>
        <a:srgbClr val="7A4E8A"/>
      </a:folHlink>
    </a:clrScheme>
    <a:fontScheme name="Office">
      <a:majorFont>
        <a:latin typeface="Aptos"/>
        <a:ea typeface=""/>
        <a:cs typeface=""/>
        <a:font script="Jpan" typeface="ï¼­ï¼³ ï¼°ã‚´ã‚·ãƒƒã‚¯"/>
        <a:font script="Hang" typeface="ë§‘ì€ ê³ ë”•"/>
        <a:font script="Hans" typeface="å®‹ä½“"/>
        <a:font script="Hant" typeface="æ–°ç´°æ˜Žé«”"/>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ï¼­ï¼³ ï¼°ã‚´ã‚·ãƒƒã‚¯"/>
        <a:font script="Hang" typeface="ë§‘ì€ ê³ ë”•"/>
        <a:font script="Hans" typeface="å®‹ä½“"/>
        <a:font script="Hant" typeface="æ–°ç´°æ˜Žé«”"/>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901</Words>
  <Application>Microsoft Office PowerPoint</Application>
  <PresentationFormat>On-screen Show (16:9)</PresentationFormat>
  <Paragraphs>145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Courier</vt:lpstr>
      <vt:lpstr>IFORD R Spatial Theme</vt:lpstr>
      <vt:lpstr>Jour 10 - Flux reproductibles et projet final</vt:lpstr>
      <vt:lpstr>Objectifs de la journee</vt:lpstr>
      <vt:lpstr>Programme 6 heures</vt:lpstr>
      <vt:lpstr>Reproductibilite</vt:lpstr>
      <vt:lpstr>Structure conseillee</vt:lpstr>
      <vt:lpstr>Quarto: idee centrale</vt:lpstr>
      <vt:lpstr>Un seul fichier, plusieurs formats</vt:lpstr>
      <vt:lpstr>Quand choisir quel format?</vt:lpstr>
      <vt:lpstr>PowerPoint Presentation</vt:lpstr>
      <vt:lpstr>Anatomie d’un fichier Quarto</vt:lpstr>
      <vt:lpstr>Demonstration Quarto</vt:lpstr>
      <vt:lpstr>tmap: plot vs view</vt:lpstr>
      <vt:lpstr>Automatisation</vt:lpstr>
      <vt:lpstr>Atelier R</vt:lpstr>
      <vt:lpstr>Mini-projet</vt:lpstr>
      <vt:lpstr>Grille de presentation</vt:lpstr>
      <vt:lpstr>FAIR</vt:lpstr>
      <vt:lpstr>Metadonnees minimales</vt:lpstr>
      <vt:lpstr>Feuille de route INS/BUCREP</vt:lpstr>
      <vt:lpstr>Messages de cloture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9 - Spatial applications and social sciences</dc:title>
  <dc:creator>IFORD - Spatial R training</dc:creator>
  <cp:keywords/>
  <dcterms:created xsi:type="dcterms:W3CDTF">2026-08-05T21:37:05Z</dcterms:created>
  <dcterms:modified xsi:type="dcterms:W3CDTF">2026-08-05T21:37:05Z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subtitle">
    <vt:lpwstr>Theoretical foundations, ACLED (armed conflict) and ERA5 (temperature) in Cameroon, small area estimation in Benin</vt:lpwstr>
  </property>
  <property fmtid="{D5CDD505-2E9C-101B-9397-08002B2CF9AE}" pid="10" name="toc-title">
    <vt:lpwstr>Table of contents</vt:lpwstr>
  </property>
</Properties>
</file>