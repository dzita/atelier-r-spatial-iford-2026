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36"/>
          <a:sy d="100" n="136"/>
        </p:scale>
        <p:origin x="816" y="12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slide" Target="slides/slide111.xml" /><Relationship Id="rId113" Type="http://schemas.openxmlformats.org/officeDocument/2006/relationships/slide" Target="slides/slide112.xml" /><Relationship Id="rId114" Type="http://schemas.openxmlformats.org/officeDocument/2006/relationships/slide" Target="slides/slide113.xml" /><Relationship Id="rId115" Type="http://schemas.openxmlformats.org/officeDocument/2006/relationships/slide" Target="slides/slide114.xml" /><Relationship Id="rId116" Type="http://schemas.openxmlformats.org/officeDocument/2006/relationships/slide" Target="slides/slide115.xml" /><Relationship Id="rId117" Type="http://schemas.openxmlformats.org/officeDocument/2006/relationships/slide" Target="slides/slide116.xml" /><Relationship Id="rId118" Type="http://schemas.openxmlformats.org/officeDocument/2006/relationships/slide" Target="slides/slide117.xml" /><Relationship Id="rId119" Type="http://schemas.openxmlformats.org/officeDocument/2006/relationships/slide" Target="slides/slide118.xml" /><Relationship Id="rId120" Type="http://schemas.openxmlformats.org/officeDocument/2006/relationships/slide" Target="slides/slide119.xml" /><Relationship Id="rId121" Type="http://schemas.openxmlformats.org/officeDocument/2006/relationships/slide" Target="slides/slide120.xml" /><Relationship Id="rId122" Type="http://schemas.openxmlformats.org/officeDocument/2006/relationships/slide" Target="slides/slide121.xml" /><Relationship Id="rId123" Type="http://schemas.openxmlformats.org/officeDocument/2006/relationships/slide" Target="slides/slide122.xml" /><Relationship Id="rId124" Type="http://schemas.openxmlformats.org/officeDocument/2006/relationships/slide" Target="slides/slide123.xml" /><Relationship Id="rId125" Type="http://schemas.openxmlformats.org/officeDocument/2006/relationships/slide" Target="slides/slide124.xml" /><Relationship Id="rId126" Type="http://schemas.openxmlformats.org/officeDocument/2006/relationships/slide" Target="slides/slide125.xml" /><Relationship Id="rId127" Type="http://schemas.openxmlformats.org/officeDocument/2006/relationships/slide" Target="slides/slide126.xml" /><Relationship Id="rId128" Type="http://schemas.openxmlformats.org/officeDocument/2006/relationships/slide" Target="slides/slide127.xml" /><Relationship Id="rId129" Type="http://schemas.openxmlformats.org/officeDocument/2006/relationships/slide" Target="slides/slide128.xml" /><Relationship Id="rId130" Type="http://schemas.openxmlformats.org/officeDocument/2006/relationships/slide" Target="slides/slide129.xml" /><Relationship Id="rId131" Type="http://schemas.openxmlformats.org/officeDocument/2006/relationships/slide" Target="slides/slide130.xml" /><Relationship Id="rId132" Type="http://schemas.openxmlformats.org/officeDocument/2006/relationships/slide" Target="slides/slide131.xml" /><Relationship Id="rId136" Type="http://schemas.openxmlformats.org/officeDocument/2006/relationships/tableStyles" Target="tableStyles.xml" /><Relationship Id="rId1" Type="http://schemas.openxmlformats.org/officeDocument/2006/relationships/slideMaster" Target="slideMasters/slideMaster1.xml" /><Relationship Id="rId135" Type="http://schemas.openxmlformats.org/officeDocument/2006/relationships/theme" Target="theme/theme1.xml" /><Relationship Id="rId134" Type="http://schemas.openxmlformats.org/officeDocument/2006/relationships/viewProps" Target="viewProps.xml" /><Relationship Id="rId133"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9001" name="IFORD Top Brand Bar"/>
          <p:cNvSpPr/>
          <p:nvPr/>
        </p:nvSpPr>
        <p:spPr>
          <a:xfrm>
            <a:off x="0" y="0"/>
            <a:ext cx="9144000" cy="91440"/>
          </a:xfrm>
          <a:prstGeom prst="rect">
            <a:avLst/>
          </a:prstGeom>
          <a:solidFill>
            <a:srgbClr val="006B4F"/>
          </a:solidFill>
          <a:ln>
            <a:noFill/>
          </a:ln>
        </p:spPr>
        <p:txBody>
          <a:bodyPr/>
          <a:lstStyle/>
          <a:p>
            <a:endParaRPr/>
          </a:p>
        </p:txBody>
      </p:sp>
      <p:sp>
        <p:nvSpPr>
          <p:cNvPr id="9002" name="IFORD Bottom Accent"/>
          <p:cNvSpPr/>
          <p:nvPr/>
        </p:nvSpPr>
        <p:spPr>
          <a:xfrm>
            <a:off x="0" y="5052060"/>
            <a:ext cx="9144000" cy="91440"/>
          </a:xfrm>
          <a:prstGeom prst="rect">
            <a:avLst/>
          </a:prstGeom>
          <a:solidFill>
            <a:srgbClr val="F2A900"/>
          </a:solidFill>
          <a:ln>
            <a:noFill/>
          </a:ln>
        </p:spPr>
        <p:txBody>
          <a:bodyPr/>
          <a:lstStyle/>
          <a:p>
            <a:endParaRPr/>
          </a:p>
        </p:txBody>
      </p:sp>
      <p:sp>
        <p:nvSpPr>
          <p:cNvPr id="9003" name="IFORD Footer Label"/>
          <p:cNvSpPr/>
          <p:nvPr/>
        </p:nvSpPr>
        <p:spPr>
          <a:xfrm>
            <a:off x="457200" y="4785000"/>
            <a:ext cx="3500000" cy="320000"/>
          </a:xfrm>
          <a:prstGeom prst="rect">
            <a:avLst/>
          </a:prstGeom>
          <a:noFill/>
          <a:ln>
            <a:noFill/>
          </a:ln>
        </p:spPr>
        <p:txBody>
          <a:bodyPr anchor="ctr" bIns="0" lIns="0" rIns="0" tIns="0"/>
          <a:lstStyle/>
          <a:p>
            <a:r>
              <a:rPr lang="fr-FR" sz="900">
                <a:solidFill>
                  <a:srgbClr val="5F6F64"/>
                </a:solidFill>
                <a:latin typeface="Aptos"/>
              </a:rPr>
              <a:t>IFORD - Formation R spatial</a:t>
            </a:r>
          </a:p>
        </p:txBody>
      </p:sp>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6/16/2026</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3200">
          <a:solidFill>
            <a:srgbClr val="004B3C"/>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1600">
          <a:solidFill>
            <a:srgbClr val="132A35"/>
          </a:solidFill>
          <a:latin typeface="+mn-lt"/>
          <a:ea typeface="+mn-ea"/>
          <a:cs typeface="+mn-cs"/>
        </a:defRPr>
      </a:lvl1pPr>
      <a:lvl2pPr algn="l" defTabSz="342900" eaLnBrk="1" hangingPunct="1" indent="-342900" latinLnBrk="0" marL="685800" rtl="0">
        <a:spcBef>
          <a:spcPct val="20000"/>
        </a:spcBef>
        <a:buFont typeface="Arial"/>
        <a:buChar char="–"/>
        <a:defRPr kern="1200" sz="15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4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2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2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2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2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2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2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jp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jp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jp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jp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jp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jp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9.png"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9.png"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png"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png"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1.png"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1.png"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2.png"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2.png" /></Relationships>
</file>

<file path=ppt/slides/_rels/slide8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3.png"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3.png"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acleddata.com/" TargetMode="External" /></Relationships>
</file>

<file path=ppt/slides/_rels/slide10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acleddata.com/" TargetMode="External" /></Relationships>
</file>

<file path=ppt/slides/_rels/slide10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eveloper.acleddata.com/" TargetMode="External" /></Relationships>
</file>

<file path=ppt/slides/_rels/slide10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eveloper.acleddata.com/" TargetMode="External" /></Relationships>
</file>

<file path=ppt/slides/_rels/slide10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ds.climate.copernicus.eu/" TargetMode="External" /></Relationships>
</file>

<file path=ppt/slides/_rels/slide1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ds.climate.copernicus.eu/" TargetMode="External" /></Relationships>
</file>

<file path=ppt/slides/_rels/slide1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microdata.worldbank.org/index.php/catalog/4291" TargetMode="External" /><Relationship Id="rId3" Type="http://schemas.openxmlformats.org/officeDocument/2006/relationships/hyperlink" Target="https://github.com/JoshMerfeld/saereplication" TargetMode="External" /></Relationships>
</file>

<file path=ppt/slides/_rels/slide1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microdata.worldbank.org/index.php/catalog/4291" TargetMode="External" /><Relationship Id="rId3" Type="http://schemas.openxmlformats.org/officeDocument/2006/relationships/hyperlink" Target="https://github.com/JoshMerfeld/saereplication" TargetMode="External" /></Relationships>
</file>

<file path=ppt/slides/_rels/slide1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Jour 9 / Day 9 - Applications spatiales et sciences sociales / Spatial applications and social sciences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Fondements théoriques, ACLED (conflits armés) et ERA5 (température) au Cameroun, petits domaines au Bénin / Theoretical foundations, ACLED (armed conflict) and ERA5 (temperature) in Cameroon, small area estimation in Benin</a:t>
            </a:r>
            <a:br/>
            <a:br/>
            <a:r>
              <a:rPr/>
              <a:t>IFORD - Formation R spatial / Spatial R training</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Objectifs de la journée</a:t>
            </a:r>
          </a:p>
        </p:txBody>
      </p:sp>
      <p:sp>
        <p:nvSpPr>
          <p:cNvPr id="3" name="Content Placeholder 2"/>
          <p:cNvSpPr>
            <a:spLocks noGrp="1"/>
          </p:cNvSpPr>
          <p:nvPr>
            <p:ph idx="1"/>
          </p:nvPr>
        </p:nvSpPr>
        <p:spPr/>
        <p:txBody>
          <a:bodyPr/>
          <a:lstStyle/>
          <a:p>
            <a:pPr lvl="0"/>
            <a:r>
              <a:rPr/>
              <a:t>Comprendre pourquoi et comment les sciences sociales se sont saisies de l’espace comme outil d’analyse, depuis les cartes manuelles du XIXe siècle jusqu’à la modélisation géospatiale contemporaine.</a:t>
            </a:r>
          </a:p>
          <a:p>
            <a:pPr lvl="0"/>
            <a:r>
              <a:rPr/>
              <a:t>Distinguer trois usages d’une donnée géospatiale dans une analyse sociale : </a:t>
            </a:r>
            <a:r>
              <a:rPr b="1"/>
              <a:t>variable explicative</a:t>
            </a:r>
            <a:r>
              <a:rPr/>
              <a:t>, </a:t>
            </a:r>
            <a:r>
              <a:rPr b="1"/>
              <a:t>objet de modélisation</a:t>
            </a:r>
            <a:r>
              <a:rPr/>
              <a:t>, </a:t>
            </a:r>
            <a:r>
              <a:rPr b="1"/>
              <a:t>variable proxy</a:t>
            </a:r>
            <a:r>
              <a:rPr/>
              <a:t>.</a:t>
            </a:r>
          </a:p>
          <a:p>
            <a:pPr lvl="0"/>
            <a:r>
              <a:rPr/>
              <a:t>Découvrir, à travers des articles de recherche récents, des exemples concrets pour chacun de ces usages.</a:t>
            </a:r>
          </a:p>
          <a:p>
            <a:pPr lvl="0"/>
            <a:r>
              <a:rPr/>
              <a:t>Manipuler en pratique trois sources de données géospatiales : ACLED (conflits), ERA5 (climat) et un modèle d’estimation en petits domaines (Fay-Herriot).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Objectives for the day</a:t>
            </a:r>
          </a:p>
        </p:txBody>
      </p:sp>
      <p:sp>
        <p:nvSpPr>
          <p:cNvPr id="3" name="Content Placeholder 2"/>
          <p:cNvSpPr>
            <a:spLocks noGrp="1"/>
          </p:cNvSpPr>
          <p:nvPr>
            <p:ph idx="1"/>
          </p:nvPr>
        </p:nvSpPr>
        <p:spPr/>
        <p:txBody>
          <a:bodyPr/>
          <a:lstStyle/>
          <a:p>
            <a:pPr lvl="0"/>
            <a:r>
              <a:rPr/>
              <a:t>Understand why and how the social sciences have taken up space as a tool of analysis, from the hand-drawn maps of the 19th century to contemporary geospatial modelling.</a:t>
            </a:r>
          </a:p>
          <a:p>
            <a:pPr lvl="0"/>
            <a:r>
              <a:rPr/>
              <a:t>Distinguish three uses of geospatial data in a social analysis: </a:t>
            </a:r>
            <a:r>
              <a:rPr b="1"/>
              <a:t>explanatory variable</a:t>
            </a:r>
            <a:r>
              <a:rPr/>
              <a:t>, </a:t>
            </a:r>
            <a:r>
              <a:rPr b="1"/>
              <a:t>object of modelling</a:t>
            </a:r>
            <a:r>
              <a:rPr/>
              <a:t>, </a:t>
            </a:r>
            <a:r>
              <a:rPr b="1"/>
              <a:t>proxy variable</a:t>
            </a:r>
            <a:r>
              <a:rPr/>
              <a:t>.</a:t>
            </a:r>
          </a:p>
          <a:p>
            <a:pPr lvl="0"/>
            <a:r>
              <a:rPr/>
              <a:t>Discover, through recent research articles, concrete examples for each of these uses.</a:t>
            </a:r>
          </a:p>
          <a:p>
            <a:pPr lvl="0"/>
            <a:r>
              <a:rPr/>
              <a:t>Work hands-on with three geospatial data sources: ACLED (conflict), ERA5 (climate), and a small area estimation model (Fay-Herriot).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Programme de la matinée : 9h30 à 13h00</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4114800"/>
              </a:tblGrid>
              <a:tr h="0">
                <a:tc>
                  <a:txBody>
                    <a:bodyPr/>
                    <a:lstStyle/>
                    <a:p>
                      <a:pPr lvl="0" indent="0" marL="0">
                        <a:buNone/>
                      </a:pPr>
                      <a:r>
                        <a:rPr/>
                        <a:t>Horaire</a:t>
                      </a:r>
                    </a:p>
                  </a:txBody>
                  <a:tcPr/>
                </a:tc>
                <a:tc>
                  <a:txBody>
                    <a:bodyPr/>
                    <a:lstStyle/>
                    <a:p>
                      <a:pPr lvl="0" indent="0" marL="0">
                        <a:buNone/>
                      </a:pPr>
                      <a:r>
                        <a:rPr/>
                        <a:t>Durée</a:t>
                      </a:r>
                    </a:p>
                  </a:txBody>
                  <a:tcPr/>
                </a:tc>
                <a:tc>
                  <a:txBody>
                    <a:bodyPr/>
                    <a:lstStyle/>
                    <a:p>
                      <a:pPr lvl="0" indent="0" marL="0">
                        <a:buNone/>
                      </a:pPr>
                      <a:r>
                        <a:rPr/>
                        <a:t>Contenu</a:t>
                      </a:r>
                    </a:p>
                  </a:txBody>
                  <a:tcPr/>
                </a:tc>
              </a:tr>
              <a:tr h="0">
                <a:tc>
                  <a:txBody>
                    <a:bodyPr/>
                    <a:lstStyle/>
                    <a:p>
                      <a:pPr lvl="0" indent="0" marL="0">
                        <a:buNone/>
                      </a:pPr>
                      <a:r>
                        <a:rPr/>
                        <a:t>09h30–10h30</a:t>
                      </a:r>
                    </a:p>
                  </a:txBody>
                </a:tc>
                <a:tc>
                  <a:txBody>
                    <a:bodyPr/>
                    <a:lstStyle/>
                    <a:p>
                      <a:pPr lvl="0" indent="0" marL="0">
                        <a:buNone/>
                      </a:pPr>
                      <a:r>
                        <a:rPr/>
                        <a:t>1h00</a:t>
                      </a:r>
                    </a:p>
                  </a:txBody>
                </a:tc>
                <a:tc>
                  <a:txBody>
                    <a:bodyPr/>
                    <a:lstStyle/>
                    <a:p>
                      <a:pPr lvl="0" indent="0" marL="0">
                        <a:buNone/>
                      </a:pPr>
                      <a:r>
                        <a:rPr/>
                        <a:t>Partie 1 – Aux origines de la géographie sociale (Snow, Booth, Du Bois)</a:t>
                      </a:r>
                    </a:p>
                  </a:txBody>
                </a:tc>
              </a:tr>
              <a:tr h="0">
                <a:tc>
                  <a:txBody>
                    <a:bodyPr/>
                    <a:lstStyle/>
                    <a:p>
                      <a:pPr lvl="0" indent="0" marL="0">
                        <a:buNone/>
                      </a:pPr>
                      <a:r>
                        <a:rPr/>
                        <a:t>10h30–11h00</a:t>
                      </a:r>
                    </a:p>
                  </a:txBody>
                </a:tc>
                <a:tc>
                  <a:txBody>
                    <a:bodyPr/>
                    <a:lstStyle/>
                    <a:p>
                      <a:pPr lvl="0" indent="0" marL="0">
                        <a:buNone/>
                      </a:pPr>
                      <a:r>
                        <a:rPr/>
                        <a:t>30 min</a:t>
                      </a:r>
                    </a:p>
                  </a:txBody>
                </a:tc>
                <a:tc>
                  <a:txBody>
                    <a:bodyPr/>
                    <a:lstStyle/>
                    <a:p>
                      <a:pPr lvl="0" indent="0" marL="0">
                        <a:buNone/>
                      </a:pPr>
                      <a:r>
                        <a:rPr b="1"/>
                        <a:t>Pause</a:t>
                      </a:r>
                    </a:p>
                  </a:txBody>
                </a:tc>
              </a:tr>
              <a:tr h="0">
                <a:tc>
                  <a:txBody>
                    <a:bodyPr/>
                    <a:lstStyle/>
                    <a:p>
                      <a:pPr lvl="0" indent="0" marL="0">
                        <a:buNone/>
                      </a:pPr>
                      <a:r>
                        <a:rPr/>
                        <a:t>11h00–12h00</a:t>
                      </a:r>
                    </a:p>
                  </a:txBody>
                </a:tc>
                <a:tc>
                  <a:txBody>
                    <a:bodyPr/>
                    <a:lstStyle/>
                    <a:p>
                      <a:pPr lvl="0" indent="0" marL="0">
                        <a:buNone/>
                      </a:pPr>
                      <a:r>
                        <a:rPr/>
                        <a:t>1h00</a:t>
                      </a:r>
                    </a:p>
                  </a:txBody>
                </a:tc>
                <a:tc>
                  <a:txBody>
                    <a:bodyPr/>
                    <a:lstStyle/>
                    <a:p>
                      <a:pPr lvl="0" indent="0" marL="0">
                        <a:buNone/>
                      </a:pPr>
                      <a:r>
                        <a:rPr/>
                        <a:t>Partie 2 – Les variables géospatiales comme variables explicatives et la modélisation géospatiale</a:t>
                      </a:r>
                    </a:p>
                  </a:txBody>
                </a:tc>
              </a:tr>
              <a:tr h="0">
                <a:tc>
                  <a:txBody>
                    <a:bodyPr/>
                    <a:lstStyle/>
                    <a:p>
                      <a:pPr lvl="0" indent="0" marL="0">
                        <a:buNone/>
                      </a:pPr>
                      <a:r>
                        <a:rPr/>
                        <a:t>12h00–12h15</a:t>
                      </a:r>
                    </a:p>
                  </a:txBody>
                </a:tc>
                <a:tc>
                  <a:txBody>
                    <a:bodyPr/>
                    <a:lstStyle/>
                    <a:p>
                      <a:pPr lvl="0" indent="0" marL="0">
                        <a:buNone/>
                      </a:pPr>
                      <a:r>
                        <a:rPr/>
                        <a:t>15 min</a:t>
                      </a:r>
                    </a:p>
                  </a:txBody>
                </a:tc>
                <a:tc>
                  <a:txBody>
                    <a:bodyPr/>
                    <a:lstStyle/>
                    <a:p>
                      <a:pPr lvl="0" indent="0" marL="0">
                        <a:buNone/>
                      </a:pPr>
                      <a:r>
                        <a:rPr b="1"/>
                        <a:t>Pause</a:t>
                      </a:r>
                    </a:p>
                  </a:txBody>
                </a:tc>
              </a:tr>
              <a:tr h="0">
                <a:tc>
                  <a:txBody>
                    <a:bodyPr/>
                    <a:lstStyle/>
                    <a:p>
                      <a:pPr lvl="0" indent="0" marL="0">
                        <a:buNone/>
                      </a:pPr>
                      <a:r>
                        <a:rPr/>
                        <a:t>12h15–13h00</a:t>
                      </a:r>
                    </a:p>
                  </a:txBody>
                </a:tc>
                <a:tc>
                  <a:txBody>
                    <a:bodyPr/>
                    <a:lstStyle/>
                    <a:p>
                      <a:pPr lvl="0" indent="0" marL="0">
                        <a:buNone/>
                      </a:pPr>
                      <a:r>
                        <a:rPr/>
                        <a:t>45 min</a:t>
                      </a:r>
                    </a:p>
                  </a:txBody>
                </a:tc>
                <a:tc>
                  <a:txBody>
                    <a:bodyPr/>
                    <a:lstStyle/>
                    <a:p>
                      <a:pPr lvl="0" indent="0" marL="0">
                        <a:buNone/>
                      </a:pPr>
                      <a:r>
                        <a:rPr/>
                        <a:t>Partie 3 – Les variables géospatiales comme proxy</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Morning programme: 9:30 to 13:00</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4114800"/>
              </a:tblGrid>
              <a:tr h="0">
                <a:tc>
                  <a:txBody>
                    <a:bodyPr/>
                    <a:lstStyle/>
                    <a:p>
                      <a:pPr lvl="0" indent="0" marL="0">
                        <a:buNone/>
                      </a:pPr>
                      <a:r>
                        <a:rPr/>
                        <a:t>Time</a:t>
                      </a:r>
                    </a:p>
                  </a:txBody>
                  <a:tcPr/>
                </a:tc>
                <a:tc>
                  <a:txBody>
                    <a:bodyPr/>
                    <a:lstStyle/>
                    <a:p>
                      <a:pPr lvl="0" indent="0" marL="0">
                        <a:buNone/>
                      </a:pPr>
                      <a:r>
                        <a:rPr/>
                        <a:t>Duration</a:t>
                      </a:r>
                    </a:p>
                  </a:txBody>
                  <a:tcPr/>
                </a:tc>
                <a:tc>
                  <a:txBody>
                    <a:bodyPr/>
                    <a:lstStyle/>
                    <a:p>
                      <a:pPr lvl="0" indent="0" marL="0">
                        <a:buNone/>
                      </a:pPr>
                      <a:r>
                        <a:rPr/>
                        <a:t>Content</a:t>
                      </a:r>
                    </a:p>
                  </a:txBody>
                  <a:tcPr/>
                </a:tc>
              </a:tr>
              <a:tr h="0">
                <a:tc>
                  <a:txBody>
                    <a:bodyPr/>
                    <a:lstStyle/>
                    <a:p>
                      <a:pPr lvl="0" indent="0" marL="0">
                        <a:buNone/>
                      </a:pPr>
                      <a:r>
                        <a:rPr/>
                        <a:t>09:30-10:30</a:t>
                      </a:r>
                    </a:p>
                  </a:txBody>
                </a:tc>
                <a:tc>
                  <a:txBody>
                    <a:bodyPr/>
                    <a:lstStyle/>
                    <a:p>
                      <a:pPr lvl="0" indent="0" marL="0">
                        <a:buNone/>
                      </a:pPr>
                      <a:r>
                        <a:rPr/>
                        <a:t>1h00</a:t>
                      </a:r>
                    </a:p>
                  </a:txBody>
                </a:tc>
                <a:tc>
                  <a:txBody>
                    <a:bodyPr/>
                    <a:lstStyle/>
                    <a:p>
                      <a:pPr lvl="0" indent="0" marL="0">
                        <a:buNone/>
                      </a:pPr>
                      <a:r>
                        <a:rPr/>
                        <a:t>Part 1 - The origins of social geography (Snow, Booth, Du Bois)</a:t>
                      </a:r>
                    </a:p>
                  </a:txBody>
                </a:tc>
              </a:tr>
              <a:tr h="0">
                <a:tc>
                  <a:txBody>
                    <a:bodyPr/>
                    <a:lstStyle/>
                    <a:p>
                      <a:pPr lvl="0" indent="0" marL="0">
                        <a:buNone/>
                      </a:pPr>
                      <a:r>
                        <a:rPr/>
                        <a:t>10:30-11:00</a:t>
                      </a:r>
                    </a:p>
                  </a:txBody>
                </a:tc>
                <a:tc>
                  <a:txBody>
                    <a:bodyPr/>
                    <a:lstStyle/>
                    <a:p>
                      <a:pPr lvl="0" indent="0" marL="0">
                        <a:buNone/>
                      </a:pPr>
                      <a:r>
                        <a:rPr/>
                        <a:t>30 min</a:t>
                      </a:r>
                    </a:p>
                  </a:txBody>
                </a:tc>
                <a:tc>
                  <a:txBody>
                    <a:bodyPr/>
                    <a:lstStyle/>
                    <a:p>
                      <a:pPr lvl="0" indent="0" marL="0">
                        <a:buNone/>
                      </a:pPr>
                      <a:r>
                        <a:rPr b="1"/>
                        <a:t>Break</a:t>
                      </a:r>
                    </a:p>
                  </a:txBody>
                </a:tc>
              </a:tr>
              <a:tr h="0">
                <a:tc>
                  <a:txBody>
                    <a:bodyPr/>
                    <a:lstStyle/>
                    <a:p>
                      <a:pPr lvl="0" indent="0" marL="0">
                        <a:buNone/>
                      </a:pPr>
                      <a:r>
                        <a:rPr/>
                        <a:t>11:00-12:00</a:t>
                      </a:r>
                    </a:p>
                  </a:txBody>
                </a:tc>
                <a:tc>
                  <a:txBody>
                    <a:bodyPr/>
                    <a:lstStyle/>
                    <a:p>
                      <a:pPr lvl="0" indent="0" marL="0">
                        <a:buNone/>
                      </a:pPr>
                      <a:r>
                        <a:rPr/>
                        <a:t>1h00</a:t>
                      </a:r>
                    </a:p>
                  </a:txBody>
                </a:tc>
                <a:tc>
                  <a:txBody>
                    <a:bodyPr/>
                    <a:lstStyle/>
                    <a:p>
                      <a:pPr lvl="0" indent="0" marL="0">
                        <a:buNone/>
                      </a:pPr>
                      <a:r>
                        <a:rPr/>
                        <a:t>Part 2 - Geospatial variables as explanatory variables and geospatial modelling</a:t>
                      </a:r>
                    </a:p>
                  </a:txBody>
                </a:tc>
              </a:tr>
              <a:tr h="0">
                <a:tc>
                  <a:txBody>
                    <a:bodyPr/>
                    <a:lstStyle/>
                    <a:p>
                      <a:pPr lvl="0" indent="0" marL="0">
                        <a:buNone/>
                      </a:pPr>
                      <a:r>
                        <a:rPr/>
                        <a:t>12:00-12:15</a:t>
                      </a:r>
                    </a:p>
                  </a:txBody>
                </a:tc>
                <a:tc>
                  <a:txBody>
                    <a:bodyPr/>
                    <a:lstStyle/>
                    <a:p>
                      <a:pPr lvl="0" indent="0" marL="0">
                        <a:buNone/>
                      </a:pPr>
                      <a:r>
                        <a:rPr/>
                        <a:t>15 min</a:t>
                      </a:r>
                    </a:p>
                  </a:txBody>
                </a:tc>
                <a:tc>
                  <a:txBody>
                    <a:bodyPr/>
                    <a:lstStyle/>
                    <a:p>
                      <a:pPr lvl="0" indent="0" marL="0">
                        <a:buNone/>
                      </a:pPr>
                      <a:r>
                        <a:rPr b="1"/>
                        <a:t>Break</a:t>
                      </a:r>
                    </a:p>
                  </a:txBody>
                </a:tc>
              </a:tr>
              <a:tr h="0">
                <a:tc>
                  <a:txBody>
                    <a:bodyPr/>
                    <a:lstStyle/>
                    <a:p>
                      <a:pPr lvl="0" indent="0" marL="0">
                        <a:buNone/>
                      </a:pPr>
                      <a:r>
                        <a:rPr/>
                        <a:t>12:15-13:00</a:t>
                      </a:r>
                    </a:p>
                  </a:txBody>
                </a:tc>
                <a:tc>
                  <a:txBody>
                    <a:bodyPr/>
                    <a:lstStyle/>
                    <a:p>
                      <a:pPr lvl="0" indent="0" marL="0">
                        <a:buNone/>
                      </a:pPr>
                      <a:r>
                        <a:rPr/>
                        <a:t>45 min</a:t>
                      </a:r>
                    </a:p>
                  </a:txBody>
                </a:tc>
                <a:tc>
                  <a:txBody>
                    <a:bodyPr/>
                    <a:lstStyle/>
                    <a:p>
                      <a:pPr lvl="0" indent="0" marL="0">
                        <a:buNone/>
                      </a:pPr>
                      <a:r>
                        <a:rPr/>
                        <a:t>Part 3 - Geospatial variables as proxies</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Partie théorique : la géographie au service des sciences sociales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Theoretical part: geography in the service of the social sciences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Pourquoi croiser espace et sciences sociales ?</a:t>
            </a:r>
          </a:p>
        </p:txBody>
      </p:sp>
      <p:sp>
        <p:nvSpPr>
          <p:cNvPr id="4" name="Text Placeholder 3"/>
          <p:cNvSpPr>
            <a:spLocks noGrp="1"/>
          </p:cNvSpPr>
          <p:nvPr>
            <p:ph idx="2" sz="half" type="body"/>
          </p:nvPr>
        </p:nvSpPr>
        <p:spPr/>
        <p:txBody>
          <a:bodyPr/>
          <a:lstStyle/>
          <a:p>
            <a:pPr lvl="0"/>
            <a:r>
              <a:rPr/>
              <a:t>Les phénomènes sociaux (épidémies, pauvreté, conflits, migrations) ne se distribuent jamais au hasard dans l’espace.</a:t>
            </a:r>
          </a:p>
          <a:p>
            <a:pPr lvl="0"/>
            <a:r>
              <a:rPr/>
              <a:t>Localiser un phénomène est souvent la première étape pour en comprendre les causes.</a:t>
            </a:r>
          </a:p>
          <a:p>
            <a:pPr lvl="0"/>
            <a:r>
              <a:rPr/>
              <a:t>Trois grandes familles d’usage de la donnée géospatiale structurent cette journée :</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2552700"/>
              </a:tblGrid>
              <a:tr h="0">
                <a:tc>
                  <a:txBody>
                    <a:bodyPr/>
                    <a:lstStyle/>
                    <a:p>
                      <a:pPr lvl="0" indent="0" marL="0">
                        <a:buNone/>
                      </a:pPr>
                      <a:r>
                        <a:rPr/>
                        <a:t>#</a:t>
                      </a:r>
                    </a:p>
                  </a:txBody>
                  <a:tcPr/>
                </a:tc>
                <a:tc>
                  <a:txBody>
                    <a:bodyPr/>
                    <a:lstStyle/>
                    <a:p>
                      <a:pPr lvl="0" indent="0" marL="0">
                        <a:buNone/>
                      </a:pPr>
                      <a:r>
                        <a:rPr/>
                        <a:t>Usage</a:t>
                      </a:r>
                    </a:p>
                  </a:txBody>
                  <a:tcPr/>
                </a:tc>
                <a:tc>
                  <a:txBody>
                    <a:bodyPr/>
                    <a:lstStyle/>
                    <a:p>
                      <a:pPr lvl="0" indent="0" marL="0">
                        <a:buNone/>
                      </a:pPr>
                      <a:r>
                        <a:rPr/>
                        <a:t>Question type</a:t>
                      </a:r>
                    </a:p>
                  </a:txBody>
                  <a:tcPr/>
                </a:tc>
              </a:tr>
              <a:tr h="0">
                <a:tc>
                  <a:txBody>
                    <a:bodyPr/>
                    <a:lstStyle/>
                    <a:p>
                      <a:pPr lvl="0" indent="0" marL="0">
                        <a:buNone/>
                      </a:pPr>
                      <a:r>
                        <a:rPr/>
                        <a:t>1</a:t>
                      </a:r>
                    </a:p>
                  </a:txBody>
                </a:tc>
                <a:tc>
                  <a:txBody>
                    <a:bodyPr/>
                    <a:lstStyle/>
                    <a:p>
                      <a:pPr lvl="0" indent="0" marL="0">
                        <a:buNone/>
                      </a:pPr>
                      <a:r>
                        <a:rPr/>
                        <a:t>Origines historiques</a:t>
                      </a:r>
                    </a:p>
                  </a:txBody>
                </a:tc>
                <a:tc>
                  <a:txBody>
                    <a:bodyPr/>
                    <a:lstStyle/>
                    <a:p>
                      <a:pPr lvl="0" indent="0" marL="0">
                        <a:buNone/>
                      </a:pPr>
                      <a:r>
                        <a:rPr/>
                        <a:t>Comment la carte a-t-elle inventé l’analyse sociale spatiale ?</a:t>
                      </a:r>
                    </a:p>
                  </a:txBody>
                </a:tc>
              </a:tr>
              <a:tr h="0">
                <a:tc>
                  <a:txBody>
                    <a:bodyPr/>
                    <a:lstStyle/>
                    <a:p>
                      <a:pPr lvl="0" indent="0" marL="0">
                        <a:buNone/>
                      </a:pPr>
                      <a:r>
                        <a:rPr/>
                        <a:t>2</a:t>
                      </a:r>
                    </a:p>
                  </a:txBody>
                </a:tc>
                <a:tc>
                  <a:txBody>
                    <a:bodyPr/>
                    <a:lstStyle/>
                    <a:p>
                      <a:pPr lvl="0" indent="0" marL="0">
                        <a:buNone/>
                      </a:pPr>
                      <a:r>
                        <a:rPr/>
                        <a:t>Variable explicative et modélisation géospatiale</a:t>
                      </a:r>
                    </a:p>
                  </a:txBody>
                </a:tc>
                <a:tc>
                  <a:txBody>
                    <a:bodyPr/>
                    <a:lstStyle/>
                    <a:p>
                      <a:pPr lvl="0" indent="0" marL="0">
                        <a:buNone/>
                      </a:pPr>
                      <a:r>
                        <a:rPr/>
                        <a:t>Le climat, l’environnement… expliquent-ils un phénomène social ? Comment estimer un indicateur là où il n’est pas mesuré ?</a:t>
                      </a:r>
                    </a:p>
                  </a:txBody>
                </a:tc>
              </a:tr>
              <a:tr h="0">
                <a:tc>
                  <a:txBody>
                    <a:bodyPr/>
                    <a:lstStyle/>
                    <a:p>
                      <a:pPr lvl="0" indent="0" marL="0">
                        <a:buNone/>
                      </a:pPr>
                      <a:r>
                        <a:rPr/>
                        <a:t>3</a:t>
                      </a:r>
                    </a:p>
                  </a:txBody>
                </a:tc>
                <a:tc>
                  <a:txBody>
                    <a:bodyPr/>
                    <a:lstStyle/>
                    <a:p>
                      <a:pPr lvl="0" indent="0" marL="0">
                        <a:buNone/>
                      </a:pPr>
                      <a:r>
                        <a:rPr/>
                        <a:t>Variable proxy</a:t>
                      </a:r>
                    </a:p>
                  </a:txBody>
                </a:tc>
                <a:tc>
                  <a:txBody>
                    <a:bodyPr/>
                    <a:lstStyle/>
                    <a:p>
                      <a:pPr lvl="0" indent="0" marL="0">
                        <a:buNone/>
                      </a:pPr>
                      <a:r>
                        <a:rPr/>
                        <a:t>Peut-on approximer une donnée sociale absente par une donnée géospatiale observable ?</a:t>
                      </a:r>
                    </a:p>
                  </a:txBody>
                </a:tc>
              </a:tr>
            </a:tbl>
          </a:graphicData>
        </a:graphic>
      </p:graphicFrame>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Why cross space and the social sciences?</a:t>
            </a:r>
          </a:p>
        </p:txBody>
      </p:sp>
      <p:sp>
        <p:nvSpPr>
          <p:cNvPr id="4" name="Text Placeholder 3"/>
          <p:cNvSpPr>
            <a:spLocks noGrp="1"/>
          </p:cNvSpPr>
          <p:nvPr>
            <p:ph idx="2" sz="half" type="body"/>
          </p:nvPr>
        </p:nvSpPr>
        <p:spPr/>
        <p:txBody>
          <a:bodyPr/>
          <a:lstStyle/>
          <a:p>
            <a:pPr lvl="0"/>
            <a:r>
              <a:rPr/>
              <a:t>Social phenomena (epidemics, poverty, conflict, migration) are never randomly distributed in space.</a:t>
            </a:r>
          </a:p>
          <a:p>
            <a:pPr lvl="0"/>
            <a:r>
              <a:rPr/>
              <a:t>Locating a phenomenon is often the first step towards understanding its causes.</a:t>
            </a:r>
          </a:p>
          <a:p>
            <a:pPr lvl="0"/>
            <a:r>
              <a:rPr/>
              <a:t>Three broad families of use of geospatial data structure this day: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2552700"/>
              </a:tblGrid>
              <a:tr h="0">
                <a:tc>
                  <a:txBody>
                    <a:bodyPr/>
                    <a:lstStyle/>
                    <a:p>
                      <a:pPr lvl="0" indent="0" marL="0">
                        <a:buNone/>
                      </a:pPr>
                      <a:r>
                        <a:rPr/>
                        <a:t>#</a:t>
                      </a:r>
                    </a:p>
                  </a:txBody>
                  <a:tcPr/>
                </a:tc>
                <a:tc>
                  <a:txBody>
                    <a:bodyPr/>
                    <a:lstStyle/>
                    <a:p>
                      <a:pPr lvl="0" indent="0" marL="0">
                        <a:buNone/>
                      </a:pPr>
                      <a:r>
                        <a:rPr/>
                        <a:t>Use</a:t>
                      </a:r>
                    </a:p>
                  </a:txBody>
                  <a:tcPr/>
                </a:tc>
                <a:tc>
                  <a:txBody>
                    <a:bodyPr/>
                    <a:lstStyle/>
                    <a:p>
                      <a:pPr lvl="0" indent="0" marL="0">
                        <a:buNone/>
                      </a:pPr>
                      <a:r>
                        <a:rPr/>
                        <a:t>Type of question</a:t>
                      </a:r>
                    </a:p>
                  </a:txBody>
                  <a:tcPr/>
                </a:tc>
              </a:tr>
              <a:tr h="0">
                <a:tc>
                  <a:txBody>
                    <a:bodyPr/>
                    <a:lstStyle/>
                    <a:p>
                      <a:pPr lvl="0" indent="0" marL="0">
                        <a:buNone/>
                      </a:pPr>
                      <a:r>
                        <a:rPr/>
                        <a:t>1</a:t>
                      </a:r>
                    </a:p>
                  </a:txBody>
                </a:tc>
                <a:tc>
                  <a:txBody>
                    <a:bodyPr/>
                    <a:lstStyle/>
                    <a:p>
                      <a:pPr lvl="0" indent="0" marL="0">
                        <a:buNone/>
                      </a:pPr>
                      <a:r>
                        <a:rPr/>
                        <a:t>Historical origins</a:t>
                      </a:r>
                    </a:p>
                  </a:txBody>
                </a:tc>
                <a:tc>
                  <a:txBody>
                    <a:bodyPr/>
                    <a:lstStyle/>
                    <a:p>
                      <a:pPr lvl="0" indent="0" marL="0">
                        <a:buNone/>
                      </a:pPr>
                      <a:r>
                        <a:rPr/>
                        <a:t>How did the map invent spatial social analysis?</a:t>
                      </a:r>
                    </a:p>
                  </a:txBody>
                </a:tc>
              </a:tr>
              <a:tr h="0">
                <a:tc>
                  <a:txBody>
                    <a:bodyPr/>
                    <a:lstStyle/>
                    <a:p>
                      <a:pPr lvl="0" indent="0" marL="0">
                        <a:buNone/>
                      </a:pPr>
                      <a:r>
                        <a:rPr/>
                        <a:t>2</a:t>
                      </a:r>
                    </a:p>
                  </a:txBody>
                </a:tc>
                <a:tc>
                  <a:txBody>
                    <a:bodyPr/>
                    <a:lstStyle/>
                    <a:p>
                      <a:pPr lvl="0" indent="0" marL="0">
                        <a:buNone/>
                      </a:pPr>
                      <a:r>
                        <a:rPr/>
                        <a:t>Explanatory variable and geospatial modelling</a:t>
                      </a:r>
                    </a:p>
                  </a:txBody>
                </a:tc>
                <a:tc>
                  <a:txBody>
                    <a:bodyPr/>
                    <a:lstStyle/>
                    <a:p>
                      <a:pPr lvl="0" indent="0" marL="0">
                        <a:buNone/>
                      </a:pPr>
                      <a:r>
                        <a:rPr/>
                        <a:t>Does climate, the environment… explain a social phenomenon? How do we estimate an indicator where it is not measured?</a:t>
                      </a:r>
                    </a:p>
                  </a:txBody>
                </a:tc>
              </a:tr>
              <a:tr h="0">
                <a:tc>
                  <a:txBody>
                    <a:bodyPr/>
                    <a:lstStyle/>
                    <a:p>
                      <a:pPr lvl="0" indent="0" marL="0">
                        <a:buNone/>
                      </a:pPr>
                      <a:r>
                        <a:rPr/>
                        <a:t>3</a:t>
                      </a:r>
                    </a:p>
                  </a:txBody>
                </a:tc>
                <a:tc>
                  <a:txBody>
                    <a:bodyPr/>
                    <a:lstStyle/>
                    <a:p>
                      <a:pPr lvl="0" indent="0" marL="0">
                        <a:buNone/>
                      </a:pPr>
                      <a:r>
                        <a:rPr/>
                        <a:t>Proxy variable</a:t>
                      </a:r>
                    </a:p>
                  </a:txBody>
                </a:tc>
                <a:tc>
                  <a:txBody>
                    <a:bodyPr/>
                    <a:lstStyle/>
                    <a:p>
                      <a:pPr lvl="0" indent="0" marL="0">
                        <a:buNone/>
                      </a:pPr>
                      <a:r>
                        <a:rPr/>
                        <a:t>Can we approximate an absent social datum with an observable geospatial datum?</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1. Aux origines de la géographie sociale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1. The origins of social geography</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 XIXe siècle : la carte avant la théorie</a:t>
            </a:r>
          </a:p>
        </p:txBody>
      </p:sp>
      <p:sp>
        <p:nvSpPr>
          <p:cNvPr id="3" name="Content Placeholder 2"/>
          <p:cNvSpPr>
            <a:spLocks noGrp="1"/>
          </p:cNvSpPr>
          <p:nvPr>
            <p:ph idx="1"/>
          </p:nvPr>
        </p:nvSpPr>
        <p:spPr/>
        <p:txBody>
          <a:bodyPr/>
          <a:lstStyle/>
          <a:p>
            <a:pPr lvl="0"/>
            <a:r>
              <a:rPr/>
              <a:t>Avant les SIG, des pionniers dessinent à la main des cartes qui relient un phénomène social à sa localisation précise.</a:t>
            </a:r>
          </a:p>
          <a:p>
            <a:pPr lvl="0"/>
            <a:r>
              <a:rPr/>
              <a:t>Trois exemples fondateurs, chacun dans un contexte différent : une épidémie (Londres, 1854), la pauvreté urbaine (Londres, 1889-1903), la condition afro-américaine (Philadelphie, 1899).</a:t>
            </a:r>
          </a:p>
          <a:p>
            <a:pPr lvl="0"/>
            <a:r>
              <a:rPr/>
              <a:t>Point commun : cartographier du micro (la rue, le ménage) pour révéler un phénomène macro (contagion, classe sociale, race).</a:t>
            </a:r>
          </a:p>
          <a:p>
            <a:pPr lvl="0"/>
            <a:r>
              <a:rPr/>
              <a:t>Ces travaux précèdent de plusieurs décennies la statistique spatiale moderne et l’épidémiologie comme discipline.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19th century: the map before the theory</a:t>
            </a:r>
          </a:p>
        </p:txBody>
      </p:sp>
      <p:sp>
        <p:nvSpPr>
          <p:cNvPr id="3" name="Content Placeholder 2"/>
          <p:cNvSpPr>
            <a:spLocks noGrp="1"/>
          </p:cNvSpPr>
          <p:nvPr>
            <p:ph idx="1"/>
          </p:nvPr>
        </p:nvSpPr>
        <p:spPr/>
        <p:txBody>
          <a:bodyPr/>
          <a:lstStyle/>
          <a:p>
            <a:pPr lvl="0"/>
            <a:r>
              <a:rPr/>
              <a:t>Before GIS, pioneers hand-drew maps linking a social phenomenon to its precise location.</a:t>
            </a:r>
          </a:p>
          <a:p>
            <a:pPr lvl="0"/>
            <a:r>
              <a:rPr/>
              <a:t>Three founding examples, each in a different context: an epidemic (London, 1854), urban poverty (London, 1889-1903), the African American condition (Philadelphia, 1899).</a:t>
            </a:r>
          </a:p>
          <a:p>
            <a:pPr lvl="0"/>
            <a:r>
              <a:rPr/>
              <a:t>Common thread: mapping the micro (the street, the household) to reveal a macro phenomenon (contagion, social class, race).</a:t>
            </a:r>
          </a:p>
          <a:p>
            <a:pPr lvl="0"/>
            <a:r>
              <a:rPr/>
              <a:t>This work precedes modern spatial statistics and epidemiology as a discipline by several decades.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John Snow et l’épidémie de choléra de Broad Street (1854)</a:t>
            </a:r>
          </a:p>
        </p:txBody>
      </p:sp>
      <p:sp>
        <p:nvSpPr>
          <p:cNvPr id="3" name="Content Placeholder 2"/>
          <p:cNvSpPr>
            <a:spLocks noGrp="1"/>
          </p:cNvSpPr>
          <p:nvPr>
            <p:ph idx="1"/>
          </p:nvPr>
        </p:nvSpPr>
        <p:spPr/>
        <p:txBody>
          <a:bodyPr/>
          <a:lstStyle/>
          <a:p>
            <a:pPr lvl="0"/>
            <a:r>
              <a:rPr/>
              <a:t>Londres, quartier de Soho : une épidémie de choléra tue plus de 600 personnes en quelques jours.</a:t>
            </a:r>
          </a:p>
          <a:p>
            <a:pPr lvl="0"/>
            <a:r>
              <a:rPr/>
              <a:t>La théorie dominante de l’époque est le « miasme » (air vicié) ; Snow soupçonne une transmission par l’eau.</a:t>
            </a:r>
          </a:p>
          <a:p>
            <a:pPr lvl="0"/>
            <a:r>
              <a:rPr/>
              <a:t>Sa méthode : reporter sur un plan chaque décès, ainsi que la localisation des pompes à eau publiques du quartier.</a:t>
            </a:r>
          </a:p>
          <a:p>
            <a:pPr lvl="0"/>
            <a:r>
              <a:rPr/>
              <a:t>Le nuage de points se concentre autour d’une pompe précise, Broad Street ; son retrait (retrait de la manivelle) précède la fin de l’épidémie.</a:t>
            </a:r>
          </a:p>
          <a:p>
            <a:pPr lvl="0"/>
            <a:r>
              <a:rPr/>
              <a:t>Considérée comme l’acte fondateur de l’épidémiologie spatiale moderne.</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John Snow and the Broad Street cholera outbreak (1854)</a:t>
            </a:r>
          </a:p>
        </p:txBody>
      </p:sp>
      <p:sp>
        <p:nvSpPr>
          <p:cNvPr id="3" name="Content Placeholder 2"/>
          <p:cNvSpPr>
            <a:spLocks noGrp="1"/>
          </p:cNvSpPr>
          <p:nvPr>
            <p:ph idx="1"/>
          </p:nvPr>
        </p:nvSpPr>
        <p:spPr/>
        <p:txBody>
          <a:bodyPr/>
          <a:lstStyle/>
          <a:p>
            <a:pPr lvl="0"/>
            <a:r>
              <a:rPr/>
              <a:t>London, the Soho district: a cholera outbreak kills over 600 people in a few days.</a:t>
            </a:r>
          </a:p>
          <a:p>
            <a:pPr lvl="0"/>
            <a:r>
              <a:rPr/>
              <a:t>The dominant theory of the time is “miasma” (foul air); Snow suspects transmission by water.</a:t>
            </a:r>
          </a:p>
          <a:p>
            <a:pPr lvl="0"/>
            <a:r>
              <a:rPr/>
              <a:t>His method: plot every death on a map, along with the location of the district’s public water pumps.</a:t>
            </a:r>
          </a:p>
          <a:p>
            <a:pPr lvl="0"/>
            <a:r>
              <a:rPr/>
              <a:t>The cluster of points concentrates around one particular pump, on Broad Street; its removal (removing the handle) precedes the end of the outbreak.</a:t>
            </a:r>
          </a:p>
          <a:p>
            <a:pPr lvl="0"/>
            <a:r>
              <a:rPr/>
              <a:t>Considered the founding act of modern spatial epidemiology.</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 carte de Snow</a:t>
            </a:r>
          </a:p>
        </p:txBody>
      </p:sp>
      <p:pic>
        <p:nvPicPr>
          <p:cNvPr descr="images/snow_map.jpg" id="0" name="Picture 1"/>
          <p:cNvPicPr>
            <a:picLocks noGrp="1" noChangeAspect="1"/>
          </p:cNvPicPr>
          <p:nvPr/>
        </p:nvPicPr>
        <p:blipFill>
          <a:blip r:embed="rId2"/>
          <a:stretch>
            <a:fillRect/>
          </a:stretch>
        </p:blipFill>
        <p:spPr bwMode="auto">
          <a:xfrm>
            <a:off x="2413000" y="1193800"/>
            <a:ext cx="4318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Carte des décès (barres noires) et des pompes à eau autour de Broad Street, Soho, 1854. Source : John Snow, </a:t>
            </a:r>
            <a:r>
              <a:rPr i="1"/>
              <a:t>On the Mode of Communication of Cholera</a:t>
            </a:r>
            <a:r>
              <a:rPr/>
              <a:t>, 1855.</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Snow’s map</a:t>
            </a:r>
          </a:p>
        </p:txBody>
      </p:sp>
      <p:pic>
        <p:nvPicPr>
          <p:cNvPr descr="images/snow_map.jpg" id="0" name="Picture 1"/>
          <p:cNvPicPr>
            <a:picLocks noGrp="1" noChangeAspect="1"/>
          </p:cNvPicPr>
          <p:nvPr/>
        </p:nvPicPr>
        <p:blipFill>
          <a:blip r:embed="rId2"/>
          <a:stretch>
            <a:fillRect/>
          </a:stretch>
        </p:blipFill>
        <p:spPr bwMode="auto">
          <a:xfrm>
            <a:off x="2413000" y="1193800"/>
            <a:ext cx="4318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Map of deaths (black bars) and water pumps around Broad Street, Soho, 1854. Source: John Snow, </a:t>
            </a:r>
            <a:r>
              <a:rPr i="1"/>
              <a:t>On the Mode of Communication of Cholera</a:t>
            </a:r>
            <a:r>
              <a:rPr/>
              <a:t>, 1855.</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Charles Booth et la cartographie de la pauvreté à Londres (1889-1903)</a:t>
            </a:r>
          </a:p>
        </p:txBody>
      </p:sp>
      <p:sp>
        <p:nvSpPr>
          <p:cNvPr id="3" name="Content Placeholder 2"/>
          <p:cNvSpPr>
            <a:spLocks noGrp="1"/>
          </p:cNvSpPr>
          <p:nvPr>
            <p:ph idx="1"/>
          </p:nvPr>
        </p:nvSpPr>
        <p:spPr/>
        <p:txBody>
          <a:bodyPr/>
          <a:lstStyle/>
          <a:p>
            <a:pPr lvl="0"/>
            <a:r>
              <a:rPr/>
              <a:t>Réformateur social et armateur, Booth conteste les estimations de pauvreté de l’époque, jugées exagérées par la presse socialiste.</a:t>
            </a:r>
          </a:p>
          <a:p>
            <a:pPr lvl="0"/>
            <a:r>
              <a:rPr/>
              <a:t>Il finance une enquête rue par rue sur l’ensemble de Londres, menée avec des enquêteurs et des agents de police connaissant chaque quartier.</a:t>
            </a:r>
          </a:p>
          <a:p>
            <a:pPr lvl="0"/>
            <a:r>
              <a:rPr/>
              <a:t>Chaque rue est classée en sept catégories, de « classe la plus basse, vicieuse, semi-criminelle » (noir) à « classe aisée » (jaune), et coloriée sur un plan.</a:t>
            </a:r>
          </a:p>
          <a:p>
            <a:pPr lvl="0"/>
            <a:r>
              <a:rPr/>
              <a:t>Résultat : les </a:t>
            </a:r>
            <a:r>
              <a:rPr i="1"/>
              <a:t>Maps Descriptive of London Poverty</a:t>
            </a:r>
            <a:r>
              <a:rPr/>
              <a:t>, en 12 feuilles, publiées dans </a:t>
            </a:r>
            <a:r>
              <a:rPr i="1"/>
              <a:t>Life and Labour of the People in London</a:t>
            </a:r>
            <a:r>
              <a:rPr/>
              <a:t>.</a:t>
            </a:r>
          </a:p>
          <a:p>
            <a:pPr lvl="0"/>
            <a:r>
              <a:rPr/>
              <a:t>Marque durablement les méthodes d’enquête sociale et la cartographie thématique administrative.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Charles Booth and mapping poverty in London (1889-1903)</a:t>
            </a:r>
          </a:p>
        </p:txBody>
      </p:sp>
      <p:sp>
        <p:nvSpPr>
          <p:cNvPr id="3" name="Content Placeholder 2"/>
          <p:cNvSpPr>
            <a:spLocks noGrp="1"/>
          </p:cNvSpPr>
          <p:nvPr>
            <p:ph idx="1"/>
          </p:nvPr>
        </p:nvSpPr>
        <p:spPr/>
        <p:txBody>
          <a:bodyPr/>
          <a:lstStyle/>
          <a:p>
            <a:pPr lvl="0"/>
            <a:r>
              <a:rPr/>
              <a:t>A social reformer and shipowner, Booth challenges the poverty estimates of the time, which he considers exaggerated by the socialist press.</a:t>
            </a:r>
          </a:p>
          <a:p>
            <a:pPr lvl="0"/>
            <a:r>
              <a:rPr/>
              <a:t>He funds a street-by-street survey of the whole of London, carried out with investigators and police officers who know each neighbourhood.</a:t>
            </a:r>
          </a:p>
          <a:p>
            <a:pPr lvl="0"/>
            <a:r>
              <a:rPr/>
              <a:t>Each street is classed into seven categories, from “lowest class, vicious, semi-criminal” (black) to “wealthy” (yellow), and coloured on a map.</a:t>
            </a:r>
          </a:p>
          <a:p>
            <a:pPr lvl="0"/>
            <a:r>
              <a:rPr/>
              <a:t>Result: the </a:t>
            </a:r>
            <a:r>
              <a:rPr i="1"/>
              <a:t>Maps Descriptive of London Poverty</a:t>
            </a:r>
            <a:r>
              <a:rPr/>
              <a:t>, in 12 sheets, published in </a:t>
            </a:r>
            <a:r>
              <a:rPr i="1"/>
              <a:t>Life and Labour of the People in London</a:t>
            </a:r>
            <a:r>
              <a:rPr/>
              <a:t>.</a:t>
            </a:r>
          </a:p>
          <a:p>
            <a:pPr lvl="0"/>
            <a:r>
              <a:rPr/>
              <a:t>Left a lasting mark on social survey methods and administrative thematic mapping.</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 carte de Booth</a:t>
            </a:r>
          </a:p>
        </p:txBody>
      </p:sp>
      <p:pic>
        <p:nvPicPr>
          <p:cNvPr descr="images/booth_map.jpg" id="0" name="Picture 1"/>
          <p:cNvPicPr>
            <a:picLocks noGrp="1" noChangeAspect="1"/>
          </p:cNvPicPr>
          <p:nvPr/>
        </p:nvPicPr>
        <p:blipFill>
          <a:blip r:embed="rId2"/>
          <a:stretch>
            <a:fillRect/>
          </a:stretch>
        </p:blipFill>
        <p:spPr bwMode="auto">
          <a:xfrm>
            <a:off x="2971800" y="1193800"/>
            <a:ext cx="32004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Extrait de la carte descriptive de la pauvreté londonienne, feuille 3 (quartiers nord), 1898-99. Source : Charles Booth, </a:t>
            </a:r>
            <a:r>
              <a:rPr i="1"/>
              <a:t>Life and Labour of the People in London</a:t>
            </a:r>
            <a:r>
              <a:rPr/>
              <a:t> ; The British Library.</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Booth’s map</a:t>
            </a:r>
          </a:p>
        </p:txBody>
      </p:sp>
      <p:pic>
        <p:nvPicPr>
          <p:cNvPr descr="images/booth_map.jpg" id="0" name="Picture 1"/>
          <p:cNvPicPr>
            <a:picLocks noGrp="1" noChangeAspect="1"/>
          </p:cNvPicPr>
          <p:nvPr/>
        </p:nvPicPr>
        <p:blipFill>
          <a:blip r:embed="rId2"/>
          <a:stretch>
            <a:fillRect/>
          </a:stretch>
        </p:blipFill>
        <p:spPr bwMode="auto">
          <a:xfrm>
            <a:off x="2971800" y="1193800"/>
            <a:ext cx="32004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Extract from the descriptive map of London poverty, sheet 3 (northern districts), 1898-99. Source: Charles Booth, </a:t>
            </a:r>
            <a:r>
              <a:rPr i="1"/>
              <a:t>Life and Labour of the People in London</a:t>
            </a:r>
            <a:r>
              <a:rPr/>
              <a:t>; The British Library.</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 E. B. Du Bois et le Seventh Ward de Philadelphie (1899)</a:t>
            </a:r>
          </a:p>
        </p:txBody>
      </p:sp>
      <p:sp>
        <p:nvSpPr>
          <p:cNvPr id="3" name="Content Placeholder 2"/>
          <p:cNvSpPr>
            <a:spLocks noGrp="1"/>
          </p:cNvSpPr>
          <p:nvPr>
            <p:ph idx="1"/>
          </p:nvPr>
        </p:nvSpPr>
        <p:spPr/>
        <p:txBody>
          <a:bodyPr/>
          <a:lstStyle/>
          <a:p>
            <a:pPr lvl="0"/>
            <a:r>
              <a:rPr/>
              <a:t>Premier sociologue afro-américain à obtenir un doctorat à Harvard, Du Bois est chargé par l’Université de Pennsylvanie d’étudier la « question noire » dans le septième arrondissement de Philadelphie.</a:t>
            </a:r>
          </a:p>
          <a:p>
            <a:pPr lvl="0"/>
            <a:r>
              <a:rPr/>
              <a:t>Il mène une enquête porte-à-porte auprès de plus de 2 500 ménages et cartographie, rue par rue, la classe sociale de chaque foyer.</a:t>
            </a:r>
          </a:p>
          <a:p>
            <a:pPr lvl="0"/>
            <a:r>
              <a:rPr/>
              <a:t>L’ouvrage qui en résulte, </a:t>
            </a:r>
            <a:r>
              <a:rPr i="1"/>
              <a:t>The Philadelphia Negro</a:t>
            </a:r>
            <a:r>
              <a:rPr/>
              <a:t> (1899), est la première étude sociologique urbaine empirique de cette ampleur aux États-Unis.</a:t>
            </a:r>
          </a:p>
          <a:p>
            <a:pPr lvl="0"/>
            <a:r>
              <a:rPr/>
              <a:t>Il présentera ensuite, à l’Exposition universelle de Paris (1900), une série de cartes et infographies statistiques sur la population afro-américaine, un travail longtemps resté sous-reconnu.</a:t>
            </a:r>
          </a:p>
          <a:p>
            <a:pPr lvl="0"/>
            <a:r>
              <a:rPr/>
              <a:t>Comme Booth (dont Du Bois a étudié la méthode), l’objectif est de remplacer les préjugés par une mesure systématique, rue par rue.</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 E. B. Du Bois and the Seventh Ward of Philadelphia (1899)</a:t>
            </a:r>
          </a:p>
        </p:txBody>
      </p:sp>
      <p:sp>
        <p:nvSpPr>
          <p:cNvPr id="3" name="Content Placeholder 2"/>
          <p:cNvSpPr>
            <a:spLocks noGrp="1"/>
          </p:cNvSpPr>
          <p:nvPr>
            <p:ph idx="1"/>
          </p:nvPr>
        </p:nvSpPr>
        <p:spPr/>
        <p:txBody>
          <a:bodyPr/>
          <a:lstStyle/>
          <a:p>
            <a:pPr lvl="0"/>
            <a:r>
              <a:rPr/>
              <a:t>The first African American sociologist to earn a doctorate from Harvard, Du Bois is commissioned by the University of Pennsylvania to study the “Negro question” in Philadelphia’s seventh ward.</a:t>
            </a:r>
          </a:p>
          <a:p>
            <a:pPr lvl="0"/>
            <a:r>
              <a:rPr/>
              <a:t>He conducts a door-to-door survey of over 2,500 households and maps the social class of every home, street by street.</a:t>
            </a:r>
          </a:p>
          <a:p>
            <a:pPr lvl="0"/>
            <a:r>
              <a:rPr/>
              <a:t>The resulting book, </a:t>
            </a:r>
            <a:r>
              <a:rPr i="1"/>
              <a:t>The Philadelphia Negro</a:t>
            </a:r>
            <a:r>
              <a:rPr/>
              <a:t> (1899), is the first empirical urban sociological study of this scale in the United States.</a:t>
            </a:r>
          </a:p>
          <a:p>
            <a:pPr lvl="0"/>
            <a:r>
              <a:rPr/>
              <a:t>He later presents, at the Paris Exposition Universelle (1900), a series of maps and statistical infographics on the African American population, work that remained under-recognised for a long time.</a:t>
            </a:r>
          </a:p>
          <a:p>
            <a:pPr lvl="0"/>
            <a:r>
              <a:rPr/>
              <a:t>Like Booth, whose method Du Bois studied, the goal is to replace prejudice with systematic measurement, street by street.</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 carte de Du Bois</a:t>
            </a:r>
          </a:p>
        </p:txBody>
      </p:sp>
      <p:pic>
        <p:nvPicPr>
          <p:cNvPr descr="images/dubois_map.jpg" id="0" name="Picture 1"/>
          <p:cNvPicPr>
            <a:picLocks noGrp="1" noChangeAspect="1"/>
          </p:cNvPicPr>
          <p:nvPr/>
        </p:nvPicPr>
        <p:blipFill>
          <a:blip r:embed="rId2"/>
          <a:stretch>
            <a:fillRect/>
          </a:stretch>
        </p:blipFill>
        <p:spPr bwMode="auto">
          <a:xfrm>
            <a:off x="2654300" y="1193800"/>
            <a:ext cx="38481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Carte de classe sociale par pâté de maisons, </a:t>
            </a:r>
            <a:r>
              <a:rPr i="1"/>
              <a:t>The Philadelphia Negro</a:t>
            </a:r>
            <a:r>
              <a:rPr/>
              <a:t>, W. E. B. Du Bois, 1899. Source : projet </a:t>
            </a:r>
            <a:r>
              <a:rPr i="1"/>
              <a:t>THE WARD</a:t>
            </a:r>
            <a:r>
              <a:rPr/>
              <a:t>, exposition numérique.</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Du Bois’s map</a:t>
            </a:r>
          </a:p>
        </p:txBody>
      </p:sp>
      <p:pic>
        <p:nvPicPr>
          <p:cNvPr descr="images/dubois_map.jpg" id="0" name="Picture 1"/>
          <p:cNvPicPr>
            <a:picLocks noGrp="1" noChangeAspect="1"/>
          </p:cNvPicPr>
          <p:nvPr/>
        </p:nvPicPr>
        <p:blipFill>
          <a:blip r:embed="rId2"/>
          <a:stretch>
            <a:fillRect/>
          </a:stretch>
        </p:blipFill>
        <p:spPr bwMode="auto">
          <a:xfrm>
            <a:off x="2654300" y="1193800"/>
            <a:ext cx="38481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Social class map by block, </a:t>
            </a:r>
            <a:r>
              <a:rPr i="1"/>
              <a:t>The Philadelphia Negro</a:t>
            </a:r>
            <a:r>
              <a:rPr/>
              <a:t>, W. E. B. Du Bois, 1899. Source: </a:t>
            </a:r>
            <a:r>
              <a:rPr i="1"/>
              <a:t>THE WARD</a:t>
            </a:r>
            <a:r>
              <a:rPr/>
              <a:t> project, digital exhibition.</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 que ces trois cartes ont en commun</a:t>
            </a:r>
          </a:p>
        </p:txBody>
      </p:sp>
      <p:sp>
        <p:nvSpPr>
          <p:cNvPr id="3" name="Content Placeholder 2"/>
          <p:cNvSpPr>
            <a:spLocks noGrp="1"/>
          </p:cNvSpPr>
          <p:nvPr>
            <p:ph idx="1"/>
          </p:nvPr>
        </p:nvSpPr>
        <p:spPr/>
        <p:txBody>
          <a:bodyPr/>
          <a:lstStyle/>
          <a:p>
            <a:pPr lvl="0"/>
            <a:r>
              <a:rPr/>
              <a:t>Une </a:t>
            </a:r>
            <a:r>
              <a:rPr b="1"/>
              <a:t>unité d’observation fine</a:t>
            </a:r>
            <a:r>
              <a:rPr/>
              <a:t> (l’adresse, la rue, le ménage) permettant de voir des variations invisibles à l’échelle de la ville ou du pays.</a:t>
            </a:r>
          </a:p>
          <a:p>
            <a:pPr lvl="0"/>
            <a:r>
              <a:rPr/>
              <a:t>Une </a:t>
            </a:r>
            <a:r>
              <a:rPr b="1"/>
              <a:t>collecte de terrain lourde et directe</a:t>
            </a:r>
            <a:r>
              <a:rPr/>
              <a:t> : pas de données administratives préexistantes, tout est enquêté ou observé.</a:t>
            </a:r>
          </a:p>
          <a:p>
            <a:pPr lvl="0"/>
            <a:r>
              <a:rPr/>
              <a:t>Un objectif de </a:t>
            </a:r>
            <a:r>
              <a:rPr b="1"/>
              <a:t>preuve visuelle</a:t>
            </a:r>
            <a:r>
              <a:rPr/>
              <a:t> destiné à convaincre des décideurs ou un public sceptique.</a:t>
            </a:r>
          </a:p>
          <a:p>
            <a:pPr lvl="0"/>
            <a:r>
              <a:rPr/>
              <a:t>Des limites déjà présentes : subjectivité du codage (classes de Booth), biais de l’enquêteur, données figées à un instant donné.</a:t>
            </a:r>
          </a:p>
          <a:p>
            <a:pPr lvl="0"/>
            <a:r>
              <a:rPr/>
              <a:t>Ce sont les ancêtres directs des SIG et de la statistique spatiale utilisés aujourd’hui, y compris dans l’atelier ACLED/ERA5 de cet après-midi.</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these three maps have in common</a:t>
            </a:r>
          </a:p>
        </p:txBody>
      </p:sp>
      <p:sp>
        <p:nvSpPr>
          <p:cNvPr id="3" name="Content Placeholder 2"/>
          <p:cNvSpPr>
            <a:spLocks noGrp="1"/>
          </p:cNvSpPr>
          <p:nvPr>
            <p:ph idx="1"/>
          </p:nvPr>
        </p:nvSpPr>
        <p:spPr/>
        <p:txBody>
          <a:bodyPr/>
          <a:lstStyle/>
          <a:p>
            <a:pPr lvl="0"/>
            <a:r>
              <a:rPr/>
              <a:t>A </a:t>
            </a:r>
            <a:r>
              <a:rPr b="1"/>
              <a:t>fine-grained unit of observation</a:t>
            </a:r>
            <a:r>
              <a:rPr/>
              <a:t> (the address, the street, the household) allowing variations invisible at city or country scale to be seen.</a:t>
            </a:r>
          </a:p>
          <a:p>
            <a:pPr lvl="0"/>
            <a:r>
              <a:rPr/>
              <a:t>A </a:t>
            </a:r>
            <a:r>
              <a:rPr b="1"/>
              <a:t>heavy, direct fieldwork collection</a:t>
            </a:r>
            <a:r>
              <a:rPr/>
              <a:t>: no pre-existing administrative data, everything is surveyed or observed.</a:t>
            </a:r>
          </a:p>
          <a:p>
            <a:pPr lvl="0"/>
            <a:r>
              <a:rPr/>
              <a:t>A goal of </a:t>
            </a:r>
            <a:r>
              <a:rPr b="1"/>
              <a:t>visual proof</a:t>
            </a:r>
            <a:r>
              <a:rPr/>
              <a:t> intended to convince decision-makers or a sceptical public.</a:t>
            </a:r>
          </a:p>
          <a:p>
            <a:pPr lvl="0"/>
            <a:r>
              <a:rPr/>
              <a:t>Limitations already present: subjectivity of the coding (Booth’s classes), interviewer bias, data frozen at a single point in time.</a:t>
            </a:r>
          </a:p>
          <a:p>
            <a:pPr lvl="0"/>
            <a:r>
              <a:rPr/>
              <a:t>These are the direct ancestors of the GIS and spatial statistics used today, including in this afternoon’s ACLED/ERA5 workshop.</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Sources de données : origines de la géographie sociale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286000"/>
                <a:gridCol w="5943600"/>
              </a:tblGrid>
              <a:tr h="0">
                <a:tc>
                  <a:txBody>
                    <a:bodyPr/>
                    <a:lstStyle/>
                    <a:p>
                      <a:pPr lvl="0" indent="0" marL="0">
                        <a:buNone/>
                      </a:pPr>
                      <a:r>
                        <a:rPr/>
                        <a:t>Étude</a:t>
                      </a:r>
                    </a:p>
                  </a:txBody>
                  <a:tcPr/>
                </a:tc>
                <a:tc>
                  <a:txBody>
                    <a:bodyPr/>
                    <a:lstStyle/>
                    <a:p>
                      <a:pPr lvl="0" indent="0" marL="0">
                        <a:buNone/>
                      </a:pPr>
                      <a:r>
                        <a:rPr/>
                        <a:t>Source(s) de données</a:t>
                      </a:r>
                    </a:p>
                  </a:txBody>
                  <a:tcPr/>
                </a:tc>
              </a:tr>
              <a:tr h="0">
                <a:tc>
                  <a:txBody>
                    <a:bodyPr/>
                    <a:lstStyle/>
                    <a:p>
                      <a:pPr lvl="0" indent="0" marL="0">
                        <a:buNone/>
                      </a:pPr>
                      <a:r>
                        <a:rPr/>
                        <a:t>Snow (1854)</a:t>
                      </a:r>
                    </a:p>
                  </a:txBody>
                </a:tc>
                <a:tc>
                  <a:txBody>
                    <a:bodyPr/>
                    <a:lstStyle/>
                    <a:p>
                      <a:pPr lvl="0" indent="0" marL="0">
                        <a:buNone/>
                      </a:pPr>
                      <a:r>
                        <a:rPr/>
                        <a:t>Relevé de terrain : décès recensés maison par maison, localisation des pompes à eau du quartier</a:t>
                      </a:r>
                    </a:p>
                  </a:txBody>
                </a:tc>
              </a:tr>
              <a:tr h="0">
                <a:tc>
                  <a:txBody>
                    <a:bodyPr/>
                    <a:lstStyle/>
                    <a:p>
                      <a:pPr lvl="0" indent="0" marL="0">
                        <a:buNone/>
                      </a:pPr>
                      <a:r>
                        <a:rPr/>
                        <a:t>Booth (1889-1903)</a:t>
                      </a:r>
                    </a:p>
                  </a:txBody>
                </a:tc>
                <a:tc>
                  <a:txBody>
                    <a:bodyPr/>
                    <a:lstStyle/>
                    <a:p>
                      <a:pPr lvl="0" indent="0" marL="0">
                        <a:buNone/>
                      </a:pPr>
                      <a:r>
                        <a:rPr/>
                        <a:t>Enquête de terrain rue par rue (enquêteurs et agents de police), sur l’ensemble de Londres</a:t>
                      </a:r>
                    </a:p>
                  </a:txBody>
                </a:tc>
              </a:tr>
              <a:tr h="0">
                <a:tc>
                  <a:txBody>
                    <a:bodyPr/>
                    <a:lstStyle/>
                    <a:p>
                      <a:pPr lvl="0" indent="0" marL="0">
                        <a:buNone/>
                      </a:pPr>
                      <a:r>
                        <a:rPr/>
                        <a:t>Du Bois (1899)</a:t>
                      </a:r>
                    </a:p>
                  </a:txBody>
                </a:tc>
                <a:tc>
                  <a:txBody>
                    <a:bodyPr/>
                    <a:lstStyle/>
                    <a:p>
                      <a:pPr lvl="0" indent="0" marL="0">
                        <a:buNone/>
                      </a:pPr>
                      <a:r>
                        <a:rPr/>
                        <a:t>Enquête porte-à-porte auprès de plus de 2 500 ménages, 7e arrondissement de Philadelphie</a:t>
                      </a:r>
                    </a:p>
                  </a:txBody>
                </a:tc>
              </a:tr>
            </a:tbl>
          </a:graphicData>
        </a:graphic>
      </p:graphicFrame>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sources: origins of social geography</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286000"/>
                <a:gridCol w="5943600"/>
              </a:tblGrid>
              <a:tr h="0">
                <a:tc>
                  <a:txBody>
                    <a:bodyPr/>
                    <a:lstStyle/>
                    <a:p>
                      <a:pPr lvl="0" indent="0" marL="0">
                        <a:buNone/>
                      </a:pPr>
                      <a:r>
                        <a:rPr/>
                        <a:t>Study</a:t>
                      </a:r>
                    </a:p>
                  </a:txBody>
                  <a:tcPr/>
                </a:tc>
                <a:tc>
                  <a:txBody>
                    <a:bodyPr/>
                    <a:lstStyle/>
                    <a:p>
                      <a:pPr lvl="0" indent="0" marL="0">
                        <a:buNone/>
                      </a:pPr>
                      <a:r>
                        <a:rPr/>
                        <a:t>Data source(s)</a:t>
                      </a:r>
                    </a:p>
                  </a:txBody>
                  <a:tcPr/>
                </a:tc>
              </a:tr>
              <a:tr h="0">
                <a:tc>
                  <a:txBody>
                    <a:bodyPr/>
                    <a:lstStyle/>
                    <a:p>
                      <a:pPr lvl="0" indent="0" marL="0">
                        <a:buNone/>
                      </a:pPr>
                      <a:r>
                        <a:rPr/>
                        <a:t>Snow (1854)</a:t>
                      </a:r>
                    </a:p>
                  </a:txBody>
                </a:tc>
                <a:tc>
                  <a:txBody>
                    <a:bodyPr/>
                    <a:lstStyle/>
                    <a:p>
                      <a:pPr lvl="0" indent="0" marL="0">
                        <a:buNone/>
                      </a:pPr>
                      <a:r>
                        <a:rPr/>
                        <a:t>Field survey: deaths recorded house by house, location of the district’s water pumps</a:t>
                      </a:r>
                    </a:p>
                  </a:txBody>
                </a:tc>
              </a:tr>
              <a:tr h="0">
                <a:tc>
                  <a:txBody>
                    <a:bodyPr/>
                    <a:lstStyle/>
                    <a:p>
                      <a:pPr lvl="0" indent="0" marL="0">
                        <a:buNone/>
                      </a:pPr>
                      <a:r>
                        <a:rPr/>
                        <a:t>Booth (1889-1903)</a:t>
                      </a:r>
                    </a:p>
                  </a:txBody>
                </a:tc>
                <a:tc>
                  <a:txBody>
                    <a:bodyPr/>
                    <a:lstStyle/>
                    <a:p>
                      <a:pPr lvl="0" indent="0" marL="0">
                        <a:buNone/>
                      </a:pPr>
                      <a:r>
                        <a:rPr/>
                        <a:t>Street-by-street field survey (investigators and police officers), across the whole of London</a:t>
                      </a:r>
                    </a:p>
                  </a:txBody>
                </a:tc>
              </a:tr>
              <a:tr h="0">
                <a:tc>
                  <a:txBody>
                    <a:bodyPr/>
                    <a:lstStyle/>
                    <a:p>
                      <a:pPr lvl="0" indent="0" marL="0">
                        <a:buNone/>
                      </a:pPr>
                      <a:r>
                        <a:rPr/>
                        <a:t>Du Bois (1899)</a:t>
                      </a:r>
                    </a:p>
                  </a:txBody>
                </a:tc>
                <a:tc>
                  <a:txBody>
                    <a:bodyPr/>
                    <a:lstStyle/>
                    <a:p>
                      <a:pPr lvl="0" indent="0" marL="0">
                        <a:buNone/>
                      </a:pPr>
                      <a:r>
                        <a:rPr/>
                        <a:t>Door-to-door survey of over 2,500 households, 7th ward of Philadelphia</a:t>
                      </a:r>
                    </a:p>
                  </a:txBody>
                </a:tc>
              </a:tr>
            </a:tbl>
          </a:graphicData>
        </a:graphic>
      </p:graphicFrame>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2. Les variables géospatiales comme variables explicatives et la modélisation géospatiale</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2. Geospatial variables as explanatory variables and geospatial modelling</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 la carte descriptive à la variable explicative</a:t>
            </a:r>
          </a:p>
        </p:txBody>
      </p:sp>
      <p:sp>
        <p:nvSpPr>
          <p:cNvPr id="3" name="Content Placeholder 2"/>
          <p:cNvSpPr>
            <a:spLocks noGrp="1"/>
          </p:cNvSpPr>
          <p:nvPr>
            <p:ph idx="1"/>
          </p:nvPr>
        </p:nvSpPr>
        <p:spPr/>
        <p:txBody>
          <a:bodyPr/>
          <a:lstStyle/>
          <a:p>
            <a:pPr lvl="0"/>
            <a:r>
              <a:rPr/>
              <a:t>Une fois la carte établie, l’étape suivante consiste à tester si une variable géospatiale (climat, environnement, distance…) </a:t>
            </a:r>
            <a:r>
              <a:rPr b="1"/>
              <a:t>explique statistiquement</a:t>
            </a:r>
            <a:r>
              <a:rPr/>
              <a:t> un phénomène social.</a:t>
            </a:r>
          </a:p>
          <a:p>
            <a:pPr lvl="0"/>
            <a:r>
              <a:rPr/>
              <a:t>On quitte la description pure pour l’inférence : régression, modèle à effets fixes, causalité.</a:t>
            </a:r>
          </a:p>
          <a:p>
            <a:pPr lvl="0"/>
            <a:r>
              <a:rPr/>
              <a:t>Trois exemples récents, trois échelles différentes : le continent africain, deux régions du Sud global, une ville en guerre.</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From the descriptive map to the explanatory variable</a:t>
            </a:r>
          </a:p>
        </p:txBody>
      </p:sp>
      <p:sp>
        <p:nvSpPr>
          <p:cNvPr id="3" name="Content Placeholder 2"/>
          <p:cNvSpPr>
            <a:spLocks noGrp="1"/>
          </p:cNvSpPr>
          <p:nvPr>
            <p:ph idx="1"/>
          </p:nvPr>
        </p:nvSpPr>
        <p:spPr/>
        <p:txBody>
          <a:bodyPr/>
          <a:lstStyle/>
          <a:p>
            <a:pPr lvl="0"/>
            <a:r>
              <a:rPr/>
              <a:t>Once the map has been established, the next step is to test whether a geospatial variable (climate, environment, distance…) </a:t>
            </a:r>
            <a:r>
              <a:rPr b="1"/>
              <a:t>statistically explains</a:t>
            </a:r>
            <a:r>
              <a:rPr/>
              <a:t> a social phenomenon.</a:t>
            </a:r>
          </a:p>
          <a:p>
            <a:pPr lvl="0"/>
            <a:r>
              <a:rPr/>
              <a:t>We move on from pure description to inference: regression, fixed-effects models, causality.</a:t>
            </a:r>
          </a:p>
          <a:p>
            <a:pPr lvl="0"/>
            <a:r>
              <a:rPr/>
              <a:t>Three recent examples, three different scales: the African continent, two regions of the Global South, a city at war.</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Hendrix &amp; Salehyan (2012) : pluie et conflit social en Afrique</a:t>
            </a:r>
          </a:p>
        </p:txBody>
      </p:sp>
      <p:sp>
        <p:nvSpPr>
          <p:cNvPr id="3" name="Content Placeholder 2"/>
          <p:cNvSpPr>
            <a:spLocks noGrp="1"/>
          </p:cNvSpPr>
          <p:nvPr>
            <p:ph idx="1"/>
          </p:nvPr>
        </p:nvSpPr>
        <p:spPr/>
        <p:txBody>
          <a:bodyPr/>
          <a:lstStyle/>
          <a:p>
            <a:pPr lvl="0"/>
            <a:r>
              <a:rPr/>
              <a:t>Question : les écarts de pluviométrie par rapport à la normale expliquent-ils les émeutes, manifestations et violences en Afrique ?</a:t>
            </a:r>
          </a:p>
          <a:p>
            <a:pPr lvl="0"/>
            <a:r>
              <a:rPr/>
              <a:t>Données : plus de 6 000 événements de conflit social (</a:t>
            </a:r>
            <a:r>
              <a:rPr i="1"/>
              <a:t>Social Conflict in Africa Database</a:t>
            </a:r>
            <a:r>
              <a:rPr/>
              <a:t>, 1990-2009) croisés avec les déviations de pluviométrie standardisées par pays (</a:t>
            </a:r>
            <a:r>
              <a:rPr i="1"/>
              <a:t>Global Precipitation Climatology Project</a:t>
            </a:r>
            <a:r>
              <a:rPr/>
              <a:t>).</a:t>
            </a:r>
          </a:p>
          <a:p>
            <a:pPr lvl="0"/>
            <a:r>
              <a:rPr/>
              <a:t>Résultat : les déviations pluviométriques (trop de pluie </a:t>
            </a:r>
            <a:r>
              <a:rPr b="1"/>
              <a:t>ou</a:t>
            </a:r>
            <a:r>
              <a:rPr/>
              <a:t> trop peu) sont associées à davantage de conflit, avec un effet plus marqué pour les événements violents.</a:t>
            </a:r>
          </a:p>
          <a:p>
            <a:pPr lvl="0"/>
            <a:r>
              <a:rPr/>
              <a:t>Enseignement méthodologique : la pluie est utilisée comme variable explicative </a:t>
            </a:r>
            <a:r>
              <a:rPr i="1"/>
              <a:t>exogène</a:t>
            </a:r>
            <a:r>
              <a:rPr/>
              <a:t>, peu suspecte d’être elle-même causée par le conflit, un atout pour l’inférence causale.</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Hendrix &amp; Salehyan (2012): rainfall and social conflict in Africa</a:t>
            </a:r>
          </a:p>
        </p:txBody>
      </p:sp>
      <p:sp>
        <p:nvSpPr>
          <p:cNvPr id="3" name="Content Placeholder 2"/>
          <p:cNvSpPr>
            <a:spLocks noGrp="1"/>
          </p:cNvSpPr>
          <p:nvPr>
            <p:ph idx="1"/>
          </p:nvPr>
        </p:nvSpPr>
        <p:spPr/>
        <p:txBody>
          <a:bodyPr/>
          <a:lstStyle/>
          <a:p>
            <a:pPr lvl="0"/>
            <a:r>
              <a:rPr/>
              <a:t>Question: do departures of rainfall from normal explain riots, protests and violence in Africa?</a:t>
            </a:r>
          </a:p>
          <a:p>
            <a:pPr lvl="0"/>
            <a:r>
              <a:rPr/>
              <a:t>Data: over 6,000 social conflict events (</a:t>
            </a:r>
            <a:r>
              <a:rPr i="1"/>
              <a:t>Social Conflict in Africa Database</a:t>
            </a:r>
            <a:r>
              <a:rPr/>
              <a:t>, 1990-2009) cross-referenced with rainfall deviations standardised by country (</a:t>
            </a:r>
            <a:r>
              <a:rPr i="1"/>
              <a:t>Global Precipitation Climatology Project</a:t>
            </a:r>
            <a:r>
              <a:rPr/>
              <a:t>).</a:t>
            </a:r>
          </a:p>
          <a:p>
            <a:pPr lvl="0"/>
            <a:r>
              <a:rPr/>
              <a:t>Result: rainfall deviations (too much rain </a:t>
            </a:r>
            <a:r>
              <a:rPr b="1"/>
              <a:t>or</a:t>
            </a:r>
            <a:r>
              <a:rPr/>
              <a:t> too little) are associated with more conflict, with a stronger effect for violent events.</a:t>
            </a:r>
          </a:p>
          <a:p>
            <a:pPr lvl="0"/>
            <a:r>
              <a:rPr/>
              <a:t>Methodological lesson: rainfall is used as an </a:t>
            </a:r>
            <a:r>
              <a:rPr i="1"/>
              <a:t>exogenous</a:t>
            </a:r>
            <a:r>
              <a:rPr/>
              <a:t> explanatory variable, unlikely itself to be caused by conflict, an asset for causal inference.</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Hendrix &amp; Salehyan : les événements de conflit social en Afrique</a:t>
            </a:r>
          </a:p>
        </p:txBody>
      </p:sp>
      <p:pic>
        <p:nvPicPr>
          <p:cNvPr descr="images/paste-2.png" id="0" name="Picture 1"/>
          <p:cNvPicPr>
            <a:picLocks noGrp="1" noChangeAspect="1"/>
          </p:cNvPicPr>
          <p:nvPr/>
        </p:nvPicPr>
        <p:blipFill>
          <a:blip r:embed="rId2"/>
          <a:stretch>
            <a:fillRect/>
          </a:stretch>
        </p:blipFill>
        <p:spPr bwMode="auto">
          <a:xfrm>
            <a:off x="1803400" y="1193800"/>
            <a:ext cx="5524500" cy="3390900"/>
          </a:xfrm>
          <a:prstGeom prst="rect">
            <a:avLst/>
          </a:prstGeom>
          <a:noFill/>
          <a:ln w="9525">
            <a:noFill/>
            <a:headEnd/>
            <a:tailEnd/>
          </a:ln>
        </p:spPr>
      </p:pic>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Hendrix &amp; Salehyan: social conflict events in Africa</a:t>
            </a:r>
          </a:p>
        </p:txBody>
      </p:sp>
      <p:pic>
        <p:nvPicPr>
          <p:cNvPr descr="images/paste-2.png" id="0" name="Picture 1"/>
          <p:cNvPicPr>
            <a:picLocks noGrp="1" noChangeAspect="1"/>
          </p:cNvPicPr>
          <p:nvPr/>
        </p:nvPicPr>
        <p:blipFill>
          <a:blip r:embed="rId2"/>
          <a:stretch>
            <a:fillRect/>
          </a:stretch>
        </p:blipFill>
        <p:spPr bwMode="auto">
          <a:xfrm>
            <a:off x="1803400" y="1193800"/>
            <a:ext cx="5524500" cy="3390900"/>
          </a:xfrm>
          <a:prstGeom prst="rect">
            <a:avLst/>
          </a:prstGeom>
          <a:noFill/>
          <a:ln w="9525">
            <a:noFill/>
            <a:headEnd/>
            <a:tailEnd/>
          </a:ln>
        </p:spPr>
      </p:pic>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Couttenier &amp; Soubeyran (2014) : sécheresse et guerre civile</a:t>
            </a:r>
          </a:p>
        </p:txBody>
      </p:sp>
      <p:sp>
        <p:nvSpPr>
          <p:cNvPr id="3" name="Content Placeholder 2"/>
          <p:cNvSpPr>
            <a:spLocks noGrp="1"/>
          </p:cNvSpPr>
          <p:nvPr>
            <p:ph idx="1"/>
          </p:nvPr>
        </p:nvSpPr>
        <p:spPr/>
        <p:txBody>
          <a:bodyPr/>
          <a:lstStyle/>
          <a:p>
            <a:pPr lvl="0"/>
            <a:r>
              <a:rPr/>
              <a:t>Question : le lien entre sécheresse et guerre civile résiste-t-il à un contrôle plus strict des chocs climatiques globaux (communs à tous les pays la même année) ?</a:t>
            </a:r>
          </a:p>
          <a:p>
            <a:pPr lvl="0"/>
            <a:r>
              <a:rPr/>
              <a:t>Données : indice de sécheresse de Palmer (PDSI, combinant précipitations, température et sol), agrégé par pays-année pour l’Afrique subsaharienne, 1950-2005.</a:t>
            </a:r>
          </a:p>
          <a:p>
            <a:pPr lvl="0"/>
            <a:r>
              <a:rPr/>
              <a:t>Méthode : spécification en doubles différences avec effets fixes pays </a:t>
            </a:r>
            <a:r>
              <a:rPr b="1"/>
              <a:t>et</a:t>
            </a:r>
            <a:r>
              <a:rPr/>
              <a:t> année, pour isoler la variation propre à chaque pays plutôt que des chocs climatiques mondiaux (ex. El Niño).</a:t>
            </a:r>
          </a:p>
          <a:p>
            <a:pPr lvl="0"/>
            <a:r>
              <a:rPr/>
              <a:t>Résultat : le lien pluie/température-conflit trouvé dans la littérature s’affaiblit fortement et devient peu significatif une fois les chocs globaux contrôlés ; avec le PDSI, mesure plus fine du stress hydrique, un lien positif mais faible réapparaît.</a:t>
            </a:r>
          </a:p>
          <a:p>
            <a:pPr lvl="0"/>
            <a:r>
              <a:rPr/>
              <a:t>Message clé, en écho à Hendrix &amp; Salehyan : une variable géospatiale n’« explique » un phénomène social que si l’on maîtrise sérieusement les facteurs de confusion.</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Couttenier &amp; Soubeyran (2014): drought and civil war</a:t>
            </a:r>
          </a:p>
        </p:txBody>
      </p:sp>
      <p:sp>
        <p:nvSpPr>
          <p:cNvPr id="3" name="Content Placeholder 2"/>
          <p:cNvSpPr>
            <a:spLocks noGrp="1"/>
          </p:cNvSpPr>
          <p:nvPr>
            <p:ph idx="1"/>
          </p:nvPr>
        </p:nvSpPr>
        <p:spPr/>
        <p:txBody>
          <a:bodyPr/>
          <a:lstStyle/>
          <a:p>
            <a:pPr lvl="0"/>
            <a:r>
              <a:rPr/>
              <a:t>Question: does the link between drought and civil war hold up to stricter control for global climate shocks (common to all countries in the same year)?</a:t>
            </a:r>
          </a:p>
          <a:p>
            <a:pPr lvl="0"/>
            <a:r>
              <a:rPr/>
              <a:t>Data: Palmer Drought Severity Index (PDSI, combining precipitation, temperature and soil), aggregated by country-year for sub-Saharan Africa, 1950-2005.</a:t>
            </a:r>
          </a:p>
          <a:p>
            <a:pPr lvl="0"/>
            <a:r>
              <a:rPr/>
              <a:t>Method: a difference-in-differences specification with country </a:t>
            </a:r>
            <a:r>
              <a:rPr b="1"/>
              <a:t>and</a:t>
            </a:r>
            <a:r>
              <a:rPr/>
              <a:t> year fixed effects, to isolate variation specific to each country rather than global climate shocks (e.g. El Niño).</a:t>
            </a:r>
          </a:p>
          <a:p>
            <a:pPr lvl="0"/>
            <a:r>
              <a:rPr/>
              <a:t>Result: the rainfall/temperature-conflict link found in the literature weakens sharply and becomes barely significant once global shocks are controlled for; with the PDSI, a finer measure of water stress, a weak positive link reappears.</a:t>
            </a:r>
          </a:p>
          <a:p>
            <a:pPr lvl="0"/>
            <a:r>
              <a:rPr/>
              <a:t>Key message, echoing Hendrix &amp; Salehyan: a geospatial variable only “explains” a social phenomenon if confounding factors are seriously controlled for.</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Couttenier &amp; Soubeyran : cartes de l’indice de sécheresse en Afrique</a:t>
            </a:r>
          </a:p>
        </p:txBody>
      </p:sp>
      <p:pic>
        <p:nvPicPr>
          <p:cNvPr descr="images/paste-4.png" id="0" name="Picture 1"/>
          <p:cNvPicPr>
            <a:picLocks noGrp="1" noChangeAspect="1"/>
          </p:cNvPicPr>
          <p:nvPr/>
        </p:nvPicPr>
        <p:blipFill>
          <a:blip r:embed="rId2"/>
          <a:stretch>
            <a:fillRect/>
          </a:stretch>
        </p:blipFill>
        <p:spPr bwMode="auto">
          <a:xfrm>
            <a:off x="2171700" y="1193800"/>
            <a:ext cx="4800600" cy="3390900"/>
          </a:xfrm>
          <a:prstGeom prst="rect">
            <a:avLst/>
          </a:prstGeom>
          <a:noFill/>
          <a:ln w="9525">
            <a:noFill/>
            <a:headEnd/>
            <a:tailEnd/>
          </a:ln>
        </p:spPr>
      </p:pic>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Couttenier &amp; Soubeyran: maps of the drought index in Africa</a:t>
            </a:r>
          </a:p>
        </p:txBody>
      </p:sp>
      <p:pic>
        <p:nvPicPr>
          <p:cNvPr descr="images/paste-4.png" id="0" name="Picture 1"/>
          <p:cNvPicPr>
            <a:picLocks noGrp="1" noChangeAspect="1"/>
          </p:cNvPicPr>
          <p:nvPr/>
        </p:nvPicPr>
        <p:blipFill>
          <a:blip r:embed="rId2"/>
          <a:stretch>
            <a:fillRect/>
          </a:stretch>
        </p:blipFill>
        <p:spPr bwMode="auto">
          <a:xfrm>
            <a:off x="2171700" y="1193800"/>
            <a:ext cx="4800600" cy="3390900"/>
          </a:xfrm>
          <a:prstGeom prst="rect">
            <a:avLst/>
          </a:prstGeom>
          <a:noFill/>
          <a:ln w="9525">
            <a:noFill/>
            <a:headEnd/>
            <a:tailEnd/>
          </a:ln>
        </p:spPr>
      </p:pic>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Abdel-Ghany et al. (2026) : température et sex-ratio à la naissance</a:t>
            </a:r>
          </a:p>
        </p:txBody>
      </p:sp>
      <p:sp>
        <p:nvSpPr>
          <p:cNvPr id="3" name="Content Placeholder 2"/>
          <p:cNvSpPr>
            <a:spLocks noGrp="1"/>
          </p:cNvSpPr>
          <p:nvPr>
            <p:ph idx="1"/>
          </p:nvPr>
        </p:nvSpPr>
        <p:spPr/>
        <p:txBody>
          <a:bodyPr/>
          <a:lstStyle/>
          <a:p>
            <a:pPr lvl="0"/>
            <a:r>
              <a:rPr/>
              <a:t>Question : l’exposition à la chaleur pendant la grossesse modifie-t-elle le ratio filles/garçons à la naissance ?</a:t>
            </a:r>
          </a:p>
          <a:p>
            <a:pPr lvl="0"/>
            <a:r>
              <a:rPr/>
              <a:t>Données : 5 millions de naissances issues des enquêtes DHS dans 33 pays d’Afrique subsaharienne et en Inde, croisées avec des données de température journalière à haute résolution.</a:t>
            </a:r>
          </a:p>
          <a:p>
            <a:pPr lvl="0"/>
            <a:r>
              <a:rPr/>
              <a:t>Mécanisme proposé : la chaleur augmente la mortalité prénatale, en particulier chez les fœtus masculins (plus fragiles in utero), et peut aussi favoriser des avortements sélectifs là où la préférence pour les garçons est forte (Inde).</a:t>
            </a:r>
          </a:p>
          <a:p>
            <a:pPr lvl="0"/>
            <a:r>
              <a:rPr/>
              <a:t>Résultat : les jours à plus de 20°C pendant le premier trimestre sont associés à moins de naissances masculines, en Afrique subsaharienne comme en Inde.</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Abdel-Ghany et al. (2026): temperature and sex ratio at birth</a:t>
            </a:r>
          </a:p>
        </p:txBody>
      </p:sp>
      <p:sp>
        <p:nvSpPr>
          <p:cNvPr id="3" name="Content Placeholder 2"/>
          <p:cNvSpPr>
            <a:spLocks noGrp="1"/>
          </p:cNvSpPr>
          <p:nvPr>
            <p:ph idx="1"/>
          </p:nvPr>
        </p:nvSpPr>
        <p:spPr/>
        <p:txBody>
          <a:bodyPr/>
          <a:lstStyle/>
          <a:p>
            <a:pPr lvl="0"/>
            <a:r>
              <a:rPr/>
              <a:t>Question: does heat exposure during pregnancy alter the ratio of girls to boys at birth?</a:t>
            </a:r>
          </a:p>
          <a:p>
            <a:pPr lvl="0"/>
            <a:r>
              <a:rPr/>
              <a:t>Data: 5 million births from DHS surveys in 33 sub-Saharan African countries and India, cross-referenced with high-resolution daily temperature data.</a:t>
            </a:r>
          </a:p>
          <a:p>
            <a:pPr lvl="0"/>
            <a:r>
              <a:rPr/>
              <a:t>Proposed mechanism: heat increases prenatal mortality, particularly among male fetuses (more fragile in utero), and may also favour selective abortion where son preference is strong (India).</a:t>
            </a:r>
          </a:p>
          <a:p>
            <a:pPr lvl="0"/>
            <a:r>
              <a:rPr/>
              <a:t>Result: days above 20°C during the first trimester are associated with fewer male births, in both sub-Saharan Africa and India.</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Abdel-Ghany et al. : le mécanisme testé</a:t>
            </a:r>
          </a:p>
        </p:txBody>
      </p:sp>
      <p:pic>
        <p:nvPicPr>
          <p:cNvPr descr="images/ghany_fig1.png" id="0" name="Picture 1"/>
          <p:cNvPicPr>
            <a:picLocks noGrp="1" noChangeAspect="1"/>
          </p:cNvPicPr>
          <p:nvPr/>
        </p:nvPicPr>
        <p:blipFill>
          <a:blip r:embed="rId2"/>
          <a:stretch>
            <a:fillRect/>
          </a:stretch>
        </p:blipFill>
        <p:spPr bwMode="auto">
          <a:xfrm>
            <a:off x="2908300" y="1193800"/>
            <a:ext cx="33274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Cadre conceptuel des mécanismes biologiques et comportementaux reliant exposition à la chaleur et mortalité prénatale différenciée selon le sexe. Source : Abdel-Ghany et al., </a:t>
            </a:r>
            <a:r>
              <a:rPr i="1"/>
              <a:t>PNAS</a:t>
            </a:r>
            <a:r>
              <a:rPr/>
              <a:t>, 2026.</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Abdel-Ghany et al.: the mechanism tested</a:t>
            </a:r>
          </a:p>
        </p:txBody>
      </p:sp>
      <p:pic>
        <p:nvPicPr>
          <p:cNvPr descr="images/ghany_fig1.png" id="0" name="Picture 1"/>
          <p:cNvPicPr>
            <a:picLocks noGrp="1" noChangeAspect="1"/>
          </p:cNvPicPr>
          <p:nvPr/>
        </p:nvPicPr>
        <p:blipFill>
          <a:blip r:embed="rId2"/>
          <a:stretch>
            <a:fillRect/>
          </a:stretch>
        </p:blipFill>
        <p:spPr bwMode="auto">
          <a:xfrm>
            <a:off x="2908300" y="1193800"/>
            <a:ext cx="33274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Conceptual framework of the biological and behavioural mechanisms linking heat exposure and sex-differentiated prenatal mortality. Source: Abdel-Ghany et al., </a:t>
            </a:r>
            <a:r>
              <a:rPr i="1"/>
              <a:t>PNAS</a:t>
            </a:r>
            <a:r>
              <a:rPr/>
              <a:t>, 2026.</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Darin, Kashyap &amp; Leasure (2026) : données numériques et déplacement forcé à Gaza</a:t>
            </a:r>
          </a:p>
        </p:txBody>
      </p:sp>
      <p:sp>
        <p:nvSpPr>
          <p:cNvPr id="3" name="Content Placeholder 2"/>
          <p:cNvSpPr>
            <a:spLocks noGrp="1"/>
          </p:cNvSpPr>
          <p:nvPr>
            <p:ph idx="1"/>
          </p:nvPr>
        </p:nvSpPr>
        <p:spPr/>
        <p:txBody>
          <a:bodyPr/>
          <a:lstStyle/>
          <a:p>
            <a:pPr lvl="0"/>
            <a:r>
              <a:rPr/>
              <a:t>Question : peut-on suivre à haute fréquence l’ampleur et le rythme d’un déplacement forcé de population avec des données numériques, quand les systèmes de collecte habituels sont interrompus ?</a:t>
            </a:r>
          </a:p>
          <a:p>
            <a:pPr lvl="0"/>
            <a:r>
              <a:rPr/>
              <a:t>Données : estimations de population dérivées de l’API marketing de Facebook, mises en regard d’événements de conflit (ACLED), d’ordres d’évacuation et de dommages aux bâtiments (imagerie radar Sentinel-1).</a:t>
            </a:r>
          </a:p>
          <a:p>
            <a:pPr lvl="0"/>
            <a:r>
              <a:rPr/>
              <a:t>Ces variables géospatiales et temporelles (événements, évacuations, dommages) sont utilisées pour </a:t>
            </a:r>
            <a:r>
              <a:rPr b="1"/>
              <a:t>expliquer</a:t>
            </a:r>
            <a:r>
              <a:rPr/>
              <a:t> la dynamique et le rythme des déplacements de population.</a:t>
            </a:r>
          </a:p>
          <a:p>
            <a:pPr lvl="0"/>
            <a:r>
              <a:rPr/>
              <a:t>Résultat : jusqu’à 70 % de la population de Gaza déplacée entre le 7 octobre 2023 et le 15 mai 2024, avec une volatilité croissante des mouvements de population à mesure que le conflit se prolonge.</a:t>
            </a:r>
          </a:p>
          <a:p>
            <a:pPr lvl="0"/>
            <a:r>
              <a:rPr/>
              <a:t>Étude menée par l’équipe de démographie de l’Université d’Oxford ; Douglas Leasure et Ridhi Kashyap, coauteurs, apparaissent aussi dans la section 2 de ce cours.</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Darin, Kashyap &amp; Leasure (2026): digital data and forced displacement in Gaza</a:t>
            </a:r>
          </a:p>
        </p:txBody>
      </p:sp>
      <p:sp>
        <p:nvSpPr>
          <p:cNvPr id="3" name="Content Placeholder 2"/>
          <p:cNvSpPr>
            <a:spLocks noGrp="1"/>
          </p:cNvSpPr>
          <p:nvPr>
            <p:ph idx="1"/>
          </p:nvPr>
        </p:nvSpPr>
        <p:spPr/>
        <p:txBody>
          <a:bodyPr/>
          <a:lstStyle/>
          <a:p>
            <a:pPr lvl="0"/>
            <a:r>
              <a:rPr/>
              <a:t>Question: can the scale and pace of forced population displacement be tracked at high frequency using digital data, when usual collection systems are disrupted?</a:t>
            </a:r>
          </a:p>
          <a:p>
            <a:pPr lvl="0"/>
            <a:r>
              <a:rPr/>
              <a:t>Data: population estimates derived from the Facebook marketing API, set against conflict events (ACLED), evacuation orders, and building damage (Sentinel-1 radar imagery).</a:t>
            </a:r>
          </a:p>
          <a:p>
            <a:pPr lvl="0"/>
            <a:r>
              <a:rPr/>
              <a:t>These geospatial and temporal variables (events, evacuations, damage) are used to </a:t>
            </a:r>
            <a:r>
              <a:rPr b="1"/>
              <a:t>explain</a:t>
            </a:r>
            <a:r>
              <a:rPr/>
              <a:t> the dynamics and pace of population displacement.</a:t>
            </a:r>
          </a:p>
          <a:p>
            <a:pPr lvl="0"/>
            <a:r>
              <a:rPr/>
              <a:t>Result: up to 70% of Gaza’s population displaced between 7 October 2023 and 15 May 2024, with growing volatility in population movements as the conflict continues.</a:t>
            </a:r>
          </a:p>
          <a:p>
            <a:pPr lvl="0"/>
            <a:r>
              <a:rPr/>
              <a:t>Study led by the Oxford demography team; Douglas Leasure and Ridhi Kashyap, co-authors, also appear in section 2 of this course.</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Darin, Kashyap &amp; Leasure : la dynamique des déplacements à Gaza</a:t>
            </a:r>
          </a:p>
        </p:txBody>
      </p:sp>
      <p:pic>
        <p:nvPicPr>
          <p:cNvPr descr="images/paste-5.png" id="0" name="Picture 1"/>
          <p:cNvPicPr>
            <a:picLocks noGrp="1" noChangeAspect="1"/>
          </p:cNvPicPr>
          <p:nvPr/>
        </p:nvPicPr>
        <p:blipFill>
          <a:blip r:embed="rId2"/>
          <a:stretch>
            <a:fillRect/>
          </a:stretch>
        </p:blipFill>
        <p:spPr bwMode="auto">
          <a:xfrm>
            <a:off x="2895600" y="1193800"/>
            <a:ext cx="3365500" cy="3390900"/>
          </a:xfrm>
          <a:prstGeom prst="rect">
            <a:avLst/>
          </a:prstGeom>
          <a:noFill/>
          <a:ln w="9525">
            <a:noFill/>
            <a:headEnd/>
            <a:tailEnd/>
          </a:ln>
        </p:spPr>
      </p:pic>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Darin, Kashyap &amp; Leasure: the dynamics of displacement in Gaza</a:t>
            </a:r>
          </a:p>
        </p:txBody>
      </p:sp>
      <p:pic>
        <p:nvPicPr>
          <p:cNvPr descr="images/paste-5.png" id="0" name="Picture 1"/>
          <p:cNvPicPr>
            <a:picLocks noGrp="1" noChangeAspect="1"/>
          </p:cNvPicPr>
          <p:nvPr/>
        </p:nvPicPr>
        <p:blipFill>
          <a:blip r:embed="rId2"/>
          <a:stretch>
            <a:fillRect/>
          </a:stretch>
        </p:blipFill>
        <p:spPr bwMode="auto">
          <a:xfrm>
            <a:off x="2895600" y="1193800"/>
            <a:ext cx="3365500" cy="3390900"/>
          </a:xfrm>
          <a:prstGeom prst="rect">
            <a:avLst/>
          </a:prstGeom>
          <a:noFill/>
          <a:ln w="9525">
            <a:noFill/>
            <a:headEnd/>
            <a:tailEnd/>
          </a:ln>
        </p:spPr>
      </p:pic>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Variables explicatives géospatiales : synthèse</a:t>
            </a:r>
          </a:p>
        </p:txBody>
      </p:sp>
      <p:sp>
        <p:nvSpPr>
          <p:cNvPr id="3" name="Content Placeholder 2"/>
          <p:cNvSpPr>
            <a:spLocks noGrp="1"/>
          </p:cNvSpPr>
          <p:nvPr>
            <p:ph idx="1"/>
          </p:nvPr>
        </p:nvSpPr>
        <p:spPr/>
        <p:txBody>
          <a:bodyPr/>
          <a:lstStyle/>
          <a:p>
            <a:pPr lvl="0"/>
            <a:r>
              <a:rPr/>
              <a:t>Une variable géospatiale devient </a:t>
            </a:r>
            <a:r>
              <a:rPr i="1"/>
              <a:t>explicative</a:t>
            </a:r>
            <a:r>
              <a:rPr/>
              <a:t> quand on l’utilise pour rendre compte statistiquement d’un phénomène social, avec un objectif d’inférence (association, parfois causalité).</a:t>
            </a:r>
          </a:p>
          <a:p>
            <a:pPr lvl="0"/>
            <a:r>
              <a:rPr/>
              <a:t>Les quatre exemples partagent une structure commune : un </a:t>
            </a:r>
            <a:r>
              <a:rPr b="1"/>
              <a:t>choc ou une exposition géolocalisée</a:t>
            </a:r>
            <a:r>
              <a:rPr/>
              <a:t> (pluie, sécheresse, chaleur, conflit, évacuation) mise en regard d’un </a:t>
            </a:r>
            <a:r>
              <a:rPr b="1"/>
              <a:t>indicateur social</a:t>
            </a:r>
            <a:r>
              <a:rPr/>
              <a:t> (conflit, sex-ratio, déplacement).</a:t>
            </a:r>
          </a:p>
          <a:p>
            <a:pPr lvl="0"/>
            <a:r>
              <a:rPr/>
              <a:t>Point de vigilance commun : confusion, causalité inverse, qualité et résolution spatiale de la variable géospatiale utilisée ; Couttenier &amp; Soubeyran le montrent bien face à Hendrix &amp; Salehyan.</a:t>
            </a:r>
          </a:p>
          <a:p>
            <a:pPr lvl="0"/>
            <a:r>
              <a:rPr/>
              <a:t>Lien avec l’atelier de cet après-midi : ACLED et ERA5 sont précisément le type de données mobilisées dans ces quatre articles.</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Geospatial explanatory variables: summary</a:t>
            </a:r>
          </a:p>
        </p:txBody>
      </p:sp>
      <p:sp>
        <p:nvSpPr>
          <p:cNvPr id="3" name="Content Placeholder 2"/>
          <p:cNvSpPr>
            <a:spLocks noGrp="1"/>
          </p:cNvSpPr>
          <p:nvPr>
            <p:ph idx="1"/>
          </p:nvPr>
        </p:nvSpPr>
        <p:spPr/>
        <p:txBody>
          <a:bodyPr/>
          <a:lstStyle/>
          <a:p>
            <a:pPr lvl="0"/>
            <a:r>
              <a:rPr/>
              <a:t>A geospatial variable becomes </a:t>
            </a:r>
            <a:r>
              <a:rPr i="1"/>
              <a:t>explanatory</a:t>
            </a:r>
            <a:r>
              <a:rPr/>
              <a:t> when it is used to statistically account for a social phenomenon, with a goal of inference (association, sometimes causality).</a:t>
            </a:r>
          </a:p>
          <a:p>
            <a:pPr lvl="0"/>
            <a:r>
              <a:rPr/>
              <a:t>The four examples share a common structure: a </a:t>
            </a:r>
            <a:r>
              <a:rPr b="1"/>
              <a:t>geolocated shock or exposure</a:t>
            </a:r>
            <a:r>
              <a:rPr/>
              <a:t> (rain, drought, heat, conflict, evacuation) set against a </a:t>
            </a:r>
            <a:r>
              <a:rPr b="1"/>
              <a:t>social indicator</a:t>
            </a:r>
            <a:r>
              <a:rPr/>
              <a:t> (conflict, sex ratio, displacement).</a:t>
            </a:r>
          </a:p>
          <a:p>
            <a:pPr lvl="0"/>
            <a:r>
              <a:rPr/>
              <a:t>Common point of caution: confounding, reverse causality, quality and spatial resolution of the geospatial variable used; Couttenier &amp; Soubeyran illustrate this well against Hendrix &amp; Salehyan.</a:t>
            </a:r>
          </a:p>
          <a:p>
            <a:pPr lvl="0"/>
            <a:r>
              <a:rPr/>
              <a:t>Link to this afternoon’s workshop: ACLED and ERA5 are precisely the type of data used in these four articles.</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Sources de données : variables explicatives géospatiales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286000"/>
                <a:gridCol w="5943600"/>
              </a:tblGrid>
              <a:tr h="0">
                <a:tc>
                  <a:txBody>
                    <a:bodyPr/>
                    <a:lstStyle/>
                    <a:p>
                      <a:pPr lvl="0" indent="0" marL="0">
                        <a:buNone/>
                      </a:pPr>
                      <a:r>
                        <a:rPr/>
                        <a:t>Étude</a:t>
                      </a:r>
                    </a:p>
                  </a:txBody>
                  <a:tcPr/>
                </a:tc>
                <a:tc>
                  <a:txBody>
                    <a:bodyPr/>
                    <a:lstStyle/>
                    <a:p>
                      <a:pPr lvl="0" indent="0" marL="0">
                        <a:buNone/>
                      </a:pPr>
                      <a:r>
                        <a:rPr/>
                        <a:t>Source(s) de données</a:t>
                      </a:r>
                    </a:p>
                  </a:txBody>
                  <a:tcPr/>
                </a:tc>
              </a:tr>
              <a:tr h="0">
                <a:tc>
                  <a:txBody>
                    <a:bodyPr/>
                    <a:lstStyle/>
                    <a:p>
                      <a:pPr lvl="0" indent="0" marL="0">
                        <a:buNone/>
                      </a:pPr>
                      <a:r>
                        <a:rPr/>
                        <a:t>Hendrix &amp; Salehyan (2012)</a:t>
                      </a:r>
                    </a:p>
                  </a:txBody>
                </a:tc>
                <a:tc>
                  <a:txBody>
                    <a:bodyPr/>
                    <a:lstStyle/>
                    <a:p>
                      <a:pPr lvl="0" indent="0" marL="0">
                        <a:buNone/>
                      </a:pPr>
                      <a:r>
                        <a:rPr i="1"/>
                        <a:t>Social Conflict in Africa Database</a:t>
                      </a:r>
                      <a:r>
                        <a:rPr/>
                        <a:t> (SCAD) ; </a:t>
                      </a:r>
                      <a:r>
                        <a:rPr i="1"/>
                        <a:t>Global Precipitation Climatology Project</a:t>
                      </a:r>
                      <a:r>
                        <a:rPr/>
                        <a:t> (GPCP)</a:t>
                      </a:r>
                    </a:p>
                  </a:txBody>
                </a:tc>
              </a:tr>
              <a:tr h="0">
                <a:tc>
                  <a:txBody>
                    <a:bodyPr/>
                    <a:lstStyle/>
                    <a:p>
                      <a:pPr lvl="0" indent="0" marL="0">
                        <a:buNone/>
                      </a:pPr>
                      <a:r>
                        <a:rPr/>
                        <a:t>Couttenier &amp; Soubeyran (2014)</a:t>
                      </a:r>
                    </a:p>
                  </a:txBody>
                </a:tc>
                <a:tc>
                  <a:txBody>
                    <a:bodyPr/>
                    <a:lstStyle/>
                    <a:p>
                      <a:pPr lvl="0" indent="0" marL="0">
                        <a:buNone/>
                      </a:pPr>
                      <a:r>
                        <a:rPr/>
                        <a:t>Indice de sécheresse PDSI (Dai </a:t>
                      </a:r>
                      <a:r>
                        <a:rPr i="1"/>
                        <a:t>et al.</a:t>
                      </a:r>
                      <a:r>
                        <a:rPr/>
                        <a:t>, 2004) ; </a:t>
                      </a:r>
                      <a:r>
                        <a:rPr i="1"/>
                        <a:t>UCDP/PRIO Armed Conflict Dataset</a:t>
                      </a:r>
                    </a:p>
                  </a:txBody>
                </a:tc>
              </a:tr>
              <a:tr h="0">
                <a:tc>
                  <a:txBody>
                    <a:bodyPr/>
                    <a:lstStyle/>
                    <a:p>
                      <a:pPr lvl="0" indent="0" marL="0">
                        <a:buNone/>
                      </a:pPr>
                      <a:r>
                        <a:rPr/>
                        <a:t>Abdel-Ghany et al. (2026)</a:t>
                      </a:r>
                    </a:p>
                  </a:txBody>
                </a:tc>
                <a:tc>
                  <a:txBody>
                    <a:bodyPr/>
                    <a:lstStyle/>
                    <a:p>
                      <a:pPr lvl="0" indent="0" marL="0">
                        <a:buNone/>
                      </a:pPr>
                      <a:r>
                        <a:rPr/>
                        <a:t>DHS (104 enquêtes, 33 pays d’Afrique subsaharienne + Inde) ; température journalière NOAA CPC (grille 0,5°) ; précipitations CRU (University of East Anglia)</a:t>
                      </a:r>
                    </a:p>
                  </a:txBody>
                </a:tc>
              </a:tr>
              <a:tr h="0">
                <a:tc>
                  <a:txBody>
                    <a:bodyPr/>
                    <a:lstStyle/>
                    <a:p>
                      <a:pPr lvl="0" indent="0" marL="0">
                        <a:buNone/>
                      </a:pPr>
                      <a:r>
                        <a:rPr/>
                        <a:t>Darin, Kashyap &amp; Leasure (2026)</a:t>
                      </a:r>
                    </a:p>
                  </a:txBody>
                </a:tc>
                <a:tc>
                  <a:txBody>
                    <a:bodyPr/>
                    <a:lstStyle/>
                    <a:p>
                      <a:pPr lvl="0" indent="0" marL="0">
                        <a:buNone/>
                      </a:pPr>
                      <a:r>
                        <a:rPr/>
                        <a:t>API marketing Facebook ; ACLED ; ordres d’évacuation (X/Twitter, Facebook, </a:t>
                      </a:r>
                      <a:r>
                        <a:rPr i="1"/>
                        <a:t>Forensic Architecture</a:t>
                      </a:r>
                      <a:r>
                        <a:rPr/>
                        <a:t>) ; dommages aux bâtiments (radar Copernicus Sentinel-1) ; rapports de situation UNRWA</a:t>
                      </a:r>
                    </a:p>
                  </a:txBody>
                </a:tc>
              </a:tr>
            </a:tbl>
          </a:graphicData>
        </a:graphic>
      </p:graphicFrame>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sources: geospatial explanatory variables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286000"/>
                <a:gridCol w="5943600"/>
              </a:tblGrid>
              <a:tr h="0">
                <a:tc>
                  <a:txBody>
                    <a:bodyPr/>
                    <a:lstStyle/>
                    <a:p>
                      <a:pPr lvl="0" indent="0" marL="0">
                        <a:buNone/>
                      </a:pPr>
                      <a:r>
                        <a:rPr/>
                        <a:t>Study</a:t>
                      </a:r>
                    </a:p>
                  </a:txBody>
                  <a:tcPr/>
                </a:tc>
                <a:tc>
                  <a:txBody>
                    <a:bodyPr/>
                    <a:lstStyle/>
                    <a:p>
                      <a:pPr lvl="0" indent="0" marL="0">
                        <a:buNone/>
                      </a:pPr>
                      <a:r>
                        <a:rPr/>
                        <a:t>Data source(s)</a:t>
                      </a:r>
                    </a:p>
                  </a:txBody>
                  <a:tcPr/>
                </a:tc>
              </a:tr>
              <a:tr h="0">
                <a:tc>
                  <a:txBody>
                    <a:bodyPr/>
                    <a:lstStyle/>
                    <a:p>
                      <a:pPr lvl="0" indent="0" marL="0">
                        <a:buNone/>
                      </a:pPr>
                      <a:r>
                        <a:rPr/>
                        <a:t>Hendrix &amp; Salehyan (2012)</a:t>
                      </a:r>
                    </a:p>
                  </a:txBody>
                </a:tc>
                <a:tc>
                  <a:txBody>
                    <a:bodyPr/>
                    <a:lstStyle/>
                    <a:p>
                      <a:pPr lvl="0" indent="0" marL="0">
                        <a:buNone/>
                      </a:pPr>
                      <a:r>
                        <a:rPr i="1"/>
                        <a:t>Social Conflict in Africa Database</a:t>
                      </a:r>
                      <a:r>
                        <a:rPr/>
                        <a:t> (SCAD); </a:t>
                      </a:r>
                      <a:r>
                        <a:rPr i="1"/>
                        <a:t>Global Precipitation Climatology Project</a:t>
                      </a:r>
                      <a:r>
                        <a:rPr/>
                        <a:t> (GPCP)</a:t>
                      </a:r>
                    </a:p>
                  </a:txBody>
                </a:tc>
              </a:tr>
              <a:tr h="0">
                <a:tc>
                  <a:txBody>
                    <a:bodyPr/>
                    <a:lstStyle/>
                    <a:p>
                      <a:pPr lvl="0" indent="0" marL="0">
                        <a:buNone/>
                      </a:pPr>
                      <a:r>
                        <a:rPr/>
                        <a:t>Couttenier &amp; Soubeyran (2014)</a:t>
                      </a:r>
                    </a:p>
                  </a:txBody>
                </a:tc>
                <a:tc>
                  <a:txBody>
                    <a:bodyPr/>
                    <a:lstStyle/>
                    <a:p>
                      <a:pPr lvl="0" indent="0" marL="0">
                        <a:buNone/>
                      </a:pPr>
                      <a:r>
                        <a:rPr/>
                        <a:t>PDSI drought index (Dai </a:t>
                      </a:r>
                      <a:r>
                        <a:rPr i="1"/>
                        <a:t>et al.</a:t>
                      </a:r>
                      <a:r>
                        <a:rPr/>
                        <a:t>, 2004); </a:t>
                      </a:r>
                      <a:r>
                        <a:rPr i="1"/>
                        <a:t>UCDP/PRIO Armed Conflict Dataset</a:t>
                      </a:r>
                    </a:p>
                  </a:txBody>
                </a:tc>
              </a:tr>
              <a:tr h="0">
                <a:tc>
                  <a:txBody>
                    <a:bodyPr/>
                    <a:lstStyle/>
                    <a:p>
                      <a:pPr lvl="0" indent="0" marL="0">
                        <a:buNone/>
                      </a:pPr>
                      <a:r>
                        <a:rPr/>
                        <a:t>Abdel-Ghany et al. (2026)</a:t>
                      </a:r>
                    </a:p>
                  </a:txBody>
                </a:tc>
                <a:tc>
                  <a:txBody>
                    <a:bodyPr/>
                    <a:lstStyle/>
                    <a:p>
                      <a:pPr lvl="0" indent="0" marL="0">
                        <a:buNone/>
                      </a:pPr>
                      <a:r>
                        <a:rPr/>
                        <a:t>DHS (104 surveys, 33 sub-Saharan African countries + India); daily NOAA CPC temperature (0.5° grid); CRU precipitation (University of East Anglia)</a:t>
                      </a:r>
                    </a:p>
                  </a:txBody>
                </a:tc>
              </a:tr>
              <a:tr h="0">
                <a:tc>
                  <a:txBody>
                    <a:bodyPr/>
                    <a:lstStyle/>
                    <a:p>
                      <a:pPr lvl="0" indent="0" marL="0">
                        <a:buNone/>
                      </a:pPr>
                      <a:r>
                        <a:rPr/>
                        <a:t>Darin, Kashyap &amp; Leasure (2026)</a:t>
                      </a:r>
                    </a:p>
                  </a:txBody>
                </a:tc>
                <a:tc>
                  <a:txBody>
                    <a:bodyPr/>
                    <a:lstStyle/>
                    <a:p>
                      <a:pPr lvl="0" indent="0" marL="0">
                        <a:buNone/>
                      </a:pPr>
                      <a:r>
                        <a:rPr/>
                        <a:t>Facebook marketing API; ACLED; evacuation orders (X/Twitter, Facebook, </a:t>
                      </a:r>
                      <a:r>
                        <a:rPr i="1"/>
                        <a:t>Forensic Architecture</a:t>
                      </a:r>
                      <a:r>
                        <a:rPr/>
                        <a:t>); building damage (Copernicus Sentinel-1 radar); UNRWA situation reports</a:t>
                      </a:r>
                    </a:p>
                  </a:txBody>
                </a:tc>
              </a:tr>
            </a:tbl>
          </a:graphicData>
        </a:graphic>
      </p:graphicFrame>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 modélisation géospatiale</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Geospatial modelling</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Estimer ce qui n’est pas mesuré partout</a:t>
            </a:r>
          </a:p>
        </p:txBody>
      </p:sp>
      <p:sp>
        <p:nvSpPr>
          <p:cNvPr id="3" name="Content Placeholder 2"/>
          <p:cNvSpPr>
            <a:spLocks noGrp="1"/>
          </p:cNvSpPr>
          <p:nvPr>
            <p:ph idx="1"/>
          </p:nvPr>
        </p:nvSpPr>
        <p:spPr/>
        <p:txBody>
          <a:bodyPr/>
          <a:lstStyle/>
          <a:p>
            <a:pPr lvl="0"/>
            <a:r>
              <a:rPr/>
              <a:t>Les enquêtes sociales (recensements, DHS…) ne couvrent jamais tout le territoire ni tous les moments.</a:t>
            </a:r>
          </a:p>
          <a:p>
            <a:pPr lvl="0"/>
            <a:r>
              <a:rPr/>
              <a:t>La modélisation géospatiale consiste à </a:t>
            </a:r>
            <a:r>
              <a:rPr b="1"/>
              <a:t>prédire</a:t>
            </a:r>
            <a:r>
              <a:rPr/>
              <a:t> un indicateur en tout point de l’espace à partir des observations disponibles et de covariables géospatiales corrélées (climat, occupation du sol, accessibilité…).</a:t>
            </a:r>
          </a:p>
          <a:p>
            <a:pPr lvl="0"/>
            <a:r>
              <a:rPr/>
              <a:t>Approche typique : modèle géostatistique bayésien, produisant à la fois une estimation ponctuelle et une carte d’incertitude.</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Estimating what is not measured everywhere</a:t>
            </a:r>
          </a:p>
        </p:txBody>
      </p:sp>
      <p:sp>
        <p:nvSpPr>
          <p:cNvPr id="3" name="Content Placeholder 2"/>
          <p:cNvSpPr>
            <a:spLocks noGrp="1"/>
          </p:cNvSpPr>
          <p:nvPr>
            <p:ph idx="1"/>
          </p:nvPr>
        </p:nvSpPr>
        <p:spPr/>
        <p:txBody>
          <a:bodyPr/>
          <a:lstStyle/>
          <a:p>
            <a:pPr lvl="0"/>
            <a:r>
              <a:rPr/>
              <a:t>Social surveys (censuses, DHS…) never cover the entire territory or every point in time.</a:t>
            </a:r>
          </a:p>
          <a:p>
            <a:pPr lvl="0"/>
            <a:r>
              <a:rPr/>
              <a:t>Geospatial modelling consists of </a:t>
            </a:r>
            <a:r>
              <a:rPr b="1"/>
              <a:t>predicting</a:t>
            </a:r>
            <a:r>
              <a:rPr/>
              <a:t> an indicator at every point in space, based on available observations and correlated geospatial covariates (climate, land cover, accessibility…).</a:t>
            </a:r>
          </a:p>
          <a:p>
            <a:pPr lvl="0"/>
            <a:r>
              <a:rPr/>
              <a:t>Typical approach: a Bayesian geostatistical model, producing both a point estimate and an uncertainty map.</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Ferreira et al. (2020) : comment fait-on, concrètement ?</a:t>
            </a:r>
          </a:p>
        </p:txBody>
      </p:sp>
      <p:sp>
        <p:nvSpPr>
          <p:cNvPr id="3" name="Content Placeholder 2"/>
          <p:cNvSpPr>
            <a:spLocks noGrp="1"/>
          </p:cNvSpPr>
          <p:nvPr>
            <p:ph idx="1"/>
          </p:nvPr>
        </p:nvSpPr>
        <p:spPr/>
        <p:txBody>
          <a:bodyPr/>
          <a:lstStyle/>
          <a:p>
            <a:pPr lvl="0"/>
            <a:r>
              <a:rPr/>
              <a:t>Revue systématique de la littérature sur l’estimation géospatiale d’indicateurs de santé reproductive, maternelle, néonatale et infantile.</a:t>
            </a:r>
          </a:p>
          <a:p>
            <a:pPr lvl="0"/>
            <a:r>
              <a:rPr/>
              <a:t>Objectif : documenter les choix méthodologiques (source de données, covariables, technique de modélisation, résolution, validation) utilisés dans ce champ de recherche.</a:t>
            </a:r>
          </a:p>
          <a:p>
            <a:pPr lvl="0"/>
            <a:r>
              <a:rPr/>
              <a:t>Constat : une grande hétérogénéité de pratiques, mais un schéma général commun à la plupart des études.</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Ferreira et al. (2020): how is it actually done?</a:t>
            </a:r>
          </a:p>
        </p:txBody>
      </p:sp>
      <p:sp>
        <p:nvSpPr>
          <p:cNvPr id="3" name="Content Placeholder 2"/>
          <p:cNvSpPr>
            <a:spLocks noGrp="1"/>
          </p:cNvSpPr>
          <p:nvPr>
            <p:ph idx="1"/>
          </p:nvPr>
        </p:nvSpPr>
        <p:spPr/>
        <p:txBody>
          <a:bodyPr/>
          <a:lstStyle/>
          <a:p>
            <a:pPr lvl="0"/>
            <a:r>
              <a:rPr/>
              <a:t>A systematic review of the literature on geospatial estimation of reproductive, maternal, neonatal and child health indicators.</a:t>
            </a:r>
          </a:p>
          <a:p>
            <a:pPr lvl="0"/>
            <a:r>
              <a:rPr/>
              <a:t>Objective: document the methodological choices (data source, covariates, modelling technique, resolution, validation) used in this field of research.</a:t>
            </a:r>
          </a:p>
          <a:p>
            <a:pPr lvl="0"/>
            <a:r>
              <a:rPr/>
              <a:t>Finding: substantial heterogeneity of practice, but a general pattern common to most studies.</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Ferreira et al. : le schéma général d’une estimation géospatiale</a:t>
            </a:r>
          </a:p>
        </p:txBody>
      </p:sp>
      <p:pic>
        <p:nvPicPr>
          <p:cNvPr descr="images/ferreira_fig1.png" id="0" name="Picture 1"/>
          <p:cNvPicPr>
            <a:picLocks noGrp="1" noChangeAspect="1"/>
          </p:cNvPicPr>
          <p:nvPr/>
        </p:nvPicPr>
        <p:blipFill>
          <a:blip r:embed="rId2"/>
          <a:stretch>
            <a:fillRect/>
          </a:stretch>
        </p:blipFill>
        <p:spPr bwMode="auto">
          <a:xfrm>
            <a:off x="3365500" y="1193800"/>
            <a:ext cx="24003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Vue d’ensemble d’un processus d’estimation géospatiale. Source : Ferreira et al., </a:t>
            </a:r>
            <a:r>
              <a:rPr i="1"/>
              <a:t>International Journal of Health Geographics</a:t>
            </a:r>
            <a:r>
              <a:rPr/>
              <a:t>, 2020 (adapté de Mayala et al.).</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Ferreira et al.: the general pattern of a geospatial estimation</a:t>
            </a:r>
          </a:p>
        </p:txBody>
      </p:sp>
      <p:pic>
        <p:nvPicPr>
          <p:cNvPr descr="images/ferreira_fig1.png" id="0" name="Picture 1"/>
          <p:cNvPicPr>
            <a:picLocks noGrp="1" noChangeAspect="1"/>
          </p:cNvPicPr>
          <p:nvPr/>
        </p:nvPicPr>
        <p:blipFill>
          <a:blip r:embed="rId2"/>
          <a:stretch>
            <a:fillRect/>
          </a:stretch>
        </p:blipFill>
        <p:spPr bwMode="auto">
          <a:xfrm>
            <a:off x="3365500" y="1193800"/>
            <a:ext cx="24003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Overview of a geospatial estimation process. Source: Ferreira et al., </a:t>
            </a:r>
            <a:r>
              <a:rPr i="1"/>
              <a:t>International Journal of Health Geographics</a:t>
            </a:r>
            <a:r>
              <a:rPr/>
              <a:t>, 2020 (adapted from Mayala et al.).</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Golding et al. (2017) : cartographier la mortalité des moins de 5 ans en Afrique</a:t>
            </a:r>
          </a:p>
        </p:txBody>
      </p:sp>
      <p:sp>
        <p:nvSpPr>
          <p:cNvPr id="3" name="Content Placeholder 2"/>
          <p:cNvSpPr>
            <a:spLocks noGrp="1"/>
          </p:cNvSpPr>
          <p:nvPr>
            <p:ph idx="1"/>
          </p:nvPr>
        </p:nvSpPr>
        <p:spPr/>
        <p:txBody>
          <a:bodyPr/>
          <a:lstStyle/>
          <a:p>
            <a:pPr lvl="0"/>
            <a:r>
              <a:rPr/>
              <a:t>Question : quelle est la mortalité des moins de 5 ans à très fine échelle (5×5 km) partout en Afrique, de 2000 à 2015 ?</a:t>
            </a:r>
          </a:p>
          <a:p>
            <a:pPr lvl="0"/>
            <a:r>
              <a:rPr/>
              <a:t>Méthode : modèle géostatistique bayésien combinant plusieurs sous-modèles (régression, forêts, boosting) par </a:t>
            </a:r>
            <a:r>
              <a:rPr i="1"/>
              <a:t>stacking</a:t>
            </a:r>
            <a:r>
              <a:rPr/>
              <a:t>, avec autocorrélation spatio-temporelle, calé sur les estimations nationales du </a:t>
            </a:r>
            <a:r>
              <a:rPr i="1"/>
              <a:t>Global Burden of Disease</a:t>
            </a:r>
            <a:r>
              <a:rPr/>
              <a:t>.</a:t>
            </a:r>
          </a:p>
          <a:p>
            <a:pPr lvl="0"/>
            <a:r>
              <a:rPr/>
              <a:t>Résultat : recul net de la mortalité entre 2000 et 2015, mais persistance de fortes disparités infranationales ; certaines zones du Tchad, du Mali, du Nigeria restent à plus de 170 décès pour 1 000 naissances vivantes.</a:t>
            </a:r>
          </a:p>
          <a:p>
            <a:pPr lvl="0"/>
            <a:r>
              <a:rPr/>
              <a:t>Publié dans </a:t>
            </a:r>
            <a:r>
              <a:rPr i="1"/>
              <a:t>The Lancet</a:t>
            </a:r>
            <a:r>
              <a:rPr/>
              <a:t> ; premier auteur : Nick Golding.</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Golding et al. (2017): mapping under-5 mortality in Africa</a:t>
            </a:r>
          </a:p>
        </p:txBody>
      </p:sp>
      <p:sp>
        <p:nvSpPr>
          <p:cNvPr id="3" name="Content Placeholder 2"/>
          <p:cNvSpPr>
            <a:spLocks noGrp="1"/>
          </p:cNvSpPr>
          <p:nvPr>
            <p:ph idx="1"/>
          </p:nvPr>
        </p:nvSpPr>
        <p:spPr/>
        <p:txBody>
          <a:bodyPr/>
          <a:lstStyle/>
          <a:p>
            <a:pPr lvl="0"/>
            <a:r>
              <a:rPr/>
              <a:t>Question: what is under-5 mortality at very fine scale (5×5 km) everywhere in Africa, from 2000 to 2015?</a:t>
            </a:r>
          </a:p>
          <a:p>
            <a:pPr lvl="0"/>
            <a:r>
              <a:rPr/>
              <a:t>Method: a Bayesian geostatistical model combining several sub-models (regression, random forests, boosting) via </a:t>
            </a:r>
            <a:r>
              <a:rPr i="1"/>
              <a:t>stacking</a:t>
            </a:r>
            <a:r>
              <a:rPr/>
              <a:t>, with spatio-temporal autocorrelation, calibrated on national </a:t>
            </a:r>
            <a:r>
              <a:rPr i="1"/>
              <a:t>Global Burden of Disease</a:t>
            </a:r>
            <a:r>
              <a:rPr/>
              <a:t> estimates.</a:t>
            </a:r>
          </a:p>
          <a:p>
            <a:pPr lvl="0"/>
            <a:r>
              <a:rPr/>
              <a:t>Result: a clear decline in mortality between 2000 and 2015, but persistent, sharp sub-national disparities; some areas of Chad, Mali, and Nigeria remain above 170 deaths per 1,000 live births.</a:t>
            </a:r>
          </a:p>
          <a:p>
            <a:pPr lvl="0"/>
            <a:r>
              <a:rPr/>
              <a:t>Published in </a:t>
            </a:r>
            <a:r>
              <a:rPr i="1"/>
              <a:t>The Lancet</a:t>
            </a:r>
            <a:r>
              <a:rPr/>
              <a:t>; lead author: Nick Golding.</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Golding et al. : la mortalité des moins de 5 ans, 2010 et 2015</a:t>
            </a:r>
          </a:p>
        </p:txBody>
      </p:sp>
      <p:pic>
        <p:nvPicPr>
          <p:cNvPr descr="images/golding_fig2.png" id="0" name="Picture 1"/>
          <p:cNvPicPr>
            <a:picLocks noGrp="1" noChangeAspect="1"/>
          </p:cNvPicPr>
          <p:nvPr/>
        </p:nvPicPr>
        <p:blipFill>
          <a:blip r:embed="rId2"/>
          <a:stretch>
            <a:fillRect/>
          </a:stretch>
        </p:blipFill>
        <p:spPr bwMode="auto">
          <a:xfrm>
            <a:off x="1879600" y="1193800"/>
            <a:ext cx="53975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Taux de mortalité des moins de 5 ans à la résolution de 5×5 km, 2010 et 2015. Source : Golding et al., </a:t>
            </a:r>
            <a:r>
              <a:rPr i="1"/>
              <a:t>The Lancet</a:t>
            </a:r>
            <a:r>
              <a:rPr/>
              <a:t>, 2017.</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Golding et al.: under-5 mortality, 2010 and 2015</a:t>
            </a:r>
          </a:p>
        </p:txBody>
      </p:sp>
      <p:pic>
        <p:nvPicPr>
          <p:cNvPr descr="images/golding_fig2.png" id="0" name="Picture 1"/>
          <p:cNvPicPr>
            <a:picLocks noGrp="1" noChangeAspect="1"/>
          </p:cNvPicPr>
          <p:nvPr/>
        </p:nvPicPr>
        <p:blipFill>
          <a:blip r:embed="rId2"/>
          <a:stretch>
            <a:fillRect/>
          </a:stretch>
        </p:blipFill>
        <p:spPr bwMode="auto">
          <a:xfrm>
            <a:off x="1879600" y="1193800"/>
            <a:ext cx="53975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Under-5 mortality rate at 5×5 km resolution, 2010 and 2015. Source: Golding et al., </a:t>
            </a:r>
            <a:r>
              <a:rPr i="1"/>
              <a:t>The Lancet</a:t>
            </a:r>
            <a:r>
              <a:rPr/>
              <a:t>, 2017.</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Wakefield et al. (2021) : cartographier la couverture vaccinale rougeole</a:t>
            </a:r>
          </a:p>
        </p:txBody>
      </p:sp>
      <p:sp>
        <p:nvSpPr>
          <p:cNvPr id="3" name="Content Placeholder 2"/>
          <p:cNvSpPr>
            <a:spLocks noGrp="1"/>
          </p:cNvSpPr>
          <p:nvPr>
            <p:ph idx="1"/>
          </p:nvPr>
        </p:nvSpPr>
        <p:spPr/>
        <p:txBody>
          <a:bodyPr/>
          <a:lstStyle/>
          <a:p>
            <a:pPr lvl="0"/>
            <a:r>
              <a:rPr/>
              <a:t>Question : comment a évolué la couverture vaccinale contre la rougeole (première dose, MCV1) dans 101 pays à revenu faible ou intermédiaire entre 2000 et 2019, au niveau du district ?</a:t>
            </a:r>
          </a:p>
          <a:p>
            <a:pPr lvl="0"/>
            <a:r>
              <a:rPr/>
              <a:t>Méthode : modélisation géospatiale bayésienne à partir des enquêtes ménages, avec quantification de l’inégalité géographique infranationale (coefficient de Gini).</a:t>
            </a:r>
          </a:p>
          <a:p>
            <a:pPr lvl="0"/>
            <a:r>
              <a:rPr/>
              <a:t>Résultat : couverture mondiale passée de 65,6 % à 81,0 %, mais ralentissement net des progrès après 2010 et inégalités persistantes entre zones urbaines et rurales éloignées.</a:t>
            </a:r>
          </a:p>
          <a:p>
            <a:pPr lvl="0"/>
            <a:r>
              <a:rPr/>
              <a:t>Publié dans </a:t>
            </a:r>
            <a:r>
              <a:rPr i="1"/>
              <a:t>Nature</a:t>
            </a:r>
            <a:r>
              <a:rPr/>
              <a:t> ; recherche menée avec Jon Wakefield, statisticien spécialiste de la géostatistique bayésienne appliquée à la santé.</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Wakefield et al. (2021): mapping measles vaccination coverage</a:t>
            </a:r>
          </a:p>
        </p:txBody>
      </p:sp>
      <p:sp>
        <p:nvSpPr>
          <p:cNvPr id="3" name="Content Placeholder 2"/>
          <p:cNvSpPr>
            <a:spLocks noGrp="1"/>
          </p:cNvSpPr>
          <p:nvPr>
            <p:ph idx="1"/>
          </p:nvPr>
        </p:nvSpPr>
        <p:spPr/>
        <p:txBody>
          <a:bodyPr/>
          <a:lstStyle/>
          <a:p>
            <a:pPr lvl="0"/>
            <a:r>
              <a:rPr/>
              <a:t>Question: how did measles vaccination coverage (first dose, MCV1) evolve in 101 low- and middle-income countries between 2000 and 2019, at district level?</a:t>
            </a:r>
          </a:p>
          <a:p>
            <a:pPr lvl="0"/>
            <a:r>
              <a:rPr/>
              <a:t>Method: Bayesian geospatial modelling from household surveys, with quantification of sub-national geographic inequality (Gini coefficient).</a:t>
            </a:r>
          </a:p>
          <a:p>
            <a:pPr lvl="0"/>
            <a:r>
              <a:rPr/>
              <a:t>Result: global coverage rose from 65.6% to 81.0%, but progress slowed markedly after 2010, with persistent inequalities between urban and remote rural areas.</a:t>
            </a:r>
          </a:p>
          <a:p>
            <a:pPr lvl="0"/>
            <a:r>
              <a:rPr/>
              <a:t>Published in </a:t>
            </a:r>
            <a:r>
              <a:rPr i="1"/>
              <a:t>Nature</a:t>
            </a:r>
            <a:r>
              <a:rPr/>
              <a:t>; research carried out with Jon Wakefield, a statistician specialising in Bayesian geostatistics applied to health.</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Wakefield et al. : la couverture vaccinale MCV1, 2000-2019</a:t>
            </a:r>
          </a:p>
        </p:txBody>
      </p:sp>
      <p:pic>
        <p:nvPicPr>
          <p:cNvPr descr="images/wakefield_fig1.png" id="0" name="Picture 1"/>
          <p:cNvPicPr>
            <a:picLocks noGrp="1" noChangeAspect="1"/>
          </p:cNvPicPr>
          <p:nvPr/>
        </p:nvPicPr>
        <p:blipFill>
          <a:blip r:embed="rId2"/>
          <a:stretch>
            <a:fillRect/>
          </a:stretch>
        </p:blipFill>
        <p:spPr bwMode="auto">
          <a:xfrm>
            <a:off x="2997200" y="1193800"/>
            <a:ext cx="3149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Couverture vaccinale MCV1 estimée par district dans 101 pays, 2000, 2010 et 2019. Source : Wakefield et al., </a:t>
            </a:r>
            <a:r>
              <a:rPr i="1"/>
              <a:t>Nature</a:t>
            </a:r>
            <a:r>
              <a:rPr/>
              <a:t>, 2021.</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Wakefield et al.: MCV1 vaccination coverage, 2000-2019</a:t>
            </a:r>
          </a:p>
        </p:txBody>
      </p:sp>
      <p:pic>
        <p:nvPicPr>
          <p:cNvPr descr="images/wakefield_fig1.png" id="0" name="Picture 1"/>
          <p:cNvPicPr>
            <a:picLocks noGrp="1" noChangeAspect="1"/>
          </p:cNvPicPr>
          <p:nvPr/>
        </p:nvPicPr>
        <p:blipFill>
          <a:blip r:embed="rId2"/>
          <a:stretch>
            <a:fillRect/>
          </a:stretch>
        </p:blipFill>
        <p:spPr bwMode="auto">
          <a:xfrm>
            <a:off x="2997200" y="1193800"/>
            <a:ext cx="3149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Estimated MCV1 vaccination coverage by district in 101 countries, 2000, 2010 and 2019. Source: Wakefield et al., </a:t>
            </a:r>
            <a:r>
              <a:rPr i="1"/>
              <a:t>Nature</a:t>
            </a:r>
            <a:r>
              <a:rPr/>
              <a:t>, 2021.</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Modélisation géospatiale : synthèse</a:t>
            </a:r>
          </a:p>
        </p:txBody>
      </p:sp>
      <p:sp>
        <p:nvSpPr>
          <p:cNvPr id="3" name="Content Placeholder 2"/>
          <p:cNvSpPr>
            <a:spLocks noGrp="1"/>
          </p:cNvSpPr>
          <p:nvPr>
            <p:ph idx="1"/>
          </p:nvPr>
        </p:nvSpPr>
        <p:spPr/>
        <p:txBody>
          <a:bodyPr/>
          <a:lstStyle/>
          <a:p>
            <a:pPr lvl="0"/>
            <a:r>
              <a:rPr/>
              <a:t>On ne se contente plus de décrire (partie 1) ni d’expliquer une association (partie 2) : on </a:t>
            </a:r>
            <a:r>
              <a:rPr b="1"/>
              <a:t>prédit</a:t>
            </a:r>
            <a:r>
              <a:rPr/>
              <a:t> une valeur à un endroit non observé, avec une incertitude quantifiée.</a:t>
            </a:r>
          </a:p>
          <a:p>
            <a:pPr lvl="0"/>
            <a:r>
              <a:rPr/>
              <a:t>Les trois exemples partagent une architecture commune : covariables géospatiales → modèle statistique/bayésien → carte + carte d’incertitude → agrégation à l’échelle utile (district, pays).</a:t>
            </a:r>
          </a:p>
          <a:p>
            <a:pPr lvl="0"/>
            <a:r>
              <a:rPr/>
              <a:t>Cette approche est au cœur des cartes de population, de pauvreté ou de santé aujourd’hui utilisées par les agences des Nations Unies et les instituts nationaux de statistique.</a:t>
            </a:r>
          </a:p>
          <a:p>
            <a:pPr lvl="0"/>
            <a:r>
              <a:rPr/>
              <a:t>Prérequis : disponibilité de covariables géospatiales pertinentes, exactement le rôle que jouera ERA5 dans l’atelier de cet après-midi.</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Geospatial modelling: summary</a:t>
            </a:r>
          </a:p>
        </p:txBody>
      </p:sp>
      <p:sp>
        <p:nvSpPr>
          <p:cNvPr id="3" name="Content Placeholder 2"/>
          <p:cNvSpPr>
            <a:spLocks noGrp="1"/>
          </p:cNvSpPr>
          <p:nvPr>
            <p:ph idx="1"/>
          </p:nvPr>
        </p:nvSpPr>
        <p:spPr/>
        <p:txBody>
          <a:bodyPr/>
          <a:lstStyle/>
          <a:p>
            <a:pPr lvl="0"/>
            <a:r>
              <a:rPr/>
              <a:t>We no longer simply describe (part 1) or explain an association (part 2): we </a:t>
            </a:r>
            <a:r>
              <a:rPr b="1"/>
              <a:t>predict</a:t>
            </a:r>
            <a:r>
              <a:rPr/>
              <a:t> a value at an unobserved location, with quantified uncertainty.</a:t>
            </a:r>
          </a:p>
          <a:p>
            <a:pPr lvl="0"/>
            <a:r>
              <a:rPr/>
              <a:t>The three examples share a common architecture: geospatial covariates → statistical/Bayesian model → map + uncertainty map → aggregation to a useful scale (district, country).</a:t>
            </a:r>
          </a:p>
          <a:p>
            <a:pPr lvl="0"/>
            <a:r>
              <a:rPr/>
              <a:t>This approach is at the heart of the population, poverty, or health maps used today by United Nations agencies and national statistical institutes.</a:t>
            </a:r>
          </a:p>
          <a:p>
            <a:pPr lvl="0"/>
            <a:r>
              <a:rPr/>
              <a:t>Prerequisite: availability of relevant geospatial covariates, exactly the role ERA5 will play in this afternoon’s workshop.</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Sources de données : modélisation géospatiale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286000"/>
                <a:gridCol w="5943600"/>
              </a:tblGrid>
              <a:tr h="0">
                <a:tc>
                  <a:txBody>
                    <a:bodyPr/>
                    <a:lstStyle/>
                    <a:p>
                      <a:pPr lvl="0" indent="0" marL="0">
                        <a:buNone/>
                      </a:pPr>
                      <a:r>
                        <a:rPr/>
                        <a:t>Étude</a:t>
                      </a:r>
                    </a:p>
                  </a:txBody>
                  <a:tcPr/>
                </a:tc>
                <a:tc>
                  <a:txBody>
                    <a:bodyPr/>
                    <a:lstStyle/>
                    <a:p>
                      <a:pPr lvl="0" indent="0" marL="0">
                        <a:buNone/>
                      </a:pPr>
                      <a:r>
                        <a:rPr/>
                        <a:t>Source(s) de données</a:t>
                      </a:r>
                    </a:p>
                  </a:txBody>
                  <a:tcPr/>
                </a:tc>
              </a:tr>
              <a:tr h="0">
                <a:tc>
                  <a:txBody>
                    <a:bodyPr/>
                    <a:lstStyle/>
                    <a:p>
                      <a:pPr lvl="0" indent="0" marL="0">
                        <a:buNone/>
                      </a:pPr>
                      <a:r>
                        <a:rPr/>
                        <a:t>Ferreira et al. (2020)</a:t>
                      </a:r>
                    </a:p>
                  </a:txBody>
                </a:tc>
                <a:tc>
                  <a:txBody>
                    <a:bodyPr/>
                    <a:lstStyle/>
                    <a:p>
                      <a:pPr lvl="0" indent="0" marL="0">
                        <a:buNone/>
                      </a:pPr>
                      <a:r>
                        <a:rPr/>
                        <a:t>Revue de la littérature : enquêtes DHS/MICS combinées à des covariables géospatiales (climat, occupation du sol, accessibilité…)</a:t>
                      </a:r>
                    </a:p>
                  </a:txBody>
                </a:tc>
              </a:tr>
              <a:tr h="0">
                <a:tc>
                  <a:txBody>
                    <a:bodyPr/>
                    <a:lstStyle/>
                    <a:p>
                      <a:pPr lvl="0" indent="0" marL="0">
                        <a:buNone/>
                      </a:pPr>
                      <a:r>
                        <a:rPr/>
                        <a:t>Golding et al. (2017)</a:t>
                      </a:r>
                    </a:p>
                  </a:txBody>
                </a:tc>
                <a:tc>
                  <a:txBody>
                    <a:bodyPr/>
                    <a:lstStyle/>
                    <a:p>
                      <a:pPr lvl="0" indent="0" marL="0">
                        <a:buNone/>
                      </a:pPr>
                      <a:r>
                        <a:rPr/>
                        <a:t>Enquêtes DHS, UNICEF MICS et enquêtes nationales (histoires de naissances complètes et résumées) ; estimations nationales du </a:t>
                      </a:r>
                      <a:r>
                        <a:rPr i="1"/>
                        <a:t>Global Burden of Disease</a:t>
                      </a:r>
                    </a:p>
                  </a:txBody>
                </a:tc>
              </a:tr>
              <a:tr h="0">
                <a:tc>
                  <a:txBody>
                    <a:bodyPr/>
                    <a:lstStyle/>
                    <a:p>
                      <a:pPr lvl="0" indent="0" marL="0">
                        <a:buNone/>
                      </a:pPr>
                      <a:r>
                        <a:rPr/>
                        <a:t>Wakefield et al. (2021)</a:t>
                      </a:r>
                    </a:p>
                  </a:txBody>
                </a:tc>
                <a:tc>
                  <a:txBody>
                    <a:bodyPr/>
                    <a:lstStyle/>
                    <a:p>
                      <a:pPr lvl="0" indent="0" marL="0">
                        <a:buNone/>
                      </a:pPr>
                      <a:r>
                        <a:rPr/>
                        <a:t>354 enquêtes ménages DHS/MICS (</a:t>
                      </a:r>
                      <a:r>
                        <a:rPr i="1"/>
                        <a:t>Global Health Data Exchange</a:t>
                      </a:r>
                      <a:r>
                        <a:rPr/>
                        <a:t>) ; 26 covariables géospatiales (WorldPop, temps de trajet, urbain/rural…) ; formulaire conjoint OMS/UNICEF</a:t>
                      </a:r>
                    </a:p>
                  </a:txBody>
                </a:tc>
              </a:tr>
            </a:tbl>
          </a:graphicData>
        </a:graphic>
      </p:graphicFrame>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sources: geospatial modelling</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286000"/>
                <a:gridCol w="5943600"/>
              </a:tblGrid>
              <a:tr h="0">
                <a:tc>
                  <a:txBody>
                    <a:bodyPr/>
                    <a:lstStyle/>
                    <a:p>
                      <a:pPr lvl="0" indent="0" marL="0">
                        <a:buNone/>
                      </a:pPr>
                      <a:r>
                        <a:rPr/>
                        <a:t>Study</a:t>
                      </a:r>
                    </a:p>
                  </a:txBody>
                  <a:tcPr/>
                </a:tc>
                <a:tc>
                  <a:txBody>
                    <a:bodyPr/>
                    <a:lstStyle/>
                    <a:p>
                      <a:pPr lvl="0" indent="0" marL="0">
                        <a:buNone/>
                      </a:pPr>
                      <a:r>
                        <a:rPr/>
                        <a:t>Data source(s)</a:t>
                      </a:r>
                    </a:p>
                  </a:txBody>
                  <a:tcPr/>
                </a:tc>
              </a:tr>
              <a:tr h="0">
                <a:tc>
                  <a:txBody>
                    <a:bodyPr/>
                    <a:lstStyle/>
                    <a:p>
                      <a:pPr lvl="0" indent="0" marL="0">
                        <a:buNone/>
                      </a:pPr>
                      <a:r>
                        <a:rPr/>
                        <a:t>Ferreira et al. (2020)</a:t>
                      </a:r>
                    </a:p>
                  </a:txBody>
                </a:tc>
                <a:tc>
                  <a:txBody>
                    <a:bodyPr/>
                    <a:lstStyle/>
                    <a:p>
                      <a:pPr lvl="0" indent="0" marL="0">
                        <a:buNone/>
                      </a:pPr>
                      <a:r>
                        <a:rPr/>
                        <a:t>Literature review: DHS/MICS surveys combined with geospatial covariates (climate, land cover, accessibility…)</a:t>
                      </a:r>
                    </a:p>
                  </a:txBody>
                </a:tc>
              </a:tr>
              <a:tr h="0">
                <a:tc>
                  <a:txBody>
                    <a:bodyPr/>
                    <a:lstStyle/>
                    <a:p>
                      <a:pPr lvl="0" indent="0" marL="0">
                        <a:buNone/>
                      </a:pPr>
                      <a:r>
                        <a:rPr/>
                        <a:t>Golding et al. (2017)</a:t>
                      </a:r>
                    </a:p>
                  </a:txBody>
                </a:tc>
                <a:tc>
                  <a:txBody>
                    <a:bodyPr/>
                    <a:lstStyle/>
                    <a:p>
                      <a:pPr lvl="0" indent="0" marL="0">
                        <a:buNone/>
                      </a:pPr>
                      <a:r>
                        <a:rPr/>
                        <a:t>DHS surveys, UNICEF MICS and national surveys (complete and summary birth histories); national </a:t>
                      </a:r>
                      <a:r>
                        <a:rPr i="1"/>
                        <a:t>Global Burden of Disease</a:t>
                      </a:r>
                      <a:r>
                        <a:rPr/>
                        <a:t> estimates</a:t>
                      </a:r>
                    </a:p>
                  </a:txBody>
                </a:tc>
              </a:tr>
              <a:tr h="0">
                <a:tc>
                  <a:txBody>
                    <a:bodyPr/>
                    <a:lstStyle/>
                    <a:p>
                      <a:pPr lvl="0" indent="0" marL="0">
                        <a:buNone/>
                      </a:pPr>
                      <a:r>
                        <a:rPr/>
                        <a:t>Wakefield et al. (2021)</a:t>
                      </a:r>
                    </a:p>
                  </a:txBody>
                </a:tc>
                <a:tc>
                  <a:txBody>
                    <a:bodyPr/>
                    <a:lstStyle/>
                    <a:p>
                      <a:pPr lvl="0" indent="0" marL="0">
                        <a:buNone/>
                      </a:pPr>
                      <a:r>
                        <a:rPr/>
                        <a:t>354 DHS/MICS household surveys (</a:t>
                      </a:r>
                      <a:r>
                        <a:rPr i="1"/>
                        <a:t>Global Health Data Exchange</a:t>
                      </a:r>
                      <a:r>
                        <a:rPr/>
                        <a:t>); 26 geospatial covariates (WorldPop, travel time, urban/rural…); joint WHO/UNICEF form</a:t>
                      </a:r>
                    </a:p>
                  </a:txBody>
                </a:tc>
              </a:tr>
            </a:tbl>
          </a:graphicData>
        </a:graphic>
      </p:graphicFrame>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3. Les variables géospatiales comme proxy</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3. Geospatial variables as proxies</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Quand la donnée sociale n’existe pas</a:t>
            </a:r>
          </a:p>
        </p:txBody>
      </p:sp>
      <p:sp>
        <p:nvSpPr>
          <p:cNvPr id="3" name="Content Placeholder 2"/>
          <p:cNvSpPr>
            <a:spLocks noGrp="1"/>
          </p:cNvSpPr>
          <p:nvPr>
            <p:ph idx="1"/>
          </p:nvPr>
        </p:nvSpPr>
        <p:spPr/>
        <p:txBody>
          <a:bodyPr/>
          <a:lstStyle/>
          <a:p>
            <a:pPr lvl="0"/>
            <a:r>
              <a:rPr/>
              <a:t>Certaines données sociales sont chères, lentes à produire, ou tout simplement absentes dans les pays à faibles ressources statistiques : revenu des ménages, richesse, population exacte.</a:t>
            </a:r>
          </a:p>
          <a:p>
            <a:pPr lvl="0"/>
            <a:r>
              <a:rPr/>
              <a:t>Une </a:t>
            </a:r>
            <a:r>
              <a:rPr b="1"/>
              <a:t>variable proxy</a:t>
            </a:r>
            <a:r>
              <a:rPr/>
              <a:t> est une donnée observable, souvent géospatiale ou numérique, utilisée comme substitut indirect à la variable d’intérêt réellement souhaitée.</a:t>
            </a:r>
          </a:p>
          <a:p>
            <a:pPr lvl="0"/>
            <a:r>
              <a:rPr/>
              <a:t>Différence avec la partie 2 : on ne cherche pas à </a:t>
            </a:r>
            <a:r>
              <a:rPr i="1"/>
              <a:t>expliquer</a:t>
            </a:r>
            <a:r>
              <a:rPr/>
              <a:t> le phénomène social, mais à l’</a:t>
            </a:r>
            <a:r>
              <a:rPr i="1"/>
              <a:t>approximer</a:t>
            </a:r>
            <a:r>
              <a:rPr/>
              <a:t> directement, souvent à l’aide de l’apprentissage automatique.</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When social data does not exist</a:t>
            </a:r>
          </a:p>
        </p:txBody>
      </p:sp>
      <p:sp>
        <p:nvSpPr>
          <p:cNvPr id="3" name="Content Placeholder 2"/>
          <p:cNvSpPr>
            <a:spLocks noGrp="1"/>
          </p:cNvSpPr>
          <p:nvPr>
            <p:ph idx="1"/>
          </p:nvPr>
        </p:nvSpPr>
        <p:spPr/>
        <p:txBody>
          <a:bodyPr/>
          <a:lstStyle/>
          <a:p>
            <a:pPr lvl="0"/>
            <a:r>
              <a:rPr/>
              <a:t>Some social data is expensive, slow to produce, or simply absent in statistically low-resource countries: household income, wealth, exact population.</a:t>
            </a:r>
          </a:p>
          <a:p>
            <a:pPr lvl="0"/>
            <a:r>
              <a:rPr/>
              <a:t>A </a:t>
            </a:r>
            <a:r>
              <a:rPr b="1"/>
              <a:t>proxy variable</a:t>
            </a:r>
            <a:r>
              <a:rPr/>
              <a:t> is an observable datum, often geospatial or digital, used as an indirect substitute for the variable of real interest.</a:t>
            </a:r>
          </a:p>
          <a:p>
            <a:pPr lvl="0"/>
            <a:r>
              <a:rPr/>
              <a:t>Difference with part 2: the goal is not to </a:t>
            </a:r>
            <a:r>
              <a:rPr i="1"/>
              <a:t>explain</a:t>
            </a:r>
            <a:r>
              <a:rPr/>
              <a:t> the social phenomenon, but to </a:t>
            </a:r>
            <a:r>
              <a:rPr i="1"/>
              <a:t>approximate</a:t>
            </a:r>
            <a:r>
              <a:rPr/>
              <a:t> it directly, often with the help of machine learning.</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Noor et al. (2008) : les lumières nocturnes, proxy de la pauvreté</a:t>
            </a:r>
          </a:p>
        </p:txBody>
      </p:sp>
      <p:sp>
        <p:nvSpPr>
          <p:cNvPr id="3" name="Content Placeholder 2"/>
          <p:cNvSpPr>
            <a:spLocks noGrp="1"/>
          </p:cNvSpPr>
          <p:nvPr>
            <p:ph idx="1"/>
          </p:nvPr>
        </p:nvSpPr>
        <p:spPr/>
        <p:txBody>
          <a:bodyPr/>
          <a:lstStyle/>
          <a:p>
            <a:pPr lvl="0"/>
            <a:r>
              <a:rPr/>
              <a:t>Question : la luminosité nocturne captée par satellite peut-elle servir de proxy à la pauvreté des ménages, à l’échelle infranationale, en Afrique ?</a:t>
            </a:r>
          </a:p>
          <a:p>
            <a:pPr lvl="0"/>
            <a:r>
              <a:rPr/>
              <a:t>Données : indices de richesse par actifs calculés à partir d’enquêtes DHS/MICS pour 338 unités administratives de niveau 1 dans 37 pays africains, comparés à la luminosité nocturne (imagerie DMSP, 2000).</a:t>
            </a:r>
          </a:p>
          <a:p>
            <a:pPr lvl="0"/>
            <a:r>
              <a:rPr/>
              <a:t>Résultat : la luminosité moyenne des lumières nocturnes est fortement corrélée à l’indice de richesse par actifs (corrélation de Pearson = 0,64 ; corrélation de rang de Spearman = 0,79), et distingue nettement les unités les plus pauvres des moins pauvres.</a:t>
            </a:r>
          </a:p>
          <a:p>
            <a:pPr lvl="0"/>
            <a:r>
              <a:rPr/>
              <a:t>Ici, une donnée déjà géographique, la lumière nocturne, devient un proxy direct de la richesse une fois agrégée par unité administrative.</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Noor et al. (2008): nightlights as a proxy for poverty</a:t>
            </a:r>
          </a:p>
        </p:txBody>
      </p:sp>
      <p:sp>
        <p:nvSpPr>
          <p:cNvPr id="3" name="Content Placeholder 2"/>
          <p:cNvSpPr>
            <a:spLocks noGrp="1"/>
          </p:cNvSpPr>
          <p:nvPr>
            <p:ph idx="1"/>
          </p:nvPr>
        </p:nvSpPr>
        <p:spPr/>
        <p:txBody>
          <a:bodyPr/>
          <a:lstStyle/>
          <a:p>
            <a:pPr lvl="0"/>
            <a:r>
              <a:rPr/>
              <a:t>Question: can satellite-captured night-time luminosity serve as a proxy for household poverty, at sub-national scale, in Africa?</a:t>
            </a:r>
          </a:p>
          <a:p>
            <a:pPr lvl="0"/>
            <a:r>
              <a:rPr/>
              <a:t>Data: asset-based wealth indices calculated from DHS/MICS surveys for 338 level-1 administrative units in 37 African countries, compared with night-time luminosity (DMSP imagery, 2000).</a:t>
            </a:r>
          </a:p>
          <a:p>
            <a:pPr lvl="0"/>
            <a:r>
              <a:rPr/>
              <a:t>Result: mean night-time light luminosity is strongly correlated with the asset-based wealth index (Pearson correlation = 0.64; Spearman rank correlation = 0.79), and clearly distinguishes the poorest units from the least poor.</a:t>
            </a:r>
          </a:p>
          <a:p>
            <a:pPr lvl="0"/>
            <a:r>
              <a:rPr/>
              <a:t>Here, a datum that is already geographic, night-time light, becomes a direct proxy for wealth once aggregated by administrative unit.</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Noor et al. : classement de richesse observé et prédit par lumières nocturnes</a:t>
            </a:r>
          </a:p>
        </p:txBody>
      </p:sp>
      <p:pic>
        <p:nvPicPr>
          <p:cNvPr descr="images/noor_fig3.png" id="0" name="Picture 1"/>
          <p:cNvPicPr>
            <a:picLocks noGrp="1" noChangeAspect="1"/>
          </p:cNvPicPr>
          <p:nvPr/>
        </p:nvPicPr>
        <p:blipFill>
          <a:blip r:embed="rId2"/>
          <a:stretch>
            <a:fillRect/>
          </a:stretch>
        </p:blipFill>
        <p:spPr bwMode="auto">
          <a:xfrm>
            <a:off x="1435100" y="1193800"/>
            <a:ext cx="62738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Cartes des unités administratives de niveau 1 en Afrique comparant le classement de richesse selon l’indice par actifs et selon la luminosité moyenne des lumières nocturnes. Source : Noor, Alegana, Gething, Tatem &amp; Snow, </a:t>
            </a:r>
            <a:r>
              <a:rPr i="1"/>
              <a:t>Population Health Metrics</a:t>
            </a:r>
            <a:r>
              <a:rPr/>
              <a:t>, 2008.</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Noor et al.: observed and predicted wealth ranking from nightlights</a:t>
            </a:r>
          </a:p>
        </p:txBody>
      </p:sp>
      <p:pic>
        <p:nvPicPr>
          <p:cNvPr descr="images/noor_fig3.png" id="0" name="Picture 1"/>
          <p:cNvPicPr>
            <a:picLocks noGrp="1" noChangeAspect="1"/>
          </p:cNvPicPr>
          <p:nvPr/>
        </p:nvPicPr>
        <p:blipFill>
          <a:blip r:embed="rId2"/>
          <a:stretch>
            <a:fillRect/>
          </a:stretch>
        </p:blipFill>
        <p:spPr bwMode="auto">
          <a:xfrm>
            <a:off x="1435100" y="1193800"/>
            <a:ext cx="62738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Maps of level-1 administrative units in Africa comparing wealth ranking by asset index and by mean night-time light luminosity. Source: Noor, Alegana, Gething, Tatem &amp; Snow, </a:t>
            </a:r>
            <a:r>
              <a:rPr i="1"/>
              <a:t>Population Health Metrics</a:t>
            </a:r>
            <a:r>
              <a:rPr/>
              <a:t>, 2008.</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Blumenstock, Cadamuro &amp; On (2015) : la richesse dans les métadonnées du téléphone</a:t>
            </a:r>
          </a:p>
        </p:txBody>
      </p:sp>
      <p:sp>
        <p:nvSpPr>
          <p:cNvPr id="3" name="Content Placeholder 2"/>
          <p:cNvSpPr>
            <a:spLocks noGrp="1"/>
          </p:cNvSpPr>
          <p:nvPr>
            <p:ph idx="1"/>
          </p:nvPr>
        </p:nvSpPr>
        <p:spPr/>
        <p:txBody>
          <a:bodyPr/>
          <a:lstStyle/>
          <a:p>
            <a:pPr lvl="0"/>
            <a:r>
              <a:rPr/>
              <a:t>Question : peut-on estimer la richesse d’un ménage à partir des seules métadonnées d’utilisation du téléphone mobile (durée, fréquence, réseau de contacts, mobilité) ?</a:t>
            </a:r>
          </a:p>
          <a:p>
            <a:pPr lvl="0"/>
            <a:r>
              <a:rPr/>
              <a:t>Données : 1,5 million d’utilisateurs au Rwanda, dont un sous-échantillon interrogé par téléphone et comparé à une enquête démographique et de santé (DHS).</a:t>
            </a:r>
          </a:p>
          <a:p>
            <a:pPr lvl="0"/>
            <a:r>
              <a:rPr/>
              <a:t>Résultat : les prédictions de richesse par district, à partir des seules données d’opérateur, reproduisent fidèlement la carte de richesse issue de l’enquête DHS.</a:t>
            </a:r>
          </a:p>
          <a:p>
            <a:pPr lvl="0"/>
            <a:r>
              <a:rPr/>
              <a:t>Ici, les métadonnées de téléphonie, un objet a priori non géographique, deviennent un proxy de richesse une fois agrégées spatialement par district.</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Blumenstock, Cadamuro &amp; On (2015): wealth in phone metadata</a:t>
            </a:r>
          </a:p>
        </p:txBody>
      </p:sp>
      <p:sp>
        <p:nvSpPr>
          <p:cNvPr id="3" name="Content Placeholder 2"/>
          <p:cNvSpPr>
            <a:spLocks noGrp="1"/>
          </p:cNvSpPr>
          <p:nvPr>
            <p:ph idx="1"/>
          </p:nvPr>
        </p:nvSpPr>
        <p:spPr/>
        <p:txBody>
          <a:bodyPr/>
          <a:lstStyle/>
          <a:p>
            <a:pPr lvl="0"/>
            <a:r>
              <a:rPr/>
              <a:t>Question: can a household’s wealth be estimated from mobile phone usage metadata alone (call duration, frequency, contact network, mobility)?</a:t>
            </a:r>
          </a:p>
          <a:p>
            <a:pPr lvl="0"/>
            <a:r>
              <a:rPr/>
              <a:t>Data: 1.5 million users in Rwanda, including a subsample surveyed by phone and compared against a Demographic and Health Survey (DHS).</a:t>
            </a:r>
          </a:p>
          <a:p>
            <a:pPr lvl="0"/>
            <a:r>
              <a:rPr/>
              <a:t>Result: wealth predictions by district, based solely on operator data, faithfully reproduce the wealth map from the DHS survey.</a:t>
            </a:r>
          </a:p>
          <a:p>
            <a:pPr lvl="0"/>
            <a:r>
              <a:rPr/>
              <a:t>Here, phone metadata, an object with no a priori geographic content, becomes a proxy for wealth once aggregated spatially by district.</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Blumenstock et al. : richesse prédite et richesse observée au Rwanda</a:t>
            </a:r>
          </a:p>
        </p:txBody>
      </p:sp>
      <p:pic>
        <p:nvPicPr>
          <p:cNvPr descr="images/paste-6.png" id="0" name="Picture 1"/>
          <p:cNvPicPr>
            <a:picLocks noGrp="1" noChangeAspect="1"/>
          </p:cNvPicPr>
          <p:nvPr/>
        </p:nvPicPr>
        <p:blipFill>
          <a:blip r:embed="rId2"/>
          <a:stretch>
            <a:fillRect/>
          </a:stretch>
        </p:blipFill>
        <p:spPr bwMode="auto">
          <a:xfrm>
            <a:off x="3060700" y="1193800"/>
            <a:ext cx="3022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Source : Blumenstock, Cadamuro &amp; On, Science, 2015.</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Blumenstock et al.: predicted and observed wealth in Rwanda</a:t>
            </a:r>
          </a:p>
        </p:txBody>
      </p:sp>
      <p:pic>
        <p:nvPicPr>
          <p:cNvPr descr="images/paste-6.png" id="0" name="Picture 1"/>
          <p:cNvPicPr>
            <a:picLocks noGrp="1" noChangeAspect="1"/>
          </p:cNvPicPr>
          <p:nvPr/>
        </p:nvPicPr>
        <p:blipFill>
          <a:blip r:embed="rId2"/>
          <a:stretch>
            <a:fillRect/>
          </a:stretch>
        </p:blipFill>
        <p:spPr bwMode="auto">
          <a:xfrm>
            <a:off x="3060700" y="1193800"/>
            <a:ext cx="3022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Source: Blumenstock, Cadamuro &amp; On, Science, 2015.</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Leasure et al. (2020) : cartographier la population avec des covariables géospatiales</a:t>
            </a:r>
          </a:p>
        </p:txBody>
      </p:sp>
      <p:sp>
        <p:nvSpPr>
          <p:cNvPr id="3" name="Content Placeholder 2"/>
          <p:cNvSpPr>
            <a:spLocks noGrp="1"/>
          </p:cNvSpPr>
          <p:nvPr>
            <p:ph idx="1"/>
          </p:nvPr>
        </p:nvSpPr>
        <p:spPr/>
        <p:txBody>
          <a:bodyPr/>
          <a:lstStyle/>
          <a:p>
            <a:pPr lvl="0"/>
            <a:r>
              <a:rPr/>
              <a:t>Question : comment estimer la population sur l’ensemble d’un pays quand les données d’enquête (micro-recensements) ne couvrent qu’un échantillon de lieux ?</a:t>
            </a:r>
          </a:p>
          <a:p>
            <a:pPr lvl="0"/>
            <a:r>
              <a:rPr/>
              <a:t>Méthode : modèle bayésien hiérarchique combinant les densités de population observées avec des covariables géospatiales prédictives (population estimée par satellite, densité d’écoles, taille des ménages) sur une grille de 100 m, appliqué au Nigeria.</a:t>
            </a:r>
          </a:p>
          <a:p>
            <a:pPr lvl="0"/>
            <a:r>
              <a:rPr/>
              <a:t>Ici, les covariables géospatiales servent de </a:t>
            </a:r>
            <a:r>
              <a:rPr b="1"/>
              <a:t>proxy prédictif</a:t>
            </a:r>
            <a:r>
              <a:rPr/>
              <a:t> de la densité de population là où aucune enquête n’a eu lieu.</a:t>
            </a:r>
          </a:p>
          <a:p>
            <a:pPr lvl="0"/>
            <a:r>
              <a:rPr/>
              <a:t>Résultat : population totale du Nigeria estimée à environ 180 millions d’habitants, avec un intervalle de crédibilité à 95 % pour chaque unité administrative.</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Leasure et al. (2020): mapping population with geospatial covariates</a:t>
            </a:r>
          </a:p>
        </p:txBody>
      </p:sp>
      <p:sp>
        <p:nvSpPr>
          <p:cNvPr id="3" name="Content Placeholder 2"/>
          <p:cNvSpPr>
            <a:spLocks noGrp="1"/>
          </p:cNvSpPr>
          <p:nvPr>
            <p:ph idx="1"/>
          </p:nvPr>
        </p:nvSpPr>
        <p:spPr/>
        <p:txBody>
          <a:bodyPr/>
          <a:lstStyle/>
          <a:p>
            <a:pPr lvl="0"/>
            <a:r>
              <a:rPr/>
              <a:t>Question: how do we estimate population across an entire country when survey data (micro-censuses) covers only a sample of locations?</a:t>
            </a:r>
          </a:p>
          <a:p>
            <a:pPr lvl="0"/>
            <a:r>
              <a:rPr/>
              <a:t>Method: a hierarchical Bayesian model combining observed population densities with predictive geospatial covariates (satellite-estimated population, school density, household size) on a 100 m grid, applied to Nigeria.</a:t>
            </a:r>
          </a:p>
          <a:p>
            <a:pPr lvl="0"/>
            <a:r>
              <a:rPr/>
              <a:t>Here, geospatial covariates serve as a </a:t>
            </a:r>
            <a:r>
              <a:rPr b="1"/>
              <a:t>predictive proxy</a:t>
            </a:r>
            <a:r>
              <a:rPr/>
              <a:t> for population density where no survey has taken place.</a:t>
            </a:r>
          </a:p>
          <a:p>
            <a:pPr lvl="0"/>
            <a:r>
              <a:rPr/>
              <a:t>Result: total Nigerian population estimated at around 180 million, with a 95% credible interval for each administrative unit.</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Leasure et al. : les sites de micro-recensement au Nigeria</a:t>
            </a:r>
          </a:p>
        </p:txBody>
      </p:sp>
      <p:pic>
        <p:nvPicPr>
          <p:cNvPr descr="images/leasure_fig1.png" id="0" name="Picture 1"/>
          <p:cNvPicPr>
            <a:picLocks noGrp="1" noChangeAspect="1"/>
          </p:cNvPicPr>
          <p:nvPr/>
        </p:nvPicPr>
        <p:blipFill>
          <a:blip r:embed="rId2"/>
          <a:stretch>
            <a:fillRect/>
          </a:stretch>
        </p:blipFill>
        <p:spPr bwMode="auto">
          <a:xfrm>
            <a:off x="1282700" y="1193800"/>
            <a:ext cx="65913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Localisation des enquêtes de micro-recensement, par nombre de sites par cellule de 20 km, Nigeria. Source : Leasure et al., </a:t>
            </a:r>
            <a:r>
              <a:rPr i="1"/>
              <a:t>PNAS</a:t>
            </a:r>
            <a:r>
              <a:rPr/>
              <a:t>, 2020.</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Leasure et al.: micro-census sites in Nigeria</a:t>
            </a:r>
          </a:p>
        </p:txBody>
      </p:sp>
      <p:pic>
        <p:nvPicPr>
          <p:cNvPr descr="images/leasure_fig1.png" id="0" name="Picture 1"/>
          <p:cNvPicPr>
            <a:picLocks noGrp="1" noChangeAspect="1"/>
          </p:cNvPicPr>
          <p:nvPr/>
        </p:nvPicPr>
        <p:blipFill>
          <a:blip r:embed="rId2"/>
          <a:stretch>
            <a:fillRect/>
          </a:stretch>
        </p:blipFill>
        <p:spPr bwMode="auto">
          <a:xfrm>
            <a:off x="1282700" y="1193800"/>
            <a:ext cx="65913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Location of micro-census surveys, by number of sites per 20 km cell, Nigeria. Source: Leasure et al., </a:t>
            </a:r>
            <a:r>
              <a:rPr i="1"/>
              <a:t>PNAS</a:t>
            </a:r>
            <a:r>
              <a:rPr/>
              <a:t>, 2020.</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Variables géospatiales proxy : synthèse</a:t>
            </a:r>
          </a:p>
        </p:txBody>
      </p:sp>
      <p:sp>
        <p:nvSpPr>
          <p:cNvPr id="3" name="Content Placeholder 2"/>
          <p:cNvSpPr>
            <a:spLocks noGrp="1"/>
          </p:cNvSpPr>
          <p:nvPr>
            <p:ph idx="1"/>
          </p:nvPr>
        </p:nvSpPr>
        <p:spPr/>
        <p:txBody>
          <a:bodyPr/>
          <a:lstStyle/>
          <a:p>
            <a:pPr lvl="0"/>
            <a:r>
              <a:rPr/>
              <a:t>Un proxy géospatial fonctionne quand il est </a:t>
            </a:r>
            <a:r>
              <a:rPr b="1"/>
              <a:t>corrélé</a:t>
            </a:r>
            <a:r>
              <a:rPr/>
              <a:t> à la variable sociale d’intérêt, sans nécessairement en être une cause : nightlights, métadonnées d’appel, texture d’image satellite.</a:t>
            </a:r>
          </a:p>
          <a:p>
            <a:pPr lvl="0"/>
            <a:r>
              <a:rPr/>
              <a:t>Risque principal : tout ce que le proxy ne capture pas reste invisible ; un ménage sans téléphone, une zone systématiquement nuageuse sur les images satellite, une population non comptée dans les enquêtes d’entraînement.</a:t>
            </a:r>
          </a:p>
          <a:p>
            <a:pPr lvl="0"/>
            <a:r>
              <a:rPr/>
              <a:t>Ces méthodes se généralisent grâce à l’apprentissage automatique, mais restent dépendantes de données d’enquête de référence pour être calibrées et validées.</a:t>
            </a:r>
          </a:p>
        </p:txBody>
      </p:sp>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Geospatial proxy variables: summary</a:t>
            </a:r>
          </a:p>
        </p:txBody>
      </p:sp>
      <p:sp>
        <p:nvSpPr>
          <p:cNvPr id="3" name="Content Placeholder 2"/>
          <p:cNvSpPr>
            <a:spLocks noGrp="1"/>
          </p:cNvSpPr>
          <p:nvPr>
            <p:ph idx="1"/>
          </p:nvPr>
        </p:nvSpPr>
        <p:spPr/>
        <p:txBody>
          <a:bodyPr/>
          <a:lstStyle/>
          <a:p>
            <a:pPr lvl="0"/>
            <a:r>
              <a:rPr/>
              <a:t>A geospatial proxy works when it is </a:t>
            </a:r>
            <a:r>
              <a:rPr b="1"/>
              <a:t>correlated</a:t>
            </a:r>
            <a:r>
              <a:rPr/>
              <a:t> with the social variable of interest, without necessarily being a cause of it: nightlights, call metadata, satellite image texture.</a:t>
            </a:r>
          </a:p>
          <a:p>
            <a:pPr lvl="0"/>
            <a:r>
              <a:rPr/>
              <a:t>Main risk: anything the proxy fails to capture remains invisible; a household without a phone, an area systematically cloudy in satellite images, a population not counted in the training surveys.</a:t>
            </a:r>
          </a:p>
          <a:p>
            <a:pPr lvl="0"/>
            <a:r>
              <a:rPr/>
              <a:t>These methods are generalising thanks to machine learning, but remain dependent on reference survey data for calibration and validation.</a:t>
            </a:r>
          </a:p>
        </p:txBody>
      </p:sp>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Sources de données : variables géospatiales proxy</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286000"/>
                <a:gridCol w="5943600"/>
              </a:tblGrid>
              <a:tr h="0">
                <a:tc>
                  <a:txBody>
                    <a:bodyPr/>
                    <a:lstStyle/>
                    <a:p>
                      <a:pPr lvl="0" indent="0" marL="0">
                        <a:buNone/>
                      </a:pPr>
                      <a:r>
                        <a:rPr/>
                        <a:t>Étude</a:t>
                      </a:r>
                    </a:p>
                  </a:txBody>
                  <a:tcPr/>
                </a:tc>
                <a:tc>
                  <a:txBody>
                    <a:bodyPr/>
                    <a:lstStyle/>
                    <a:p>
                      <a:pPr lvl="0" indent="0" marL="0">
                        <a:buNone/>
                      </a:pPr>
                      <a:r>
                        <a:rPr/>
                        <a:t>Source(s) de données</a:t>
                      </a:r>
                    </a:p>
                  </a:txBody>
                  <a:tcPr/>
                </a:tc>
              </a:tr>
              <a:tr h="0">
                <a:tc>
                  <a:txBody>
                    <a:bodyPr/>
                    <a:lstStyle/>
                    <a:p>
                      <a:pPr lvl="0" indent="0" marL="0">
                        <a:buNone/>
                      </a:pPr>
                      <a:r>
                        <a:rPr/>
                        <a:t>Noor et al. (2008)</a:t>
                      </a:r>
                    </a:p>
                  </a:txBody>
                </a:tc>
                <a:tc>
                  <a:txBody>
                    <a:bodyPr/>
                    <a:lstStyle/>
                    <a:p>
                      <a:pPr lvl="0" indent="0" marL="0">
                        <a:buNone/>
                      </a:pPr>
                      <a:r>
                        <a:rPr/>
                        <a:t>Enquêtes DHS/MICS (indices de richesse par actifs, 338 unités admin. 1, 37 pays) ; imagerie de lumières nocturnes DMSP (2000)</a:t>
                      </a:r>
                    </a:p>
                  </a:txBody>
                </a:tc>
              </a:tr>
              <a:tr h="0">
                <a:tc>
                  <a:txBody>
                    <a:bodyPr/>
                    <a:lstStyle/>
                    <a:p>
                      <a:pPr lvl="0" indent="0" marL="0">
                        <a:buNone/>
                      </a:pPr>
                      <a:r>
                        <a:rPr/>
                        <a:t>Blumenstock, Cadamuro &amp; On (2015)</a:t>
                      </a:r>
                    </a:p>
                  </a:txBody>
                </a:tc>
                <a:tc>
                  <a:txBody>
                    <a:bodyPr/>
                    <a:lstStyle/>
                    <a:p>
                      <a:pPr lvl="0" indent="0" marL="0">
                        <a:buNone/>
                      </a:pPr>
                      <a:r>
                        <a:rPr/>
                        <a:t>Métadonnées d’opérateur mobile (</a:t>
                      </a:r>
                      <a:r>
                        <a:rPr i="1"/>
                        <a:t>call detail records</a:t>
                      </a:r>
                      <a:r>
                        <a:rPr/>
                        <a:t>, Rwanda, 2009) ; enquête téléphonique de validation ; DHS 2010</a:t>
                      </a:r>
                    </a:p>
                  </a:txBody>
                </a:tc>
              </a:tr>
              <a:tr h="0">
                <a:tc>
                  <a:txBody>
                    <a:bodyPr/>
                    <a:lstStyle/>
                    <a:p>
                      <a:pPr lvl="0" indent="0" marL="0">
                        <a:buNone/>
                      </a:pPr>
                      <a:r>
                        <a:rPr/>
                        <a:t>Leasure et al. (2020)</a:t>
                      </a:r>
                    </a:p>
                  </a:txBody>
                </a:tc>
                <a:tc>
                  <a:txBody>
                    <a:bodyPr/>
                    <a:lstStyle/>
                    <a:p>
                      <a:pPr lvl="0" indent="0" marL="0">
                        <a:buNone/>
                      </a:pPr>
                      <a:r>
                        <a:rPr/>
                        <a:t>Micro-recensements de terrain (Nigeria) ; covariables géospatiales WorldPop (bâti, écoles, routes, lumières nocturnes)</a:t>
                      </a:r>
                    </a:p>
                  </a:txBody>
                </a:tc>
              </a:tr>
            </a:tbl>
          </a:graphicData>
        </a:graphic>
      </p:graphicFrame>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sources: geospatial proxy variables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286000"/>
                <a:gridCol w="5943600"/>
              </a:tblGrid>
              <a:tr h="0">
                <a:tc>
                  <a:txBody>
                    <a:bodyPr/>
                    <a:lstStyle/>
                    <a:p>
                      <a:pPr lvl="0" indent="0" marL="0">
                        <a:buNone/>
                      </a:pPr>
                      <a:r>
                        <a:rPr/>
                        <a:t>Study</a:t>
                      </a:r>
                    </a:p>
                  </a:txBody>
                  <a:tcPr/>
                </a:tc>
                <a:tc>
                  <a:txBody>
                    <a:bodyPr/>
                    <a:lstStyle/>
                    <a:p>
                      <a:pPr lvl="0" indent="0" marL="0">
                        <a:buNone/>
                      </a:pPr>
                      <a:r>
                        <a:rPr/>
                        <a:t>Data source(s)</a:t>
                      </a:r>
                    </a:p>
                  </a:txBody>
                  <a:tcPr/>
                </a:tc>
              </a:tr>
              <a:tr h="0">
                <a:tc>
                  <a:txBody>
                    <a:bodyPr/>
                    <a:lstStyle/>
                    <a:p>
                      <a:pPr lvl="0" indent="0" marL="0">
                        <a:buNone/>
                      </a:pPr>
                      <a:r>
                        <a:rPr/>
                        <a:t>Noor et al. (2008)</a:t>
                      </a:r>
                    </a:p>
                  </a:txBody>
                </a:tc>
                <a:tc>
                  <a:txBody>
                    <a:bodyPr/>
                    <a:lstStyle/>
                    <a:p>
                      <a:pPr lvl="0" indent="0" marL="0">
                        <a:buNone/>
                      </a:pPr>
                      <a:r>
                        <a:rPr/>
                        <a:t>DHS/MICS surveys (asset-based wealth indices, 338 admin. level-1 units, 37 countries); DMSP night-time light imagery (2000)</a:t>
                      </a:r>
                    </a:p>
                  </a:txBody>
                </a:tc>
              </a:tr>
              <a:tr h="0">
                <a:tc>
                  <a:txBody>
                    <a:bodyPr/>
                    <a:lstStyle/>
                    <a:p>
                      <a:pPr lvl="0" indent="0" marL="0">
                        <a:buNone/>
                      </a:pPr>
                      <a:r>
                        <a:rPr/>
                        <a:t>Blumenstock, Cadamuro &amp; On (2015)</a:t>
                      </a:r>
                    </a:p>
                  </a:txBody>
                </a:tc>
                <a:tc>
                  <a:txBody>
                    <a:bodyPr/>
                    <a:lstStyle/>
                    <a:p>
                      <a:pPr lvl="0" indent="0" marL="0">
                        <a:buNone/>
                      </a:pPr>
                      <a:r>
                        <a:rPr/>
                        <a:t>Mobile operator metadata (</a:t>
                      </a:r>
                      <a:r>
                        <a:rPr i="1"/>
                        <a:t>call detail records</a:t>
                      </a:r>
                      <a:r>
                        <a:rPr/>
                        <a:t>, Rwanda, 2009); validation phone survey; DHS 2010</a:t>
                      </a:r>
                    </a:p>
                  </a:txBody>
                </a:tc>
              </a:tr>
              <a:tr h="0">
                <a:tc>
                  <a:txBody>
                    <a:bodyPr/>
                    <a:lstStyle/>
                    <a:p>
                      <a:pPr lvl="0" indent="0" marL="0">
                        <a:buNone/>
                      </a:pPr>
                      <a:r>
                        <a:rPr/>
                        <a:t>Leasure et al. (2020)</a:t>
                      </a:r>
                    </a:p>
                  </a:txBody>
                </a:tc>
                <a:tc>
                  <a:txBody>
                    <a:bodyPr/>
                    <a:lstStyle/>
                    <a:p>
                      <a:pPr lvl="0" indent="0" marL="0">
                        <a:buNone/>
                      </a:pPr>
                      <a:r>
                        <a:rPr/>
                        <a:t>Field micro-censuses (Nigeria); WorldPop geospatial covariates (built-up, schools, roads, nightlights)</a:t>
                      </a:r>
                    </a:p>
                  </a:txBody>
                </a:tc>
              </a:tr>
            </a:tbl>
          </a:graphicData>
        </a:graphic>
      </p:graphicFrame>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Synthèse générale : trois usages, une même donnée géospatiale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857500"/>
                <a:gridCol w="3314700"/>
              </a:tblGrid>
              <a:tr h="0">
                <a:tc>
                  <a:txBody>
                    <a:bodyPr/>
                    <a:lstStyle/>
                    <a:p>
                      <a:pPr lvl="0" indent="0" marL="0">
                        <a:buNone/>
                      </a:pPr>
                      <a:r>
                        <a:rPr/>
                        <a:t>Usage</a:t>
                      </a:r>
                    </a:p>
                  </a:txBody>
                  <a:tcPr/>
                </a:tc>
                <a:tc>
                  <a:txBody>
                    <a:bodyPr/>
                    <a:lstStyle/>
                    <a:p>
                      <a:pPr lvl="0" indent="0" marL="0">
                        <a:buNone/>
                      </a:pPr>
                      <a:r>
                        <a:rPr/>
                        <a:t>Question posée</a:t>
                      </a:r>
                    </a:p>
                  </a:txBody>
                  <a:tcPr/>
                </a:tc>
                <a:tc>
                  <a:txBody>
                    <a:bodyPr/>
                    <a:lstStyle/>
                    <a:p>
                      <a:pPr lvl="0" indent="0" marL="0">
                        <a:buNone/>
                      </a:pPr>
                      <a:r>
                        <a:rPr/>
                        <a:t>Exemples du jour</a:t>
                      </a:r>
                    </a:p>
                  </a:txBody>
                  <a:tcPr/>
                </a:tc>
              </a:tr>
              <a:tr h="0">
                <a:tc>
                  <a:txBody>
                    <a:bodyPr/>
                    <a:lstStyle/>
                    <a:p>
                      <a:pPr lvl="0" indent="0" marL="0">
                        <a:buNone/>
                      </a:pPr>
                      <a:r>
                        <a:rPr/>
                        <a:t>Variable explicative</a:t>
                      </a:r>
                    </a:p>
                  </a:txBody>
                </a:tc>
                <a:tc>
                  <a:txBody>
                    <a:bodyPr/>
                    <a:lstStyle/>
                    <a:p>
                      <a:pPr lvl="0" indent="0" marL="0">
                        <a:buNone/>
                      </a:pPr>
                      <a:r>
                        <a:rPr/>
                        <a:t>La donnée géospatiale explique-t-elle statistiquement un phénomène social ?</a:t>
                      </a:r>
                    </a:p>
                  </a:txBody>
                </a:tc>
                <a:tc>
                  <a:txBody>
                    <a:bodyPr/>
                    <a:lstStyle/>
                    <a:p>
                      <a:pPr lvl="0" indent="0" marL="0">
                        <a:buNone/>
                      </a:pPr>
                      <a:r>
                        <a:rPr/>
                        <a:t>Hendrix &amp; Salehyan ; Couttenier &amp; Soubeyran ; Abdel-Ghany et al. ; Darin et al.</a:t>
                      </a:r>
                    </a:p>
                  </a:txBody>
                </a:tc>
              </a:tr>
              <a:tr h="0">
                <a:tc>
                  <a:txBody>
                    <a:bodyPr/>
                    <a:lstStyle/>
                    <a:p>
                      <a:pPr lvl="0" indent="0" marL="0">
                        <a:buNone/>
                      </a:pPr>
                      <a:r>
                        <a:rPr/>
                        <a:t>Modélisation géospatiale</a:t>
                      </a:r>
                    </a:p>
                  </a:txBody>
                </a:tc>
                <a:tc>
                  <a:txBody>
                    <a:bodyPr/>
                    <a:lstStyle/>
                    <a:p>
                      <a:pPr lvl="0" indent="0" marL="0">
                        <a:buNone/>
                      </a:pPr>
                      <a:r>
                        <a:rPr/>
                        <a:t>Peut-on estimer un indicateur social là où il n’est pas mesuré ?</a:t>
                      </a:r>
                    </a:p>
                  </a:txBody>
                </a:tc>
                <a:tc>
                  <a:txBody>
                    <a:bodyPr/>
                    <a:lstStyle/>
                    <a:p>
                      <a:pPr lvl="0" indent="0" marL="0">
                        <a:buNone/>
                      </a:pPr>
                      <a:r>
                        <a:rPr/>
                        <a:t>Ferreira et al. ; Golding et al. ; Wakefield et al.</a:t>
                      </a:r>
                    </a:p>
                  </a:txBody>
                </a:tc>
              </a:tr>
              <a:tr h="0">
                <a:tc>
                  <a:txBody>
                    <a:bodyPr/>
                    <a:lstStyle/>
                    <a:p>
                      <a:pPr lvl="0" indent="0" marL="0">
                        <a:buNone/>
                      </a:pPr>
                      <a:r>
                        <a:rPr/>
                        <a:t>Variable proxy</a:t>
                      </a:r>
                    </a:p>
                  </a:txBody>
                </a:tc>
                <a:tc>
                  <a:txBody>
                    <a:bodyPr/>
                    <a:lstStyle/>
                    <a:p>
                      <a:pPr lvl="0" indent="0" marL="0">
                        <a:buNone/>
                      </a:pPr>
                      <a:r>
                        <a:rPr/>
                        <a:t>Peut-on approximer une donnée sociale absente par une donnée géospatiale disponible ?</a:t>
                      </a:r>
                    </a:p>
                  </a:txBody>
                </a:tc>
                <a:tc>
                  <a:txBody>
                    <a:bodyPr/>
                    <a:lstStyle/>
                    <a:p>
                      <a:pPr lvl="0" indent="0" marL="0">
                        <a:buNone/>
                      </a:pPr>
                      <a:r>
                        <a:rPr/>
                        <a:t>Noor et al. ; Blumenstock et al. ; Leasure et al.</a:t>
                      </a:r>
                    </a:p>
                  </a:txBody>
                </a:tc>
              </a:tr>
            </a:tbl>
          </a:graphicData>
        </a:graphic>
      </p:graphicFrame>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General summary: three uses, one geospatial data type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857500"/>
                <a:gridCol w="3314700"/>
              </a:tblGrid>
              <a:tr h="0">
                <a:tc>
                  <a:txBody>
                    <a:bodyPr/>
                    <a:lstStyle/>
                    <a:p>
                      <a:pPr lvl="0" indent="0" marL="0">
                        <a:buNone/>
                      </a:pPr>
                      <a:r>
                        <a:rPr/>
                        <a:t>Use</a:t>
                      </a:r>
                    </a:p>
                  </a:txBody>
                  <a:tcPr/>
                </a:tc>
                <a:tc>
                  <a:txBody>
                    <a:bodyPr/>
                    <a:lstStyle/>
                    <a:p>
                      <a:pPr lvl="0" indent="0" marL="0">
                        <a:buNone/>
                      </a:pPr>
                      <a:r>
                        <a:rPr/>
                        <a:t>Question asked</a:t>
                      </a:r>
                    </a:p>
                  </a:txBody>
                  <a:tcPr/>
                </a:tc>
                <a:tc>
                  <a:txBody>
                    <a:bodyPr/>
                    <a:lstStyle/>
                    <a:p>
                      <a:pPr lvl="0" indent="0" marL="0">
                        <a:buNone/>
                      </a:pPr>
                      <a:r>
                        <a:rPr/>
                        <a:t>Examples from today</a:t>
                      </a:r>
                    </a:p>
                  </a:txBody>
                  <a:tcPr/>
                </a:tc>
              </a:tr>
              <a:tr h="0">
                <a:tc>
                  <a:txBody>
                    <a:bodyPr/>
                    <a:lstStyle/>
                    <a:p>
                      <a:pPr lvl="0" indent="0" marL="0">
                        <a:buNone/>
                      </a:pPr>
                      <a:r>
                        <a:rPr/>
                        <a:t>Explanatory variable</a:t>
                      </a:r>
                    </a:p>
                  </a:txBody>
                </a:tc>
                <a:tc>
                  <a:txBody>
                    <a:bodyPr/>
                    <a:lstStyle/>
                    <a:p>
                      <a:pPr lvl="0" indent="0" marL="0">
                        <a:buNone/>
                      </a:pPr>
                      <a:r>
                        <a:rPr/>
                        <a:t>Does the geospatial data statistically explain a social phenomenon?</a:t>
                      </a:r>
                    </a:p>
                  </a:txBody>
                </a:tc>
                <a:tc>
                  <a:txBody>
                    <a:bodyPr/>
                    <a:lstStyle/>
                    <a:p>
                      <a:pPr lvl="0" indent="0" marL="0">
                        <a:buNone/>
                      </a:pPr>
                      <a:r>
                        <a:rPr/>
                        <a:t>Hendrix &amp; Salehyan; Couttenier &amp; Soubeyran; Abdel-Ghany et al.; Darin et al.</a:t>
                      </a:r>
                    </a:p>
                  </a:txBody>
                </a:tc>
              </a:tr>
              <a:tr h="0">
                <a:tc>
                  <a:txBody>
                    <a:bodyPr/>
                    <a:lstStyle/>
                    <a:p>
                      <a:pPr lvl="0" indent="0" marL="0">
                        <a:buNone/>
                      </a:pPr>
                      <a:r>
                        <a:rPr/>
                        <a:t>Geospatial modelling</a:t>
                      </a:r>
                    </a:p>
                  </a:txBody>
                </a:tc>
                <a:tc>
                  <a:txBody>
                    <a:bodyPr/>
                    <a:lstStyle/>
                    <a:p>
                      <a:pPr lvl="0" indent="0" marL="0">
                        <a:buNone/>
                      </a:pPr>
                      <a:r>
                        <a:rPr/>
                        <a:t>Can we estimate a social indicator where it is not measured?</a:t>
                      </a:r>
                    </a:p>
                  </a:txBody>
                </a:tc>
                <a:tc>
                  <a:txBody>
                    <a:bodyPr/>
                    <a:lstStyle/>
                    <a:p>
                      <a:pPr lvl="0" indent="0" marL="0">
                        <a:buNone/>
                      </a:pPr>
                      <a:r>
                        <a:rPr/>
                        <a:t>Ferreira et al.; Golding et al.; Wakefield et al.</a:t>
                      </a:r>
                    </a:p>
                  </a:txBody>
                </a:tc>
              </a:tr>
              <a:tr h="0">
                <a:tc>
                  <a:txBody>
                    <a:bodyPr/>
                    <a:lstStyle/>
                    <a:p>
                      <a:pPr lvl="0" indent="0" marL="0">
                        <a:buNone/>
                      </a:pPr>
                      <a:r>
                        <a:rPr/>
                        <a:t>Proxy variable</a:t>
                      </a:r>
                    </a:p>
                  </a:txBody>
                </a:tc>
                <a:tc>
                  <a:txBody>
                    <a:bodyPr/>
                    <a:lstStyle/>
                    <a:p>
                      <a:pPr lvl="0" indent="0" marL="0">
                        <a:buNone/>
                      </a:pPr>
                      <a:r>
                        <a:rPr/>
                        <a:t>Can we approximate an absent social datum with an available geospatial datum?</a:t>
                      </a:r>
                    </a:p>
                  </a:txBody>
                </a:tc>
                <a:tc>
                  <a:txBody>
                    <a:bodyPr/>
                    <a:lstStyle/>
                    <a:p>
                      <a:pPr lvl="0" indent="0" marL="0">
                        <a:buNone/>
                      </a:pPr>
                      <a:r>
                        <a:rPr/>
                        <a:t>Noor et al.; Blumenstock et al.; Leasure et al.</a:t>
                      </a:r>
                    </a:p>
                  </a:txBody>
                </a:tc>
              </a:tr>
            </a:tbl>
          </a:graphicData>
        </a:graphic>
      </p:graphicFrame>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 la théorie à la pratique</a:t>
            </a:r>
          </a:p>
        </p:txBody>
      </p:sp>
      <p:sp>
        <p:nvSpPr>
          <p:cNvPr id="3" name="Content Placeholder 2"/>
          <p:cNvSpPr>
            <a:spLocks noGrp="1"/>
          </p:cNvSpPr>
          <p:nvPr>
            <p:ph idx="1"/>
          </p:nvPr>
        </p:nvSpPr>
        <p:spPr/>
        <p:txBody>
          <a:bodyPr/>
          <a:lstStyle/>
          <a:p>
            <a:pPr lvl="0"/>
            <a:r>
              <a:rPr/>
              <a:t>Les origines historiques (Snow, Booth, Du Bois) rappellent que cartographier reste, avant tout, un outil pour voir et convaincre.</a:t>
            </a:r>
          </a:p>
          <a:p>
            <a:pPr lvl="0"/>
            <a:r>
              <a:rPr/>
              <a:t>Les trois usages (explicatif, modélisation, proxy) ne s’excluent pas : un même jeu de données (ACLED, ERA5) peut servir tour à tour d’explication, d’objet à modéliser, ou de proxy.</a:t>
            </a:r>
          </a:p>
          <a:p>
            <a:pPr lvl="0"/>
            <a:r>
              <a:rPr/>
              <a:t>Dans l’atelier qui suit, ACLED est mobilisé comme au sens de la partie 2 (comprendre la dynamique des conflits), et ERA5 comme variable climatique explicative et à modéliser spatialement, les deux logiques vues aujourd’hui.</a:t>
            </a:r>
          </a:p>
        </p:txBody>
      </p:sp>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From theory to practice</a:t>
            </a:r>
          </a:p>
        </p:txBody>
      </p:sp>
      <p:sp>
        <p:nvSpPr>
          <p:cNvPr id="3" name="Content Placeholder 2"/>
          <p:cNvSpPr>
            <a:spLocks noGrp="1"/>
          </p:cNvSpPr>
          <p:nvPr>
            <p:ph idx="1"/>
          </p:nvPr>
        </p:nvSpPr>
        <p:spPr/>
        <p:txBody>
          <a:bodyPr/>
          <a:lstStyle/>
          <a:p>
            <a:pPr lvl="0"/>
            <a:r>
              <a:rPr/>
              <a:t>The historical origins (Snow, Booth, Du Bois) remind us that mapping remains, above all, a tool to see and to convince.</a:t>
            </a:r>
          </a:p>
          <a:p>
            <a:pPr lvl="0"/>
            <a:r>
              <a:rPr/>
              <a:t>The three uses (explanatory, modelling, proxy) are not mutually exclusive: a single dataset (ACLED, ERA5) can serve in turn as an explanation, an object to be modelled, or a proxy.</a:t>
            </a:r>
          </a:p>
          <a:p>
            <a:pPr lvl="0"/>
            <a:r>
              <a:rPr/>
              <a:t>In the workshop that follows, ACLED is used in the sense of part 2 (understanding conflict dynamics), and ERA5 as an explanatory climate variable and one to be modelled spatially, the two logics seen today.</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Cet après-midi</a:t>
            </a:r>
          </a:p>
        </p:txBody>
      </p:sp>
      <p:sp>
        <p:nvSpPr>
          <p:cNvPr id="3" name="Content Placeholder 2"/>
          <p:cNvSpPr>
            <a:spLocks noGrp="1"/>
          </p:cNvSpPr>
          <p:nvPr>
            <p:ph idx="1"/>
          </p:nvPr>
        </p:nvSpPr>
        <p:spPr/>
        <p:txBody>
          <a:bodyPr/>
          <a:lstStyle/>
          <a:p>
            <a:pPr lvl="0"/>
            <a:r>
              <a:rPr/>
              <a:t>Place à la pratique en R : trois ateliers pour manipuler des données géospatiales en sciences sociales.</a:t>
            </a:r>
          </a:p>
          <a:p>
            <a:pPr lvl="0"/>
            <a:r>
              <a:rPr/>
              <a:t>Premier atelier : ACLED, les conflits armés au Cameroun.</a:t>
            </a:r>
          </a:p>
          <a:p>
            <a:pPr lvl="0"/>
            <a:r>
              <a:rPr/>
              <a:t>Second atelier : ERA5, la température au Cameroun.</a:t>
            </a:r>
          </a:p>
          <a:p>
            <a:pPr lvl="0"/>
            <a:r>
              <a:rPr/>
              <a:t>Troisième atelier : estimation en petits domaines (Fay-Herriot), l’insécurité alimentaire par commune au Bénin.</a:t>
            </a:r>
          </a:p>
        </p:txBody>
      </p:sp>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This afternoon</a:t>
            </a:r>
          </a:p>
        </p:txBody>
      </p:sp>
      <p:sp>
        <p:nvSpPr>
          <p:cNvPr id="3" name="Content Placeholder 2"/>
          <p:cNvSpPr>
            <a:spLocks noGrp="1"/>
          </p:cNvSpPr>
          <p:nvPr>
            <p:ph idx="1"/>
          </p:nvPr>
        </p:nvSpPr>
        <p:spPr/>
        <p:txBody>
          <a:bodyPr/>
          <a:lstStyle/>
          <a:p>
            <a:pPr lvl="0"/>
            <a:r>
              <a:rPr/>
              <a:t>Time for hands-on practice in R: three workshops to work with geospatial data in the social sciences.</a:t>
            </a:r>
          </a:p>
          <a:p>
            <a:pPr lvl="0"/>
            <a:r>
              <a:rPr/>
              <a:t>First workshop: ACLED, armed conflict in Cameroon.</a:t>
            </a:r>
          </a:p>
          <a:p>
            <a:pPr lvl="0"/>
            <a:r>
              <a:rPr/>
              <a:t>Second workshop: ERA5, temperature in Cameroon.</a:t>
            </a:r>
          </a:p>
          <a:p>
            <a:pPr lvl="0"/>
            <a:r>
              <a:rPr/>
              <a:t>Third workshop: small area estimation (Fay-Herriot), food insecurity by commune in Benin.</a:t>
            </a:r>
          </a:p>
        </p:txBody>
      </p:sp>
    </p:spTree>
  </p:cSl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Avant de commencer : le problème que résout le SAE</a:t>
            </a:r>
          </a:p>
        </p:txBody>
      </p:sp>
      <p:sp>
        <p:nvSpPr>
          <p:cNvPr id="3" name="Content Placeholder 2"/>
          <p:cNvSpPr>
            <a:spLocks noGrp="1"/>
          </p:cNvSpPr>
          <p:nvPr>
            <p:ph idx="1"/>
          </p:nvPr>
        </p:nvSpPr>
        <p:spPr/>
        <p:txBody>
          <a:bodyPr/>
          <a:lstStyle/>
          <a:p>
            <a:pPr lvl="0"/>
            <a:r>
              <a:rPr/>
              <a:t>Une enquête nationale (EDS, EHCVM…) est dimensionnée pour être représentative au niveau national, et parfois régional - mais rarement à un niveau administratif plus fin (commune, district).</a:t>
            </a:r>
          </a:p>
          <a:p>
            <a:pPr lvl="0"/>
            <a:r>
              <a:rPr/>
              <a:t>En dessous de ce niveau, l’échantillon dans chaque domaine devient petit : l’estimation directe (la simple proportion observée) devient très bruitée, parfois même impossible à calculer (un seul cluster enquêté, par exemple).</a:t>
            </a:r>
          </a:p>
          <a:p>
            <a:pPr lvl="0"/>
            <a:r>
              <a:rPr/>
              <a:t>Or c’est justement à cette échelle fine que les politiques publiques ont besoin de chiffres : cibler une intervention, allouer un budget, prioriser une zone - une moyenne nationale ou régionale ne suffit pas.</a:t>
            </a:r>
          </a:p>
          <a:p>
            <a:pPr lvl="0"/>
            <a:r>
              <a:rPr/>
              <a:t>« Petit domaine » (</a:t>
            </a:r>
            <a:r>
              <a:rPr i="1"/>
              <a:t>small area</a:t>
            </a:r>
            <a:r>
              <a:rPr/>
              <a:t>) fait référence à la taille de l’ÉCHANTILLON dans le domaine, pas à sa taille géographique - un piège classique à éviter, qui reviendra à l’atelier 3.</a:t>
            </a:r>
          </a:p>
          <a:p>
            <a:pPr lvl="0"/>
            <a:r>
              <a:rPr/>
              <a:t>Vous avez déjà vu ce problème ce matin, sans le nom : c’est exactement ce que résolvaient Golding et al. et Wakefield et al. avec la modélisation géospatiale.</a:t>
            </a:r>
          </a:p>
        </p:txBody>
      </p:sp>
    </p:spTree>
  </p:cSl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Before we start: the problem small area estimation solves</a:t>
            </a:r>
          </a:p>
        </p:txBody>
      </p:sp>
      <p:sp>
        <p:nvSpPr>
          <p:cNvPr id="3" name="Content Placeholder 2"/>
          <p:cNvSpPr>
            <a:spLocks noGrp="1"/>
          </p:cNvSpPr>
          <p:nvPr>
            <p:ph idx="1"/>
          </p:nvPr>
        </p:nvSpPr>
        <p:spPr/>
        <p:txBody>
          <a:bodyPr/>
          <a:lstStyle/>
          <a:p>
            <a:pPr lvl="0"/>
            <a:r>
              <a:rPr/>
              <a:t>A national survey (DHS, EHCVM…) is designed to be representative at national level, and sometimes regional level, but rarely at a finer administrative level (commune, district).</a:t>
            </a:r>
          </a:p>
          <a:p>
            <a:pPr lvl="0"/>
            <a:r>
              <a:rPr/>
              <a:t>Below that level, the sample in each domain becomes small: the direct estimate (the simple observed proportion) becomes very noisy, sometimes even impossible to compute (a single cluster surveyed, for example).</a:t>
            </a:r>
          </a:p>
          <a:p>
            <a:pPr lvl="0"/>
            <a:r>
              <a:rPr/>
              <a:t>Yet it is precisely at this fine scale that public policy needs numbers: targeting an intervention, allocating a budget, prioritising an area, a national or regional average is not enough.</a:t>
            </a:r>
          </a:p>
          <a:p>
            <a:pPr lvl="0"/>
            <a:r>
              <a:rPr/>
              <a:t>“Small area” refers to the size of the SAMPLE in the domain, not its geographic size, a classic trap to avoid, one we will return to in workshop 3.</a:t>
            </a:r>
          </a:p>
          <a:p>
            <a:pPr lvl="0"/>
            <a:r>
              <a:rPr/>
              <a:t>You already saw this problem this morning, without the name: it is exactly what Golding et al. and Wakefield et al. were solving with geospatial modelling.</a:t>
            </a:r>
          </a:p>
        </p:txBody>
      </p:sp>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 principe : emprunter de la force à un modèle</a:t>
            </a:r>
          </a:p>
        </p:txBody>
      </p:sp>
      <p:sp>
        <p:nvSpPr>
          <p:cNvPr id="3" name="Content Placeholder 2"/>
          <p:cNvSpPr>
            <a:spLocks noGrp="1"/>
          </p:cNvSpPr>
          <p:nvPr>
            <p:ph idx="1"/>
          </p:nvPr>
        </p:nvSpPr>
        <p:spPr/>
        <p:txBody>
          <a:bodyPr/>
          <a:lstStyle/>
          <a:p>
            <a:pPr lvl="0"/>
            <a:r>
              <a:rPr/>
              <a:t>L’estimation en petits domaines (SAE) combine deux sources d’information plutôt qu’une seule :</a:t>
            </a:r>
          </a:p>
          <a:p>
            <a:pPr lvl="1"/>
            <a:r>
              <a:rPr/>
              <a:t>l’estimation directe du domaine (bruitée, mais sans biais) ;</a:t>
            </a:r>
          </a:p>
          <a:p>
            <a:pPr lvl="1"/>
            <a:r>
              <a:rPr/>
              <a:t>une prédiction tirée d’un modèle ajusté sur TOUS les domaines à partir d’une covariable connue partout (recensement, imagerie satellite…).</a:t>
            </a:r>
          </a:p>
          <a:p>
            <a:pPr lvl="0"/>
            <a:r>
              <a:rPr/>
              <a:t>Le résultat (l’EBLUP) est une moyenne pondérée des deux : plus un domaine est mal échantillonné, plus son estimation est tirée vers la prédiction du modèle - les domaines bien échantillonnés changent peu.</a:t>
            </a:r>
          </a:p>
          <a:p>
            <a:pPr lvl="0"/>
            <a:r>
              <a:rPr/>
              <a:t>Deux bénéfices distincts à ne pas confondre : gagner en </a:t>
            </a:r>
            <a:r>
              <a:rPr b="1"/>
              <a:t>précision</a:t>
            </a:r>
            <a:r>
              <a:rPr/>
              <a:t> (un chiffre plus fiable, au même niveau géographique) et, si la covariable est connue à une résolution plus fine que l’enquête, gagner en </a:t>
            </a:r>
            <a:r>
              <a:rPr b="1"/>
              <a:t>résolution</a:t>
            </a:r>
            <a:r>
              <a:rPr/>
              <a:t> (une carte plus détaillée que l’enquête elle-même).</a:t>
            </a:r>
          </a:p>
          <a:p>
            <a:pPr lvl="0"/>
            <a:r>
              <a:rPr/>
              <a:t>C’est ce second point, souvent oublié, que l’atelier 3 de cet après-midi illustrera concrètement : passer d’une estimation par commune à une carte à 3 km.</a:t>
            </a:r>
          </a:p>
        </p:txBody>
      </p:sp>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principle: borrowing strength from a model</a:t>
            </a:r>
          </a:p>
        </p:txBody>
      </p:sp>
      <p:sp>
        <p:nvSpPr>
          <p:cNvPr id="3" name="Content Placeholder 2"/>
          <p:cNvSpPr>
            <a:spLocks noGrp="1"/>
          </p:cNvSpPr>
          <p:nvPr>
            <p:ph idx="1"/>
          </p:nvPr>
        </p:nvSpPr>
        <p:spPr/>
        <p:txBody>
          <a:bodyPr/>
          <a:lstStyle/>
          <a:p>
            <a:pPr lvl="0"/>
            <a:r>
              <a:rPr/>
              <a:t>Small area estimation (SAE) combines two sources of information rather than one:</a:t>
            </a:r>
          </a:p>
          <a:p>
            <a:pPr lvl="1"/>
            <a:r>
              <a:rPr/>
              <a:t>the direct estimate for the domain (noisy, but unbiased);</a:t>
            </a:r>
          </a:p>
          <a:p>
            <a:pPr lvl="1"/>
            <a:r>
              <a:rPr/>
              <a:t>a prediction from a model fitted across ALL domains using a covariate known everywhere (census, satellite imagery…).</a:t>
            </a:r>
          </a:p>
          <a:p>
            <a:pPr lvl="0"/>
            <a:r>
              <a:rPr/>
              <a:t>The result (the EBLUP) is a weighted average of the two: the more poorly sampled a domain is, the more its estimate is pulled towards the model’s prediction; well-sampled domains change little.</a:t>
            </a:r>
          </a:p>
          <a:p>
            <a:pPr lvl="0"/>
            <a:r>
              <a:rPr/>
              <a:t>Two distinct benefits not to be confused: gaining in </a:t>
            </a:r>
            <a:r>
              <a:rPr b="1"/>
              <a:t>precision</a:t>
            </a:r>
            <a:r>
              <a:rPr/>
              <a:t> (a more reliable figure, at the same geographic level) and, if the covariate is known at a finer resolution than the survey, gaining in </a:t>
            </a:r>
            <a:r>
              <a:rPr b="1"/>
              <a:t>resolution</a:t>
            </a:r>
            <a:r>
              <a:rPr/>
              <a:t> (a more detailed map than the survey itself).</a:t>
            </a:r>
          </a:p>
          <a:p>
            <a:pPr lvl="0"/>
            <a:r>
              <a:rPr/>
              <a:t>It is this second point, often overlooked, that this afternoon’s workshop 3 will concretely illustrate: going from a commune-level estimate to a 3 km map.</a:t>
            </a:r>
          </a:p>
        </p:txBody>
      </p:sp>
    </p:spTree>
  </p:cSl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Atelier R Exercice 1 : ACLED, conflits armés au Cameroun</a:t>
            </a:r>
          </a:p>
        </p:txBody>
      </p:sp>
      <p:sp>
        <p:nvSpPr>
          <p:cNvPr id="3" name="Content Placeholder 2"/>
          <p:cNvSpPr>
            <a:spLocks noGrp="1"/>
          </p:cNvSpPr>
          <p:nvPr>
            <p:ph idx="1"/>
          </p:nvPr>
        </p:nvSpPr>
        <p:spPr/>
        <p:txBody>
          <a:bodyPr/>
          <a:lstStyle/>
          <a:p>
            <a:pPr lvl="0" indent="0" marL="0">
              <a:buNone/>
            </a:pPr>
            <a:r>
              <a:rPr/>
              <a:t>ACLED : </a:t>
            </a:r>
            <a:r>
              <a:rPr i="1"/>
              <a:t>Armed Conflict Location &amp; Event Data Project</a:t>
            </a:r>
            <a:r>
              <a:rPr/>
              <a:t>, base de données mondiale des événements de conflit armé (accès gratuit sur </a:t>
            </a:r>
            <a:r>
              <a:rPr>
                <a:hlinkClick r:id="rId2"/>
              </a:rPr>
              <a:t>acleddata.com</a:t>
            </a:r>
            <a:r>
              <a:rPr/>
              <a:t>).</a:t>
            </a:r>
          </a:p>
          <a:p>
            <a:pPr lvl="0"/>
            <a:r>
              <a:rPr/>
              <a:t>Charger l’export ACLED (CSV) et explorer sa structure (dimensions, colonnes, années disponibles).</a:t>
            </a:r>
          </a:p>
          <a:p>
            <a:pPr lvl="0"/>
            <a:r>
              <a:rPr/>
              <a:t>Résumer les événements par type et par région, et visualiser leur évolution annuelle.</a:t>
            </a:r>
          </a:p>
          <a:p>
            <a:pPr lvl="0"/>
            <a:r>
              <a:rPr/>
              <a:t>Calculer et représenter les décès annuels liés aux conflits.</a:t>
            </a:r>
          </a:p>
          <a:p>
            <a:pPr lvl="0"/>
            <a:r>
              <a:rPr/>
              <a:t>Convertir les événements en couche sf et les cartographier avec tmap.</a:t>
            </a:r>
          </a:p>
          <a:p>
            <a:pPr lvl="0"/>
            <a:r>
              <a:rPr/>
              <a:t>Agréger les événements par région (jointure spatiale) et produire une carte choroplèthe.</a:t>
            </a:r>
          </a:p>
        </p:txBody>
      </p:sp>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 Workshop Exercise 1: ACLED, armed conflict in Cameroon</a:t>
            </a:r>
          </a:p>
        </p:txBody>
      </p:sp>
      <p:sp>
        <p:nvSpPr>
          <p:cNvPr id="3" name="Content Placeholder 2"/>
          <p:cNvSpPr>
            <a:spLocks noGrp="1"/>
          </p:cNvSpPr>
          <p:nvPr>
            <p:ph idx="1"/>
          </p:nvPr>
        </p:nvSpPr>
        <p:spPr/>
        <p:txBody>
          <a:bodyPr/>
          <a:lstStyle/>
          <a:p>
            <a:pPr lvl="0" indent="0" marL="0">
              <a:buNone/>
            </a:pPr>
            <a:r>
              <a:rPr/>
              <a:t>ACLED: the </a:t>
            </a:r>
            <a:r>
              <a:rPr i="1"/>
              <a:t>Armed Conflict Location &amp; Event Data Project</a:t>
            </a:r>
            <a:r>
              <a:rPr/>
              <a:t>, a global database of armed conflict events (free access at </a:t>
            </a:r>
            <a:r>
              <a:rPr>
                <a:hlinkClick r:id="rId2"/>
              </a:rPr>
              <a:t>acleddata.com</a:t>
            </a:r>
            <a:r>
              <a:rPr/>
              <a:t>).</a:t>
            </a:r>
          </a:p>
          <a:p>
            <a:pPr lvl="0"/>
            <a:r>
              <a:rPr/>
              <a:t>Load the ACLED export (CSV) and explore its structure (dimensions, columns, available years).</a:t>
            </a:r>
          </a:p>
          <a:p>
            <a:pPr lvl="0"/>
            <a:r>
              <a:rPr/>
              <a:t>Summarise events by type and by region, and visualise their annual trend.</a:t>
            </a:r>
          </a:p>
          <a:p>
            <a:pPr lvl="0"/>
            <a:r>
              <a:rPr/>
              <a:t>Calculate and plot annual conflict-related deaths.</a:t>
            </a:r>
          </a:p>
          <a:p>
            <a:pPr lvl="0"/>
            <a:r>
              <a:rPr/>
              <a:t>Convert events into an sf layer and map them with tmap.</a:t>
            </a:r>
          </a:p>
          <a:p>
            <a:pPr lvl="0"/>
            <a:r>
              <a:rPr/>
              <a:t>Aggregate events by region (spatial join) and produce a choropleth map.</a:t>
            </a:r>
          </a:p>
        </p:txBody>
      </p:sp>
    </p:spTree>
  </p:cSl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Atelier R Exercice 1 : les données ACLED</a:t>
            </a:r>
          </a:p>
        </p:txBody>
      </p:sp>
      <p:sp>
        <p:nvSpPr>
          <p:cNvPr id="3" name="Content Placeholder 2"/>
          <p:cNvSpPr>
            <a:spLocks noGrp="1"/>
          </p:cNvSpPr>
          <p:nvPr>
            <p:ph idx="1"/>
          </p:nvPr>
        </p:nvSpPr>
        <p:spPr/>
        <p:txBody>
          <a:bodyPr/>
          <a:lstStyle/>
          <a:p>
            <a:pPr lvl="0"/>
            <a:r>
              <a:rPr/>
              <a:t>Types d’événements : </a:t>
            </a:r>
            <a:r>
              <a:rPr i="1"/>
              <a:t>Battles</a:t>
            </a:r>
            <a:r>
              <a:rPr/>
              <a:t>, </a:t>
            </a:r>
            <a:r>
              <a:rPr i="1"/>
              <a:t>Explosions/Remote violence</a:t>
            </a:r>
            <a:r>
              <a:rPr/>
              <a:t>, </a:t>
            </a:r>
            <a:r>
              <a:rPr i="1"/>
              <a:t>Violence against civilians</a:t>
            </a:r>
            <a:r>
              <a:rPr/>
              <a:t>, </a:t>
            </a:r>
            <a:r>
              <a:rPr i="1"/>
              <a:t>Riots</a:t>
            </a:r>
            <a:r>
              <a:rPr/>
              <a:t>, </a:t>
            </a:r>
            <a:r>
              <a:rPr i="1"/>
              <a:t>Protests</a:t>
            </a:r>
            <a:r>
              <a:rPr/>
              <a:t>, </a:t>
            </a:r>
            <a:r>
              <a:rPr i="1"/>
              <a:t>Strategic developments</a:t>
            </a:r>
            <a:r>
              <a:rPr/>
              <a:t>.</a:t>
            </a:r>
          </a:p>
          <a:p>
            <a:pPr lvl="0"/>
            <a:r>
              <a:rPr/>
              <a:t>Colonnes clés du tableau : </a:t>
            </a:r>
            <a:r>
              <a:rPr>
                <a:latin typeface="Courier"/>
              </a:rPr>
              <a:t>event_date</a:t>
            </a:r>
            <a:r>
              <a:rPr/>
              <a:t> (date), </a:t>
            </a:r>
            <a:r>
              <a:rPr>
                <a:latin typeface="Courier"/>
              </a:rPr>
              <a:t>event_type</a:t>
            </a:r>
            <a:r>
              <a:rPr/>
              <a:t> / </a:t>
            </a:r>
            <a:r>
              <a:rPr>
                <a:latin typeface="Courier"/>
              </a:rPr>
              <a:t>sub_event_type</a:t>
            </a:r>
            <a:r>
              <a:rPr/>
              <a:t> (type), </a:t>
            </a:r>
            <a:r>
              <a:rPr>
                <a:latin typeface="Courier"/>
              </a:rPr>
              <a:t>actor1</a:t>
            </a:r>
            <a:r>
              <a:rPr/>
              <a:t> / </a:t>
            </a:r>
            <a:r>
              <a:rPr>
                <a:latin typeface="Courier"/>
              </a:rPr>
              <a:t>actor2</a:t>
            </a:r>
            <a:r>
              <a:rPr/>
              <a:t> (acteurs), </a:t>
            </a:r>
            <a:r>
              <a:rPr>
                <a:latin typeface="Courier"/>
              </a:rPr>
              <a:t>admin1</a:t>
            </a:r>
            <a:r>
              <a:rPr/>
              <a:t> (région), </a:t>
            </a:r>
            <a:r>
              <a:rPr>
                <a:latin typeface="Courier"/>
              </a:rPr>
              <a:t>admin2</a:t>
            </a:r>
            <a:r>
              <a:rPr/>
              <a:t> (département), </a:t>
            </a:r>
            <a:r>
              <a:rPr>
                <a:latin typeface="Courier"/>
              </a:rPr>
              <a:t>location</a:t>
            </a:r>
            <a:r>
              <a:rPr/>
              <a:t>, </a:t>
            </a:r>
            <a:r>
              <a:rPr>
                <a:latin typeface="Courier"/>
              </a:rPr>
              <a:t>latitude</a:t>
            </a:r>
            <a:r>
              <a:rPr/>
              <a:t> / </a:t>
            </a:r>
            <a:r>
              <a:rPr>
                <a:latin typeface="Courier"/>
              </a:rPr>
              <a:t>longitude</a:t>
            </a:r>
            <a:r>
              <a:rPr/>
              <a:t>, </a:t>
            </a:r>
            <a:r>
              <a:rPr>
                <a:latin typeface="Courier"/>
              </a:rPr>
              <a:t>fatalities</a:t>
            </a:r>
            <a:r>
              <a:rPr/>
              <a:t> (décès).</a:t>
            </a:r>
          </a:p>
          <a:p>
            <a:pPr lvl="0"/>
            <a:r>
              <a:rPr/>
              <a:t>Accès : compte gratuit sur </a:t>
            </a:r>
            <a:r>
              <a:rPr>
                <a:hlinkClick r:id="rId2"/>
              </a:rPr>
              <a:t>developer.acleddata.com</a:t>
            </a:r>
            <a:r>
              <a:rPr/>
              <a:t>, export en CSV via ACLED Explorer, ou appel direct de l’API depuis R avec le package </a:t>
            </a:r>
            <a:r>
              <a:rPr>
                <a:latin typeface="Courier"/>
              </a:rPr>
              <a:t>acledR</a:t>
            </a:r>
            <a:r>
              <a:rPr/>
              <a:t>.</a:t>
            </a:r>
          </a:p>
          <a:p>
            <a:pPr lvl="0"/>
            <a:r>
              <a:rPr/>
              <a:t>Bonne pratique : les identifiants API se stockent dans un fichier </a:t>
            </a:r>
            <a:r>
              <a:rPr>
                <a:latin typeface="Courier"/>
              </a:rPr>
              <a:t>.env</a:t>
            </a:r>
            <a:r>
              <a:rPr/>
              <a:t> local, jamais directement dans un script partagé.</a:t>
            </a:r>
          </a:p>
          <a:p>
            <a:pPr lvl="0"/>
            <a:r>
              <a:rPr/>
              <a:t>Script complet d’appel API (authentification </a:t>
            </a:r>
            <a:r>
              <a:rPr>
                <a:latin typeface="Courier"/>
              </a:rPr>
              <a:t>.env</a:t>
            </a:r>
            <a:r>
              <a:rPr/>
              <a:t>, repli sur CSV local) : </a:t>
            </a:r>
            <a:r>
              <a:rPr>
                <a:latin typeface="Courier"/>
              </a:rPr>
              <a:t>scripts_formateurs/jour_09_formateur_acled_api.R</a:t>
            </a:r>
            <a:r>
              <a:rPr/>
              <a:t>.</a:t>
            </a:r>
          </a:p>
        </p:txBody>
      </p:sp>
    </p:spTree>
  </p:cSl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 Workshop Exercise 1: the ACLED data</a:t>
            </a:r>
          </a:p>
        </p:txBody>
      </p:sp>
      <p:sp>
        <p:nvSpPr>
          <p:cNvPr id="3" name="Content Placeholder 2"/>
          <p:cNvSpPr>
            <a:spLocks noGrp="1"/>
          </p:cNvSpPr>
          <p:nvPr>
            <p:ph idx="1"/>
          </p:nvPr>
        </p:nvSpPr>
        <p:spPr/>
        <p:txBody>
          <a:bodyPr/>
          <a:lstStyle/>
          <a:p>
            <a:pPr lvl="0"/>
            <a:r>
              <a:rPr/>
              <a:t>Event types: </a:t>
            </a:r>
            <a:r>
              <a:rPr i="1"/>
              <a:t>Battles</a:t>
            </a:r>
            <a:r>
              <a:rPr/>
              <a:t>, </a:t>
            </a:r>
            <a:r>
              <a:rPr i="1"/>
              <a:t>Explosions/Remote violence</a:t>
            </a:r>
            <a:r>
              <a:rPr/>
              <a:t>, </a:t>
            </a:r>
            <a:r>
              <a:rPr i="1"/>
              <a:t>Violence against civilians</a:t>
            </a:r>
            <a:r>
              <a:rPr/>
              <a:t>, </a:t>
            </a:r>
            <a:r>
              <a:rPr i="1"/>
              <a:t>Riots</a:t>
            </a:r>
            <a:r>
              <a:rPr/>
              <a:t>, </a:t>
            </a:r>
            <a:r>
              <a:rPr i="1"/>
              <a:t>Protests</a:t>
            </a:r>
            <a:r>
              <a:rPr/>
              <a:t>, </a:t>
            </a:r>
            <a:r>
              <a:rPr i="1"/>
              <a:t>Strategic developments</a:t>
            </a:r>
            <a:r>
              <a:rPr/>
              <a:t>.</a:t>
            </a:r>
          </a:p>
          <a:p>
            <a:pPr lvl="0"/>
            <a:r>
              <a:rPr/>
              <a:t>Key table columns: </a:t>
            </a:r>
            <a:r>
              <a:rPr>
                <a:latin typeface="Courier"/>
              </a:rPr>
              <a:t>event_date</a:t>
            </a:r>
            <a:r>
              <a:rPr/>
              <a:t> (date), </a:t>
            </a:r>
            <a:r>
              <a:rPr>
                <a:latin typeface="Courier"/>
              </a:rPr>
              <a:t>event_type</a:t>
            </a:r>
            <a:r>
              <a:rPr/>
              <a:t> / </a:t>
            </a:r>
            <a:r>
              <a:rPr>
                <a:latin typeface="Courier"/>
              </a:rPr>
              <a:t>sub_event_type</a:t>
            </a:r>
            <a:r>
              <a:rPr/>
              <a:t> (type), </a:t>
            </a:r>
            <a:r>
              <a:rPr>
                <a:latin typeface="Courier"/>
              </a:rPr>
              <a:t>actor1</a:t>
            </a:r>
            <a:r>
              <a:rPr/>
              <a:t> / </a:t>
            </a:r>
            <a:r>
              <a:rPr>
                <a:latin typeface="Courier"/>
              </a:rPr>
              <a:t>actor2</a:t>
            </a:r>
            <a:r>
              <a:rPr/>
              <a:t> (actors), </a:t>
            </a:r>
            <a:r>
              <a:rPr>
                <a:latin typeface="Courier"/>
              </a:rPr>
              <a:t>admin1</a:t>
            </a:r>
            <a:r>
              <a:rPr/>
              <a:t> (region), </a:t>
            </a:r>
            <a:r>
              <a:rPr>
                <a:latin typeface="Courier"/>
              </a:rPr>
              <a:t>admin2</a:t>
            </a:r>
            <a:r>
              <a:rPr/>
              <a:t> (department), </a:t>
            </a:r>
            <a:r>
              <a:rPr>
                <a:latin typeface="Courier"/>
              </a:rPr>
              <a:t>location</a:t>
            </a:r>
            <a:r>
              <a:rPr/>
              <a:t>, </a:t>
            </a:r>
            <a:r>
              <a:rPr>
                <a:latin typeface="Courier"/>
              </a:rPr>
              <a:t>latitude</a:t>
            </a:r>
            <a:r>
              <a:rPr/>
              <a:t> / </a:t>
            </a:r>
            <a:r>
              <a:rPr>
                <a:latin typeface="Courier"/>
              </a:rPr>
              <a:t>longitude</a:t>
            </a:r>
            <a:r>
              <a:rPr/>
              <a:t>, </a:t>
            </a:r>
            <a:r>
              <a:rPr>
                <a:latin typeface="Courier"/>
              </a:rPr>
              <a:t>fatalities</a:t>
            </a:r>
            <a:r>
              <a:rPr/>
              <a:t> (deaths).</a:t>
            </a:r>
          </a:p>
          <a:p>
            <a:pPr lvl="0"/>
            <a:r>
              <a:rPr/>
              <a:t>Access: free account at </a:t>
            </a:r>
            <a:r>
              <a:rPr>
                <a:hlinkClick r:id="rId2"/>
              </a:rPr>
              <a:t>developer.acleddata.com</a:t>
            </a:r>
            <a:r>
              <a:rPr/>
              <a:t>, CSV export via ACLED Explorer, or a direct API call from R with the </a:t>
            </a:r>
            <a:r>
              <a:rPr>
                <a:latin typeface="Courier"/>
              </a:rPr>
              <a:t>acledR</a:t>
            </a:r>
            <a:r>
              <a:rPr/>
              <a:t> package.</a:t>
            </a:r>
          </a:p>
          <a:p>
            <a:pPr lvl="0"/>
            <a:r>
              <a:rPr/>
              <a:t>Good practice: API credentials are stored in a local </a:t>
            </a:r>
            <a:r>
              <a:rPr>
                <a:latin typeface="Courier"/>
              </a:rPr>
              <a:t>.env</a:t>
            </a:r>
            <a:r>
              <a:rPr/>
              <a:t> file, never directly in a shared script.</a:t>
            </a:r>
          </a:p>
          <a:p>
            <a:pPr lvl="0"/>
            <a:r>
              <a:rPr/>
              <a:t>Complete API-call script (</a:t>
            </a:r>
            <a:r>
              <a:rPr>
                <a:latin typeface="Courier"/>
              </a:rPr>
              <a:t>.env</a:t>
            </a:r>
            <a:r>
              <a:rPr/>
              <a:t> authentication, fallback to a local CSV): </a:t>
            </a:r>
            <a:r>
              <a:rPr>
                <a:latin typeface="Courier"/>
              </a:rPr>
              <a:t>scripts_formateurs/jour_09_formateur_acled_api_en.R</a:t>
            </a:r>
            <a:r>
              <a:rPr/>
              <a:t>.</a:t>
            </a:r>
          </a:p>
        </p:txBody>
      </p:sp>
    </p:spTree>
  </p:cSl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Atelier R Exercice 1 : fonctions clés</a:t>
            </a:r>
          </a:p>
        </p:txBody>
      </p:sp>
      <p:sp>
        <p:nvSpPr>
          <p:cNvPr id="3" name="Content Placeholder 2"/>
          <p:cNvSpPr>
            <a:spLocks noGrp="1"/>
          </p:cNvSpPr>
          <p:nvPr>
            <p:ph idx="1"/>
          </p:nvPr>
        </p:nvSpPr>
        <p:spPr/>
        <p:txBody>
          <a:bodyPr/>
          <a:lstStyle/>
          <a:p>
            <a:pPr lvl="0"/>
            <a:r>
              <a:rPr>
                <a:latin typeface="Courier"/>
              </a:rPr>
              <a:t>read_csv()</a:t>
            </a:r>
            <a:r>
              <a:rPr/>
              <a:t> : charger l’export ACLED (fichier CSV) comme data frame.</a:t>
            </a:r>
          </a:p>
          <a:p>
            <a:pPr lvl="0"/>
            <a:r>
              <a:rPr>
                <a:latin typeface="Courier"/>
              </a:rPr>
              <a:t>count()</a:t>
            </a:r>
            <a:r>
              <a:rPr/>
              <a:t> ou </a:t>
            </a:r>
            <a:r>
              <a:rPr>
                <a:latin typeface="Courier"/>
              </a:rPr>
              <a:t>group_by() + summarise()</a:t>
            </a:r>
            <a:r>
              <a:rPr/>
              <a:t> : compter les événements par type, par région ou par année.</a:t>
            </a:r>
          </a:p>
          <a:p>
            <a:pPr lvl="0"/>
            <a:r>
              <a:rPr>
                <a:latin typeface="Courier"/>
              </a:rPr>
              <a:t>st_as_sf(coords = c("longitude", "latitude"))</a:t>
            </a:r>
            <a:r>
              <a:rPr/>
              <a:t> : transformer le tableau en couche spatiale, à partir des deux colonnes de coordonnées.</a:t>
            </a:r>
          </a:p>
          <a:p>
            <a:pPr lvl="0"/>
            <a:r>
              <a:rPr>
                <a:latin typeface="Courier"/>
              </a:rPr>
              <a:t>tm_shape() + tm_dots()</a:t>
            </a:r>
            <a:r>
              <a:rPr/>
              <a:t> : afficher les événements comme des points sur une carte ; </a:t>
            </a:r>
            <a:r>
              <a:rPr>
                <a:latin typeface="Courier"/>
              </a:rPr>
              <a:t>tm_shape() + tm_polygons()</a:t>
            </a:r>
            <a:r>
              <a:rPr/>
              <a:t> pour une carte choroplèthe par région.</a:t>
            </a:r>
          </a:p>
          <a:p>
            <a:pPr lvl="0"/>
            <a:r>
              <a:rPr>
                <a:latin typeface="Courier"/>
              </a:rPr>
              <a:t>st_join()</a:t>
            </a:r>
            <a:r>
              <a:rPr/>
              <a:t> : associer chaque événement à la région administrative dans laquelle il se trouve (jointure spatiale).</a:t>
            </a:r>
          </a:p>
          <a:p>
            <a:pPr lvl="0"/>
            <a:r>
              <a:rPr>
                <a:latin typeface="Courier"/>
              </a:rPr>
              <a:t>acledR::acled_api()</a:t>
            </a:r>
            <a:r>
              <a:rPr/>
              <a:t> : appeler directement l’API ACLED depuis R, en alternative au fichier CSV déjà téléchargé.</a:t>
            </a:r>
          </a:p>
        </p:txBody>
      </p:sp>
    </p:spTree>
  </p:cSl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 Workshop Exercise 1: key functions</a:t>
            </a:r>
          </a:p>
        </p:txBody>
      </p:sp>
      <p:sp>
        <p:nvSpPr>
          <p:cNvPr id="3" name="Content Placeholder 2"/>
          <p:cNvSpPr>
            <a:spLocks noGrp="1"/>
          </p:cNvSpPr>
          <p:nvPr>
            <p:ph idx="1"/>
          </p:nvPr>
        </p:nvSpPr>
        <p:spPr/>
        <p:txBody>
          <a:bodyPr/>
          <a:lstStyle/>
          <a:p>
            <a:pPr lvl="0"/>
            <a:r>
              <a:rPr>
                <a:latin typeface="Courier"/>
              </a:rPr>
              <a:t>read_csv()</a:t>
            </a:r>
            <a:r>
              <a:rPr/>
              <a:t>: load the ACLED export (CSV file) as a data frame.</a:t>
            </a:r>
          </a:p>
          <a:p>
            <a:pPr lvl="0"/>
            <a:r>
              <a:rPr>
                <a:latin typeface="Courier"/>
              </a:rPr>
              <a:t>count()</a:t>
            </a:r>
            <a:r>
              <a:rPr/>
              <a:t> or </a:t>
            </a:r>
            <a:r>
              <a:rPr>
                <a:latin typeface="Courier"/>
              </a:rPr>
              <a:t>group_by() + summarise()</a:t>
            </a:r>
            <a:r>
              <a:rPr/>
              <a:t>: count events by type, by region, or by year.</a:t>
            </a:r>
          </a:p>
          <a:p>
            <a:pPr lvl="0"/>
            <a:r>
              <a:rPr>
                <a:latin typeface="Courier"/>
              </a:rPr>
              <a:t>st_as_sf(coords = c("longitude", "latitude"))</a:t>
            </a:r>
            <a:r>
              <a:rPr/>
              <a:t>: turn the table into a spatial layer, using the two coordinate columns.</a:t>
            </a:r>
          </a:p>
          <a:p>
            <a:pPr lvl="0"/>
            <a:r>
              <a:rPr>
                <a:latin typeface="Courier"/>
              </a:rPr>
              <a:t>tm_shape() + tm_dots()</a:t>
            </a:r>
            <a:r>
              <a:rPr/>
              <a:t>: display events as points on a map; </a:t>
            </a:r>
            <a:r>
              <a:rPr>
                <a:latin typeface="Courier"/>
              </a:rPr>
              <a:t>tm_shape() + tm_polygons()</a:t>
            </a:r>
            <a:r>
              <a:rPr/>
              <a:t> for a choropleth map by region.</a:t>
            </a:r>
          </a:p>
          <a:p>
            <a:pPr lvl="0"/>
            <a:r>
              <a:rPr>
                <a:latin typeface="Courier"/>
              </a:rPr>
              <a:t>st_join()</a:t>
            </a:r>
            <a:r>
              <a:rPr/>
              <a:t>: attach each event to the administrative region it falls within (spatial join).</a:t>
            </a:r>
          </a:p>
          <a:p>
            <a:pPr lvl="0"/>
            <a:r>
              <a:rPr>
                <a:latin typeface="Courier"/>
              </a:rPr>
              <a:t>acledR::acled_api()</a:t>
            </a:r>
            <a:r>
              <a:rPr/>
              <a:t>: call the ACLED API directly from R, as an alternative to an already-downloaded CSV file.</a:t>
            </a:r>
          </a:p>
        </p:txBody>
      </p:sp>
    </p:spTree>
  </p:cSl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Atelier R Exercice 2 : ERA5, température au Cameroun</a:t>
            </a:r>
          </a:p>
        </p:txBody>
      </p:sp>
      <p:sp>
        <p:nvSpPr>
          <p:cNvPr id="3" name="Content Placeholder 2"/>
          <p:cNvSpPr>
            <a:spLocks noGrp="1"/>
          </p:cNvSpPr>
          <p:nvPr>
            <p:ph idx="1"/>
          </p:nvPr>
        </p:nvSpPr>
        <p:spPr/>
        <p:txBody>
          <a:bodyPr/>
          <a:lstStyle/>
          <a:p>
            <a:pPr lvl="0" indent="0" marL="0">
              <a:buNone/>
            </a:pPr>
            <a:r>
              <a:rPr/>
              <a:t>ERA5 : réanalyse atmosphérique de l’ECMWF, accessible via le Copernicus Climate Data Store (résolution ~31 km, 1940 à aujourd’hui).</a:t>
            </a:r>
          </a:p>
          <a:p>
            <a:pPr lvl="0"/>
            <a:r>
              <a:rPr/>
              <a:t>Lire un fichier NetCDF ERA5 avec terra et explorer sa structure temporelle.</a:t>
            </a:r>
          </a:p>
          <a:p>
            <a:pPr lvl="0"/>
            <a:r>
              <a:rPr/>
              <a:t>Convertir les températures de Kelvin en Celsius et découper le raster sur le Cameroun.</a:t>
            </a:r>
          </a:p>
          <a:p>
            <a:pPr lvl="0"/>
            <a:r>
              <a:rPr/>
              <a:t>Extraire la température moyenne par région avec exactextractr.</a:t>
            </a:r>
          </a:p>
          <a:p>
            <a:pPr lvl="0"/>
            <a:r>
              <a:rPr/>
              <a:t>Visualiser la série temporelle nationale, la saisonnalité mensuelle et une carte d’anomalie.</a:t>
            </a:r>
          </a:p>
        </p:txBody>
      </p:sp>
    </p:spTree>
  </p:cSl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 Workshop Exercise 2: ERA5, temperature in Cameroon</a:t>
            </a:r>
          </a:p>
        </p:txBody>
      </p:sp>
      <p:sp>
        <p:nvSpPr>
          <p:cNvPr id="3" name="Content Placeholder 2"/>
          <p:cNvSpPr>
            <a:spLocks noGrp="1"/>
          </p:cNvSpPr>
          <p:nvPr>
            <p:ph idx="1"/>
          </p:nvPr>
        </p:nvSpPr>
        <p:spPr/>
        <p:txBody>
          <a:bodyPr/>
          <a:lstStyle/>
          <a:p>
            <a:pPr lvl="0" indent="0" marL="0">
              <a:buNone/>
            </a:pPr>
            <a:r>
              <a:rPr/>
              <a:t>ERA5: an ECMWF atmospheric reanalysis, accessible via the Copernicus Climate Data Store (resolution ~31 km, 1940 to present).</a:t>
            </a:r>
          </a:p>
          <a:p>
            <a:pPr lvl="0"/>
            <a:r>
              <a:rPr/>
              <a:t>Read an ERA5 NetCDF file with terra and explore its temporal structure.</a:t>
            </a:r>
          </a:p>
          <a:p>
            <a:pPr lvl="0"/>
            <a:r>
              <a:rPr/>
              <a:t>Convert temperatures from Kelvin to Celsius and crop the raster to Cameroon.</a:t>
            </a:r>
          </a:p>
          <a:p>
            <a:pPr lvl="0"/>
            <a:r>
              <a:rPr/>
              <a:t>Extract mean temperature by region with exactextractr.</a:t>
            </a:r>
          </a:p>
          <a:p>
            <a:pPr lvl="0"/>
            <a:r>
              <a:rPr/>
              <a:t>Visualise the national time series, monthly seasonality, and an anomaly map.</a:t>
            </a:r>
          </a:p>
        </p:txBody>
      </p:sp>
    </p:spTree>
  </p:cSl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Atelier R Exercice 2 : les données ERA5</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Produit utilisé : </a:t>
                </a:r>
                <a:r>
                  <a:rPr i="1"/>
                  <a:t>ERA5 Single Levels Monthly Means</a:t>
                </a:r>
                <a:r>
                  <a:rPr/>
                  <a:t>, variable </a:t>
                </a:r>
                <a:r>
                  <a:rPr>
                    <a:latin typeface="Courier"/>
                  </a:rPr>
                  <a:t>2m_temperature</a:t>
                </a:r>
                <a:r>
                  <a:rPr/>
                  <a:t> (température à 2 m du sol, moyenne mensuelle).</a:t>
                </a:r>
              </a:p>
              <a:p>
                <a:pPr lvl="0"/>
                <a:r>
                  <a:rPr/>
                  <a:t>Format </a:t>
                </a:r>
                <a:r>
                  <a:rPr b="1"/>
                  <a:t>NetCDF</a:t>
                </a:r>
                <a:r>
                  <a:rPr/>
                  <a:t> : un seul fichier contient plusieurs couches (une par mois), organisées selon trois dimensions : longitude, latitude et temps.</a:t>
                </a:r>
              </a:p>
              <a:p>
                <a:pPr lvl="0"/>
                <a:r>
                  <a:rPr/>
                  <a:t>Les températures sont fournies en Kelvin : il faut toujours convertir en Celsius avant de les interpréter (</a:t>
                </a:r>
                <a14:m>
                  <m:oMath xmlns:m="http://schemas.openxmlformats.org/officeDocument/2006/math">
                    <m:sSub>
                      <m:e>
                        <m:r>
                          <m:t>T</m:t>
                        </m:r>
                      </m:e>
                      <m:sub>
                        <m:r>
                          <m:rPr>
                            <m:sty m:val="p"/>
                          </m:rPr>
                          <m:t>°</m:t>
                        </m:r>
                        <m:r>
                          <m:t>C</m:t>
                        </m:r>
                      </m:sub>
                    </m:sSub>
                    <m:r>
                      <m:rPr>
                        <m:sty m:val="p"/>
                      </m:rPr>
                      <m:t>=</m:t>
                    </m:r>
                    <m:sSub>
                      <m:e>
                        <m:r>
                          <m:t>T</m:t>
                        </m:r>
                      </m:e>
                      <m:sub>
                        <m:r>
                          <m:t>K</m:t>
                        </m:r>
                      </m:sub>
                    </m:sSub>
                    <m:r>
                      <m:rPr>
                        <m:sty m:val="p"/>
                      </m:rPr>
                      <m:t>−</m:t>
                    </m:r>
                    <m:r>
                      <m:t>273</m:t>
                    </m:r>
                    <m:r>
                      <m:rPr>
                        <m:sty m:val="p"/>
                      </m:rPr>
                      <m:t>,</m:t>
                    </m:r>
                    <m:r>
                      <m:t>15</m:t>
                    </m:r>
                  </m:oMath>
                </a14:m>
                <a:r>
                  <a:rPr/>
                  <a:t>).</a:t>
                </a:r>
              </a:p>
              <a:p>
                <a:pPr lvl="0"/>
                <a:r>
                  <a:rPr/>
                  <a:t>Accès : compte gratuit sur </a:t>
                </a:r>
                <a:r>
                  <a:rPr>
                    <a:hlinkClick r:id="rId2"/>
                  </a:rPr>
                  <a:t>cds.climate.copernicus.eu</a:t>
                </a:r>
                <a:r>
                  <a:rPr/>
                  <a:t> ; identifiants (UID + clé API) stockés dans </a:t>
                </a:r>
                <a:r>
                  <a:rPr>
                    <a:latin typeface="Courier"/>
                  </a:rPr>
                  <a:t>.env</a:t>
                </a:r>
                <a:r>
                  <a:rPr/>
                  <a:t> ; requêtes envoyées depuis R avec le package </a:t>
                </a:r>
                <a:r>
                  <a:rPr>
                    <a:latin typeface="Courier"/>
                  </a:rPr>
                  <a:t>ecmwfr</a:t>
                </a:r>
                <a:r>
                  <a:rPr/>
                  <a:t>.</a:t>
                </a:r>
              </a:p>
              <a:p>
                <a:pPr lvl="0"/>
                <a:r>
                  <a:rPr/>
                  <a:t>Script complet d’appel API (authentification </a:t>
                </a:r>
                <a:r>
                  <a:rPr>
                    <a:latin typeface="Courier"/>
                  </a:rPr>
                  <a:t>.env</a:t>
                </a:r>
                <a:r>
                  <a:rPr/>
                  <a:t>, repli sur NetCDF local) : </a:t>
                </a:r>
                <a:r>
                  <a:rPr>
                    <a:latin typeface="Courier"/>
                  </a:rPr>
                  <a:t>scripts_formateurs/jour_09_formateur_ecmwf_api.R</a:t>
                </a:r>
                <a:r>
                  <a:rPr/>
                  <a:t>.</a:t>
                </a:r>
              </a:p>
            </p:txBody>
          </p:sp>
        </mc:Choice>
      </mc:AlternateContent>
    </p:spTree>
  </p:cSl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 Workshop Exercise 2: the ERA5 data</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Product used: </a:t>
                </a:r>
                <a:r>
                  <a:rPr i="1"/>
                  <a:t>ERA5 Single Levels Monthly Means</a:t>
                </a:r>
                <a:r>
                  <a:rPr/>
                  <a:t>, variable </a:t>
                </a:r>
                <a:r>
                  <a:rPr>
                    <a:latin typeface="Courier"/>
                  </a:rPr>
                  <a:t>2m_temperature</a:t>
                </a:r>
                <a:r>
                  <a:rPr/>
                  <a:t> (temperature at 2 m above ground, monthly mean).</a:t>
                </a:r>
              </a:p>
              <a:p>
                <a:pPr lvl="0"/>
                <a:r>
                  <a:rPr b="1"/>
                  <a:t>NetCDF</a:t>
                </a:r>
                <a:r>
                  <a:rPr/>
                  <a:t> format: a single file contains several layers (one per month), organised along three dimensions: longitude, latitude and time.</a:t>
                </a:r>
              </a:p>
              <a:p>
                <a:pPr lvl="0"/>
                <a:r>
                  <a:rPr/>
                  <a:t>Temperatures are provided in Kelvin: they must always be converted to Celsius before interpretation (</a:t>
                </a:r>
                <a14:m>
                  <m:oMath xmlns:m="http://schemas.openxmlformats.org/officeDocument/2006/math">
                    <m:sSub>
                      <m:e>
                        <m:r>
                          <m:t>T</m:t>
                        </m:r>
                      </m:e>
                      <m:sub>
                        <m:r>
                          <m:rPr>
                            <m:sty m:val="p"/>
                          </m:rPr>
                          <m:t>°</m:t>
                        </m:r>
                        <m:r>
                          <m:t>C</m:t>
                        </m:r>
                      </m:sub>
                    </m:sSub>
                    <m:r>
                      <m:rPr>
                        <m:sty m:val="p"/>
                      </m:rPr>
                      <m:t>=</m:t>
                    </m:r>
                    <m:sSub>
                      <m:e>
                        <m:r>
                          <m:t>T</m:t>
                        </m:r>
                      </m:e>
                      <m:sub>
                        <m:r>
                          <m:t>K</m:t>
                        </m:r>
                      </m:sub>
                    </m:sSub>
                    <m:r>
                      <m:rPr>
                        <m:sty m:val="p"/>
                      </m:rPr>
                      <m:t>−</m:t>
                    </m:r>
                    <m:r>
                      <m:t>273</m:t>
                    </m:r>
                    <m:r>
                      <m:rPr>
                        <m:sty m:val="p"/>
                      </m:rPr>
                      <m:t>,</m:t>
                    </m:r>
                    <m:r>
                      <m:t>15</m:t>
                    </m:r>
                  </m:oMath>
                </a14:m>
                <a:r>
                  <a:rPr/>
                  <a:t>).</a:t>
                </a:r>
              </a:p>
              <a:p>
                <a:pPr lvl="0"/>
                <a:r>
                  <a:rPr/>
                  <a:t>Access: free account at </a:t>
                </a:r>
                <a:r>
                  <a:rPr>
                    <a:hlinkClick r:id="rId2"/>
                  </a:rPr>
                  <a:t>cds.climate.copernicus.eu</a:t>
                </a:r>
                <a:r>
                  <a:rPr/>
                  <a:t>; credentials (UID + API key) stored in </a:t>
                </a:r>
                <a:r>
                  <a:rPr>
                    <a:latin typeface="Courier"/>
                  </a:rPr>
                  <a:t>.env</a:t>
                </a:r>
                <a:r>
                  <a:rPr/>
                  <a:t>; requests sent from R with the </a:t>
                </a:r>
                <a:r>
                  <a:rPr>
                    <a:latin typeface="Courier"/>
                  </a:rPr>
                  <a:t>ecmwfr</a:t>
                </a:r>
                <a:r>
                  <a:rPr/>
                  <a:t> package.</a:t>
                </a:r>
              </a:p>
              <a:p>
                <a:pPr lvl="0"/>
                <a:r>
                  <a:rPr/>
                  <a:t>Complete API-call script (</a:t>
                </a:r>
                <a:r>
                  <a:rPr>
                    <a:latin typeface="Courier"/>
                  </a:rPr>
                  <a:t>.env</a:t>
                </a:r>
                <a:r>
                  <a:rPr/>
                  <a:t> authentication, fallback to a local NetCDF file): </a:t>
                </a:r>
                <a:r>
                  <a:rPr>
                    <a:latin typeface="Courier"/>
                  </a:rPr>
                  <a:t>scripts_formateurs/jour_09_formateur_ecmwf_api_en.R</a:t>
                </a:r>
                <a:r>
                  <a:rPr/>
                  <a:t>.</a:t>
                </a:r>
              </a:p>
            </p:txBody>
          </p:sp>
        </mc:Choice>
      </mc:AlternateContent>
    </p:spTree>
  </p:cSl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Atelier R Exercice 2 : fonctions clés</a:t>
            </a:r>
          </a:p>
        </p:txBody>
      </p:sp>
      <p:sp>
        <p:nvSpPr>
          <p:cNvPr id="3" name="Content Placeholder 2"/>
          <p:cNvSpPr>
            <a:spLocks noGrp="1"/>
          </p:cNvSpPr>
          <p:nvPr>
            <p:ph idx="1"/>
          </p:nvPr>
        </p:nvSpPr>
        <p:spPr/>
        <p:txBody>
          <a:bodyPr/>
          <a:lstStyle/>
          <a:p>
            <a:pPr lvl="0"/>
            <a:r>
              <a:rPr>
                <a:latin typeface="Courier"/>
              </a:rPr>
              <a:t>rast()</a:t>
            </a:r>
            <a:r>
              <a:rPr/>
              <a:t> : lire le fichier NetCDF avec terra, qui charge automatiquement toutes les couches (tous les mois).</a:t>
            </a:r>
          </a:p>
          <a:p>
            <a:pPr lvl="0"/>
            <a:r>
              <a:rPr>
                <a:latin typeface="Courier"/>
              </a:rPr>
              <a:t>nlyr()</a:t>
            </a:r>
            <a:r>
              <a:rPr/>
              <a:t>, </a:t>
            </a:r>
            <a:r>
              <a:rPr>
                <a:latin typeface="Courier"/>
              </a:rPr>
              <a:t>res()</a:t>
            </a:r>
            <a:r>
              <a:rPr/>
              <a:t>, </a:t>
            </a:r>
            <a:r>
              <a:rPr>
                <a:latin typeface="Courier"/>
              </a:rPr>
              <a:t>time()</a:t>
            </a:r>
            <a:r>
              <a:rPr/>
              <a:t> : consulter respectivement le nombre de couches, la résolution spatiale et les dates de chaque couche.</a:t>
            </a:r>
          </a:p>
          <a:p>
            <a:pPr lvl="0"/>
            <a:r>
              <a:rPr>
                <a:latin typeface="Courier"/>
              </a:rPr>
              <a:t>crop()</a:t>
            </a:r>
            <a:r>
              <a:rPr/>
              <a:t> puis </a:t>
            </a:r>
            <a:r>
              <a:rPr>
                <a:latin typeface="Courier"/>
              </a:rPr>
              <a:t>mask()</a:t>
            </a:r>
            <a:r>
              <a:rPr/>
              <a:t> : découper le raster sur le contour du Cameroun.</a:t>
            </a:r>
          </a:p>
          <a:p>
            <a:pPr lvl="0"/>
            <a:r>
              <a:rPr>
                <a:latin typeface="Courier"/>
              </a:rPr>
              <a:t>exact_extract(..., "mean")</a:t>
            </a:r>
            <a:r>
              <a:rPr/>
              <a:t> : calculer la température moyenne par région, pour chaque couche (chaque mois) en une seule commande.</a:t>
            </a:r>
          </a:p>
          <a:p>
            <a:pPr lvl="0"/>
            <a:r>
              <a:rPr>
                <a:latin typeface="Courier"/>
              </a:rPr>
              <a:t>pivot_longer()</a:t>
            </a:r>
            <a:r>
              <a:rPr/>
              <a:t> : réorganiser un tableau où chaque mois est une colonne en un tableau où chaque ligne est une combinaison région-mois, plus facile à représenter avec ggplot2.</a:t>
            </a:r>
          </a:p>
          <a:p>
            <a:pPr lvl="0"/>
            <a:r>
              <a:rPr>
                <a:latin typeface="Courier"/>
              </a:rPr>
              <a:t>ecmwfr::wf_request()</a:t>
            </a:r>
            <a:r>
              <a:rPr/>
              <a:t> : soumettre une requête à l’API Copernicus CDS et télécharger le résultat, en alternative à un fichier NetCDF déjà présent localement.</a:t>
            </a:r>
          </a:p>
        </p:txBody>
      </p:sp>
    </p:spTree>
  </p:cSl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 Workshop Exercise 2: key functions</a:t>
            </a:r>
          </a:p>
        </p:txBody>
      </p:sp>
      <p:sp>
        <p:nvSpPr>
          <p:cNvPr id="3" name="Content Placeholder 2"/>
          <p:cNvSpPr>
            <a:spLocks noGrp="1"/>
          </p:cNvSpPr>
          <p:nvPr>
            <p:ph idx="1"/>
          </p:nvPr>
        </p:nvSpPr>
        <p:spPr/>
        <p:txBody>
          <a:bodyPr/>
          <a:lstStyle/>
          <a:p>
            <a:pPr lvl="0"/>
            <a:r>
              <a:rPr>
                <a:latin typeface="Courier"/>
              </a:rPr>
              <a:t>rast()</a:t>
            </a:r>
            <a:r>
              <a:rPr/>
              <a:t>: read the NetCDF file with terra, which automatically loads all layers (all months).</a:t>
            </a:r>
          </a:p>
          <a:p>
            <a:pPr lvl="0"/>
            <a:r>
              <a:rPr>
                <a:latin typeface="Courier"/>
              </a:rPr>
              <a:t>nlyr()</a:t>
            </a:r>
            <a:r>
              <a:rPr/>
              <a:t>, </a:t>
            </a:r>
            <a:r>
              <a:rPr>
                <a:latin typeface="Courier"/>
              </a:rPr>
              <a:t>res()</a:t>
            </a:r>
            <a:r>
              <a:rPr/>
              <a:t>, </a:t>
            </a:r>
            <a:r>
              <a:rPr>
                <a:latin typeface="Courier"/>
              </a:rPr>
              <a:t>time()</a:t>
            </a:r>
            <a:r>
              <a:rPr/>
              <a:t>: check, respectively, the number of layers, the spatial resolution, and the date of each layer.</a:t>
            </a:r>
          </a:p>
          <a:p>
            <a:pPr lvl="0"/>
            <a:r>
              <a:rPr>
                <a:latin typeface="Courier"/>
              </a:rPr>
              <a:t>crop()</a:t>
            </a:r>
            <a:r>
              <a:rPr/>
              <a:t> then </a:t>
            </a:r>
            <a:r>
              <a:rPr>
                <a:latin typeface="Courier"/>
              </a:rPr>
              <a:t>mask()</a:t>
            </a:r>
            <a:r>
              <a:rPr/>
              <a:t>: crop the raster to the outline of Cameroon.</a:t>
            </a:r>
          </a:p>
          <a:p>
            <a:pPr lvl="0"/>
            <a:r>
              <a:rPr>
                <a:latin typeface="Courier"/>
              </a:rPr>
              <a:t>exact_extract(..., "mean")</a:t>
            </a:r>
            <a:r>
              <a:rPr/>
              <a:t>: calculate mean temperature by region, for every layer (every month), in a single command.</a:t>
            </a:r>
          </a:p>
          <a:p>
            <a:pPr lvl="0"/>
            <a:r>
              <a:rPr>
                <a:latin typeface="Courier"/>
              </a:rPr>
              <a:t>pivot_longer()</a:t>
            </a:r>
            <a:r>
              <a:rPr/>
              <a:t>: reshape a table where each month is a column into a table where each row is a region-month combination, easier to plot with ggplot2.</a:t>
            </a:r>
          </a:p>
          <a:p>
            <a:pPr lvl="0"/>
            <a:r>
              <a:rPr>
                <a:latin typeface="Courier"/>
              </a:rPr>
              <a:t>ecmwfr::wf_request()</a:t>
            </a:r>
            <a:r>
              <a:rPr/>
              <a:t>: submit a request to the Copernicus CDS API and download the result, as an alternative to an already-present local NetCDF file.</a:t>
            </a:r>
          </a:p>
        </p:txBody>
      </p:sp>
    </p:spTree>
  </p:cSl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Atelier R Exercice 3 : petits domaines, de l’estimation directe à l’estimation lissée</a:t>
            </a:r>
          </a:p>
        </p:txBody>
      </p:sp>
      <p:sp>
        <p:nvSpPr>
          <p:cNvPr id="3" name="Content Placeholder 2"/>
          <p:cNvSpPr>
            <a:spLocks noGrp="1"/>
          </p:cNvSpPr>
          <p:nvPr>
            <p:ph idx="1"/>
          </p:nvPr>
        </p:nvSpPr>
        <p:spPr/>
        <p:txBody>
          <a:bodyPr/>
          <a:lstStyle/>
          <a:p>
            <a:pPr lvl="0"/>
            <a:r>
              <a:rPr/>
              <a:t>Une enquête nationale (EHCVM) donne une estimation fiable au niveau national, mais très bruitée dans les communes où peu de ménages ont été enquêtés.</a:t>
            </a:r>
          </a:p>
          <a:p>
            <a:pPr lvl="0"/>
            <a:r>
              <a:rPr/>
              <a:t>L’estimation en petits domaines (</a:t>
            </a:r>
            <a:r>
              <a:rPr i="1"/>
              <a:t>Small Area Estimation</a:t>
            </a:r>
            <a:r>
              <a:rPr/>
              <a:t>, SAE) « emprunte de la force » aux autres communes, via une covariable auxiliaire, pour stabiliser l’estimation dans les communes les moins bien échantillonnées.</a:t>
            </a:r>
          </a:p>
          <a:p>
            <a:pPr lvl="0"/>
            <a:r>
              <a:rPr/>
              <a:t>Exercice : comparer, commune par commune du Bénin, l’estimation directe de l’insécurité alimentaire (EHCVM 2018-2019) à son équivalent lissé par un modèle de Fay-Herriot - puis </a:t>
            </a:r>
            <a:r>
              <a:rPr b="1"/>
              <a:t>prédire à l’échelle d’une grille de 3 km</a:t>
            </a:r>
            <a:r>
              <a:rPr/>
              <a:t>, plus fine que l’enquête elle-même.</a:t>
            </a:r>
          </a:p>
          <a:p>
            <a:pPr lvl="0"/>
            <a:r>
              <a:rPr/>
              <a:t>Prolonge directement la partie théorique 2 (modélisation géospatiale) : Golding et al. et Wakefield et al. appliquent le même principe à bien plus grande échelle.</a:t>
            </a:r>
          </a:p>
        </p:txBody>
      </p:sp>
    </p:spTree>
  </p:cSl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 Workshop Exercise 3: small area estimation, from direct to smoothed estimate</a:t>
            </a:r>
          </a:p>
        </p:txBody>
      </p:sp>
      <p:sp>
        <p:nvSpPr>
          <p:cNvPr id="3" name="Content Placeholder 2"/>
          <p:cNvSpPr>
            <a:spLocks noGrp="1"/>
          </p:cNvSpPr>
          <p:nvPr>
            <p:ph idx="1"/>
          </p:nvPr>
        </p:nvSpPr>
        <p:spPr/>
        <p:txBody>
          <a:bodyPr/>
          <a:lstStyle/>
          <a:p>
            <a:pPr lvl="0"/>
            <a:r>
              <a:rPr/>
              <a:t>A national survey (EHCVM) gives a reliable national-level estimate, but a very noisy one in communes where few households were surveyed.</a:t>
            </a:r>
          </a:p>
          <a:p>
            <a:pPr lvl="0"/>
            <a:r>
              <a:rPr/>
              <a:t>Small Area Estimation (SAE) “borrows strength” from other communes, via an auxiliary covariate, to stabilise the estimate in the least well-sampled communes.</a:t>
            </a:r>
          </a:p>
          <a:p>
            <a:pPr lvl="0"/>
            <a:r>
              <a:rPr/>
              <a:t>Exercise: compare, commune by commune in Benin, the direct estimate of food insecurity (EHCVM 2018-2019) with its smoothed equivalent from a Fay-Herriot model, then </a:t>
            </a:r>
            <a:r>
              <a:rPr b="1"/>
              <a:t>predict at the scale of a 3 km grid</a:t>
            </a:r>
            <a:r>
              <a:rPr/>
              <a:t>, finer than the survey itself.</a:t>
            </a:r>
          </a:p>
          <a:p>
            <a:pPr lvl="0"/>
            <a:r>
              <a:rPr/>
              <a:t>Directly extends theoretical part 2 (geospatial modelling): Golding et al. and Wakefield et al. apply the same principle at a much larger scale.</a:t>
            </a:r>
          </a:p>
        </p:txBody>
      </p:sp>
    </p:spTree>
  </p:cSl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Atelier R Exercice 3 : le principe du modèle de Fay-Herriot</a:t>
            </a:r>
          </a:p>
        </p:txBody>
      </p:sp>
      <p:sp>
        <p:nvSpPr>
          <p:cNvPr id="3" name="Content Placeholder 2"/>
          <p:cNvSpPr>
            <a:spLocks noGrp="1"/>
          </p:cNvSpPr>
          <p:nvPr>
            <p:ph idx="1"/>
          </p:nvPr>
        </p:nvSpPr>
        <p:spPr/>
        <p:txBody>
          <a:bodyPr/>
          <a:lstStyle/>
          <a:p>
            <a:pPr lvl="0"/>
            <a:r>
              <a:rPr/>
              <a:t>Pour chaque commune i, on observe une estimation directe p_i et sa variance d’échantillonnage psi_i (grande si peu de ménages enquêtés).</a:t>
            </a:r>
          </a:p>
          <a:p>
            <a:pPr lvl="0"/>
            <a:r>
              <a:rPr/>
              <a:t>Modèle de Fay-Herriot (1979) : p_i = x_i * beta + u_i + e_i, où u_i est la variance entre communes (à estimer) et e_i la variance d’échantillonnage (connue ou approximée).</a:t>
            </a:r>
          </a:p>
          <a:p>
            <a:pPr lvl="0"/>
            <a:r>
              <a:rPr/>
              <a:t>L’estimateur lissé (EBLUP) est une moyenne pondérée entre l’estimation directe p_i et la prédiction du modèle :</a:t>
            </a:r>
          </a:p>
          <a:p>
            <a:pPr lvl="1"/>
            <a:r>
              <a:rPr/>
              <a:t>commune peu échantillonnée (psi_i grand) : estimation tirée vers le modèle ;</a:t>
            </a:r>
          </a:p>
          <a:p>
            <a:pPr lvl="1"/>
            <a:r>
              <a:rPr/>
              <a:t>commune bien échantillonnée (psi_i petit) : estimation directe conservée presque telle quelle.</a:t>
            </a:r>
          </a:p>
          <a:p>
            <a:pPr lvl="0"/>
            <a:r>
              <a:rPr/>
              <a:t>Package R : </a:t>
            </a:r>
            <a:r>
              <a:rPr>
                <a:latin typeface="Courier"/>
              </a:rPr>
              <a:t>sae</a:t>
            </a:r>
            <a:r>
              <a:rPr/>
              <a:t>, fonction </a:t>
            </a:r>
            <a:r>
              <a:rPr>
                <a:latin typeface="Courier"/>
              </a:rPr>
              <a:t>mseFH()</a:t>
            </a:r>
            <a:r>
              <a:rPr/>
              <a:t>, ajuste le modèle et calcule l’erreur quadratique moyenne (EQM) de chaque estimation lissée. La formule peut inclure plusieurs covariables à la fois.</a:t>
            </a:r>
          </a:p>
          <a:p>
            <a:pPr lvl="0"/>
            <a:r>
              <a:rPr/>
              <a:t>Important : le modèle reste au même niveau géographique que l’estimation directe (ici, la commune) - “small area” fait référence à la taille de l’échantillon, pas à la résolution spatiale. Aller plus fin que la commune demande une étape supplémentaire (voir dernière diapo de cet atelier).</a:t>
            </a:r>
          </a:p>
        </p:txBody>
      </p:sp>
    </p:spTree>
  </p:cSl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 Workshop Exercise 3: the principle of the Fay-Herriot model</a:t>
            </a:r>
          </a:p>
        </p:txBody>
      </p:sp>
      <p:sp>
        <p:nvSpPr>
          <p:cNvPr id="3" name="Content Placeholder 2"/>
          <p:cNvSpPr>
            <a:spLocks noGrp="1"/>
          </p:cNvSpPr>
          <p:nvPr>
            <p:ph idx="1"/>
          </p:nvPr>
        </p:nvSpPr>
        <p:spPr/>
        <p:txBody>
          <a:bodyPr/>
          <a:lstStyle/>
          <a:p>
            <a:pPr lvl="0"/>
            <a:r>
              <a:rPr/>
              <a:t>For each commune i, we observe a direct estimate p_i and its sampling variance psi_i (large if few households were surveyed).</a:t>
            </a:r>
          </a:p>
          <a:p>
            <a:pPr lvl="0"/>
            <a:r>
              <a:rPr/>
              <a:t>Fay-Herriot model (1979): p_i = x_i * beta + u_i + e_i, where u_i is the between-commune variance (to be estimated) and e_i the sampling variance (known or approximated).</a:t>
            </a:r>
          </a:p>
          <a:p>
            <a:pPr lvl="0"/>
            <a:r>
              <a:rPr/>
              <a:t>The smoothed estimator (EBLUP) is a weighted average between the direct estimate p_i and the model’s prediction:</a:t>
            </a:r>
          </a:p>
          <a:p>
            <a:pPr lvl="1"/>
            <a:r>
              <a:rPr/>
              <a:t>poorly sampled commune (large psi_i): estimate pulled towards the model;</a:t>
            </a:r>
          </a:p>
          <a:p>
            <a:pPr lvl="1"/>
            <a:r>
              <a:rPr/>
              <a:t>well-sampled commune (small psi_i): direct estimate kept nearly as is.</a:t>
            </a:r>
          </a:p>
          <a:p>
            <a:pPr lvl="0"/>
            <a:r>
              <a:rPr/>
              <a:t>R package: </a:t>
            </a:r>
            <a:r>
              <a:rPr>
                <a:latin typeface="Courier"/>
              </a:rPr>
              <a:t>sae</a:t>
            </a:r>
            <a:r>
              <a:rPr/>
              <a:t>, function </a:t>
            </a:r>
            <a:r>
              <a:rPr>
                <a:latin typeface="Courier"/>
              </a:rPr>
              <a:t>mseFH()</a:t>
            </a:r>
            <a:r>
              <a:rPr/>
              <a:t>, fits the model and calculates the mean squared error (MSE) of each smoothed estimate. The formula can include several covariates at once.</a:t>
            </a:r>
          </a:p>
          <a:p>
            <a:pPr lvl="0"/>
            <a:r>
              <a:rPr/>
              <a:t>Important: the model stays at the same geographic level as the direct estimate (here, the commune); “small area” refers to the sample size, not the spatial resolution. Going finer than the commune requires an extra step (see the last slide of this workshop).</a:t>
            </a:r>
          </a:p>
        </p:txBody>
      </p:sp>
    </p:spTree>
  </p:cSl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Atelier R Exercice 3 : les données mobilisées</a:t>
            </a:r>
          </a:p>
        </p:txBody>
      </p:sp>
      <p:sp>
        <p:nvSpPr>
          <p:cNvPr id="3" name="Content Placeholder 2"/>
          <p:cNvSpPr>
            <a:spLocks noGrp="1"/>
          </p:cNvSpPr>
          <p:nvPr>
            <p:ph idx="1"/>
          </p:nvPr>
        </p:nvSpPr>
        <p:spPr/>
        <p:txBody>
          <a:bodyPr/>
          <a:lstStyle/>
          <a:p>
            <a:pPr lvl="0"/>
            <a:r>
              <a:rPr b="1"/>
              <a:t>Estimation directe</a:t>
            </a:r>
            <a:r>
              <a:rPr/>
              <a:t> : part des ménages en insécurité alimentaire, par commune, Enquête Harmonisée sur les Conditions de Vie des Ménages (EHCVM) 2018-2019, Bénin (</a:t>
            </a:r>
            <a:r>
              <a:rPr>
                <a:hlinkClick r:id="rId2"/>
              </a:rPr>
              <a:t>microdata.worldbank.org</a:t>
            </a:r>
            <a:r>
              <a:rPr/>
              <a:t>). Calculée avec le package </a:t>
            </a:r>
            <a:r>
              <a:rPr>
                <a:latin typeface="Courier"/>
              </a:rPr>
              <a:t>survey</a:t>
            </a:r>
            <a:r>
              <a:rPr/>
              <a:t> (poids d’enquête + grappes) - une vraie erreur-type, pas une approximation.</a:t>
            </a:r>
          </a:p>
          <a:p>
            <a:pPr lvl="0"/>
            <a:r>
              <a:rPr b="1"/>
              <a:t>Sélection des covariables</a:t>
            </a:r>
            <a:r>
              <a:rPr/>
              <a:t> : criblage de corrélation parmi 9 covariables géospatiales candidates (Google Earth Engine), toutes disponibles à la fois par commune et sur une grille de 3 km x 3 km (~15 400 cellules - à ne pas confondre avec les rasters de population à 100 m du Jour 7) ; retenues : part de terres urbaines et part de savane boisée (occupation du sol MODIS).</a:t>
            </a:r>
          </a:p>
          <a:p>
            <a:pPr lvl="0"/>
            <a:r>
              <a:rPr b="1"/>
              <a:t>Source et remerciements</a:t>
            </a:r>
            <a:r>
              <a:rPr/>
              <a:t> : données ménages, covariables et code d’extraction adaptés du dépôt </a:t>
            </a:r>
            <a:r>
              <a:rPr>
                <a:hlinkClick r:id="rId3"/>
              </a:rPr>
              <a:t>github.com/JoshMerfeld/saereplication</a:t>
            </a:r>
            <a:r>
              <a:rPr/>
              <a:t> (Josh Merfeld, University of Queensland) - merci à l’auteur d’avoir rendu ce matériel public. Le dépôt original utilise un modèle plus riche (EBP unitaire, package </a:t>
            </a:r>
            <a:r>
              <a:rPr>
                <a:latin typeface="Courier"/>
              </a:rPr>
              <a:t>povmap</a:t>
            </a:r>
            <a:r>
              <a:rPr/>
              <a:t>) ; ce TD simplifie volontairement vers un modèle d’aire (Fay-Herriot) à but pédagogique.</a:t>
            </a:r>
          </a:p>
        </p:txBody>
      </p:sp>
    </p:spTree>
  </p:cSl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 Workshop Exercise 3: the data used</a:t>
            </a:r>
          </a:p>
        </p:txBody>
      </p:sp>
      <p:sp>
        <p:nvSpPr>
          <p:cNvPr id="3" name="Content Placeholder 2"/>
          <p:cNvSpPr>
            <a:spLocks noGrp="1"/>
          </p:cNvSpPr>
          <p:nvPr>
            <p:ph idx="1"/>
          </p:nvPr>
        </p:nvSpPr>
        <p:spPr/>
        <p:txBody>
          <a:bodyPr/>
          <a:lstStyle/>
          <a:p>
            <a:pPr lvl="0"/>
            <a:r>
              <a:rPr b="1"/>
              <a:t>Direct estimate</a:t>
            </a:r>
            <a:r>
              <a:rPr/>
              <a:t>: share of households in food insecurity, by commune, Enquête Harmonisée sur les Conditions de Vie des Ménages (EHCVM) 2018-2019, Benin (</a:t>
            </a:r>
            <a:r>
              <a:rPr>
                <a:hlinkClick r:id="rId2"/>
              </a:rPr>
              <a:t>microdata.worldbank.org</a:t>
            </a:r>
            <a:r>
              <a:rPr/>
              <a:t>). Calculated with the </a:t>
            </a:r>
            <a:r>
              <a:rPr>
                <a:latin typeface="Courier"/>
              </a:rPr>
              <a:t>survey</a:t>
            </a:r>
            <a:r>
              <a:rPr/>
              <a:t> package (survey weights + clusters), a genuine standard error, not an approximation.</a:t>
            </a:r>
          </a:p>
          <a:p>
            <a:pPr lvl="0"/>
            <a:r>
              <a:rPr b="1"/>
              <a:t>Covariate selection</a:t>
            </a:r>
            <a:r>
              <a:rPr/>
              <a:t>: correlation screening among 9 candidate geospatial covariates (Google Earth Engine), all available both by commune and on a 3 km x 3 km grid (~15,400 cells, not to be confused with the 100 m population rasters from Day 7); retained: share of urban land and share of wooded savanna (MODIS land cover).</a:t>
            </a:r>
          </a:p>
          <a:p>
            <a:pPr lvl="0"/>
            <a:r>
              <a:rPr b="1"/>
              <a:t>Source and acknowledgements</a:t>
            </a:r>
            <a:r>
              <a:rPr/>
              <a:t>: household data, covariates, and extraction code adapted from the repository </a:t>
            </a:r>
            <a:r>
              <a:rPr>
                <a:hlinkClick r:id="rId3"/>
              </a:rPr>
              <a:t>github.com/JoshMerfeld/saereplication</a:t>
            </a:r>
            <a:r>
              <a:rPr/>
              <a:t> (Josh Merfeld, University of Queensland), thanks to the author for making this material public. The original repository uses a richer model (unit-level EBP, </a:t>
            </a:r>
            <a:r>
              <a:rPr>
                <a:latin typeface="Courier"/>
              </a:rPr>
              <a:t>povmap</a:t>
            </a:r>
            <a:r>
              <a:rPr/>
              <a:t> package); this exercise deliberately simplifies to an area-level model (Fay-Herriot) for teaching purposes.</a:t>
            </a:r>
          </a:p>
        </p:txBody>
      </p:sp>
    </p:spTree>
  </p:cSld>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Atelier R Exercice 3 : fonctions clés</a:t>
            </a:r>
          </a:p>
        </p:txBody>
      </p:sp>
      <p:sp>
        <p:nvSpPr>
          <p:cNvPr id="3" name="Content Placeholder 2"/>
          <p:cNvSpPr>
            <a:spLocks noGrp="1"/>
          </p:cNvSpPr>
          <p:nvPr>
            <p:ph idx="1"/>
          </p:nvPr>
        </p:nvSpPr>
        <p:spPr/>
        <p:txBody>
          <a:bodyPr/>
          <a:lstStyle/>
          <a:p>
            <a:pPr lvl="0"/>
            <a:r>
              <a:rPr>
                <a:latin typeface="Courier"/>
              </a:rPr>
              <a:t>survey::svydesign(ids, weights, data)</a:t>
            </a:r>
            <a:r>
              <a:rPr/>
              <a:t> + </a:t>
            </a:r>
            <a:r>
              <a:rPr>
                <a:latin typeface="Courier"/>
              </a:rPr>
              <a:t>svyby(~var, ~domaine, plan, svymean)</a:t>
            </a:r>
            <a:r>
              <a:rPr/>
              <a:t> : estimation directe pondérée et son erreur-type, en tenant compte du plan de sondage en grappes.</a:t>
            </a:r>
          </a:p>
          <a:p>
            <a:pPr lvl="0"/>
            <a:r>
              <a:rPr>
                <a:latin typeface="Courier"/>
              </a:rPr>
              <a:t>cor()</a:t>
            </a:r>
            <a:r>
              <a:rPr/>
              <a:t> sur des covariables candidates : cribler et choisir une covariable auxiliaire plutôt que la deviner.</a:t>
            </a:r>
          </a:p>
          <a:p>
            <a:pPr lvl="0"/>
            <a:r>
              <a:rPr>
                <a:latin typeface="Courier"/>
              </a:rPr>
              <a:t>sae::mseFH(formule, vardir, data)</a:t>
            </a:r>
            <a:r>
              <a:rPr/>
              <a:t> : ajuste le modèle de Fay-Herriot (ici avec deux covariables) et renvoie l’EBLUP (</a:t>
            </a:r>
            <a:r>
              <a:rPr>
                <a:latin typeface="Courier"/>
              </a:rPr>
              <a:t>$est$eblup</a:t>
            </a:r>
            <a:r>
              <a:rPr/>
              <a:t>) et son EQM estimée (</a:t>
            </a:r>
            <a:r>
              <a:rPr>
                <a:latin typeface="Courier"/>
              </a:rPr>
              <a:t>$mse</a:t>
            </a:r>
            <a:r>
              <a:rPr/>
              <a:t>).</a:t>
            </a:r>
          </a:p>
          <a:p>
            <a:pPr lvl="0"/>
            <a:r>
              <a:rPr>
                <a:latin typeface="Courier"/>
              </a:rPr>
              <a:t>geom_pointrange()</a:t>
            </a:r>
            <a:r>
              <a:rPr/>
              <a:t> + un nuage de points gain de précision vs taille d’échantillon : visualiser où et pourquoi le lissage agit.</a:t>
            </a:r>
          </a:p>
          <a:p>
            <a:pPr lvl="0"/>
            <a:r>
              <a:rPr>
                <a:latin typeface="Courier"/>
              </a:rPr>
              <a:t>tmap_arrange()</a:t>
            </a:r>
            <a:r>
              <a:rPr/>
              <a:t> : comparer côte à côte estimation directe, estimation lissée, et gain de précision.</a:t>
            </a:r>
          </a:p>
          <a:p>
            <a:pPr lvl="0"/>
            <a:r>
              <a:rPr/>
              <a:t>Reconstruction manuelle de l’effet aléatoire de commune (</a:t>
            </a:r>
            <a:r>
              <a:rPr>
                <a:latin typeface="Courier"/>
              </a:rPr>
              <a:t>u_hat</a:t>
            </a:r>
            <a:r>
              <a:rPr/>
              <a:t>) à partir des coefficients du modèle, appliquée aux covariables de chaque cellule de grille : la même logique que le lissage par commune, mais à résolution fine.</a:t>
            </a:r>
          </a:p>
        </p:txBody>
      </p:sp>
    </p:spTree>
  </p:cSl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 Workshop Exercise 3: key functions</a:t>
            </a:r>
          </a:p>
        </p:txBody>
      </p:sp>
      <p:sp>
        <p:nvSpPr>
          <p:cNvPr id="3" name="Content Placeholder 2"/>
          <p:cNvSpPr>
            <a:spLocks noGrp="1"/>
          </p:cNvSpPr>
          <p:nvPr>
            <p:ph idx="1"/>
          </p:nvPr>
        </p:nvSpPr>
        <p:spPr/>
        <p:txBody>
          <a:bodyPr/>
          <a:lstStyle/>
          <a:p>
            <a:pPr lvl="0"/>
            <a:r>
              <a:rPr>
                <a:latin typeface="Courier"/>
              </a:rPr>
              <a:t>survey::svydesign(ids, weights, data)</a:t>
            </a:r>
            <a:r>
              <a:rPr/>
              <a:t> + </a:t>
            </a:r>
            <a:r>
              <a:rPr>
                <a:latin typeface="Courier"/>
              </a:rPr>
              <a:t>svyby(~var, ~domaine, plan, svymean)</a:t>
            </a:r>
            <a:r>
              <a:rPr/>
              <a:t>: weighted direct estimate and its standard error, accounting for the cluster sampling design.</a:t>
            </a:r>
          </a:p>
          <a:p>
            <a:pPr lvl="0"/>
            <a:r>
              <a:rPr>
                <a:latin typeface="Courier"/>
              </a:rPr>
              <a:t>cor()</a:t>
            </a:r>
            <a:r>
              <a:rPr/>
              <a:t> on candidate covariates: screen and choose an auxiliary covariate rather than guessing.</a:t>
            </a:r>
          </a:p>
          <a:p>
            <a:pPr lvl="0"/>
            <a:r>
              <a:rPr>
                <a:latin typeface="Courier"/>
              </a:rPr>
              <a:t>sae::mseFH(formule, vardir, data)</a:t>
            </a:r>
            <a:r>
              <a:rPr/>
              <a:t>: fits the Fay-Herriot model (here with two covariates) and returns the EBLUP (</a:t>
            </a:r>
            <a:r>
              <a:rPr>
                <a:latin typeface="Courier"/>
              </a:rPr>
              <a:t>$est$eblup</a:t>
            </a:r>
            <a:r>
              <a:rPr/>
              <a:t>) and its estimated MSE (</a:t>
            </a:r>
            <a:r>
              <a:rPr>
                <a:latin typeface="Courier"/>
              </a:rPr>
              <a:t>$mse</a:t>
            </a:r>
            <a:r>
              <a:rPr/>
              <a:t>).</a:t>
            </a:r>
          </a:p>
          <a:p>
            <a:pPr lvl="0"/>
            <a:r>
              <a:rPr>
                <a:latin typeface="Courier"/>
              </a:rPr>
              <a:t>geom_pointrange()</a:t>
            </a:r>
            <a:r>
              <a:rPr/>
              <a:t> + a scatter plot of precision gain vs sample size: visualise where and why the smoothing acts.</a:t>
            </a:r>
          </a:p>
          <a:p>
            <a:pPr lvl="0"/>
            <a:r>
              <a:rPr>
                <a:latin typeface="Courier"/>
              </a:rPr>
              <a:t>tmap_arrange()</a:t>
            </a:r>
            <a:r>
              <a:rPr/>
              <a:t>: compare direct estimate, smoothed estimate, and precision gain side by side.</a:t>
            </a:r>
          </a:p>
          <a:p>
            <a:pPr lvl="0"/>
            <a:r>
              <a:rPr/>
              <a:t>Manual reconstruction of the commune random effect (</a:t>
            </a:r>
            <a:r>
              <a:rPr>
                <a:latin typeface="Courier"/>
              </a:rPr>
              <a:t>u_hat</a:t>
            </a:r>
            <a:r>
              <a:rPr/>
              <a:t>) from the model’s coefficients, applied to the covariates of each grid cell: the same logic as commune-level smoothing, but at fine resolution.</a:t>
            </a:r>
          </a:p>
        </p:txBody>
      </p:sp>
    </p:spTree>
  </p:cSld>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Atelier R Exercice 3 : de la commune à la grille de 3 km</a:t>
            </a:r>
          </a:p>
        </p:txBody>
      </p:sp>
      <p:sp>
        <p:nvSpPr>
          <p:cNvPr id="3" name="Content Placeholder 2"/>
          <p:cNvSpPr>
            <a:spLocks noGrp="1"/>
          </p:cNvSpPr>
          <p:nvPr>
            <p:ph idx="1"/>
          </p:nvPr>
        </p:nvSpPr>
        <p:spPr/>
        <p:txBody>
          <a:bodyPr/>
          <a:lstStyle/>
          <a:p>
            <a:pPr lvl="0"/>
            <a:r>
              <a:rPr/>
              <a:t>Le modèle est ajusté au niveau commune, mais ses coefficients (part urbaine, part de savane) sont connus pour CHAQUE cellule de grille de 3 km - pas seulement pour les communes enquêtées.</a:t>
            </a:r>
          </a:p>
          <a:p>
            <a:pPr lvl="0"/>
            <a:r>
              <a:rPr/>
              <a:t>En combinant ces coefficients avec l’effet aléatoire de la commune (</a:t>
            </a:r>
            <a:r>
              <a:rPr>
                <a:latin typeface="Courier"/>
              </a:rPr>
              <a:t>u_hat</a:t>
            </a:r>
            <a:r>
              <a:rPr/>
              <a:t>, la part de l’écart à la covariable propre à chaque commune), on obtient une prédiction à 3 km : </a:t>
            </a:r>
            <a:r>
              <a:rPr>
                <a:latin typeface="Courier"/>
              </a:rPr>
              <a:t>insecure_pred = beta0 + beta_urbain * x_urbain + beta_savane * x_savane + u_hat</a:t>
            </a:r>
            <a:r>
              <a:rPr/>
              <a:t>.</a:t>
            </a:r>
          </a:p>
          <a:p>
            <a:pPr lvl="0"/>
            <a:r>
              <a:rPr/>
              <a:t>Résultat : une carte plus fine que l’enquête elle-même - le sens spatial du “small area”, au-delà du seul gain de précision statistique.</a:t>
            </a:r>
          </a:p>
          <a:p>
            <a:pPr lvl="0"/>
            <a:r>
              <a:rPr/>
              <a:t>Limite à garder en tête : c’est une extrapolation à partir d’une relation ajustée sur 76 communes ; elle suppose que cette relation covariable-indicateur est valable à l’intérieur de chaque commune, ce qui n’est pas vérifiable avec ces seules données.</a:t>
            </a:r>
          </a:p>
          <a:p>
            <a:pPr lvl="0"/>
            <a:r>
              <a:rPr/>
              <a:t>Piège à signaler : cette carte est visuellement la plus impressionnante du TD (rendu lisse et continu à 3 km) - mais aussi la moins mesurée. Le rendu ne doit pas être confondu avec une précision réelle à cette résolution.</a:t>
            </a:r>
          </a:p>
        </p:txBody>
      </p:sp>
    </p:spTree>
  </p:cSld>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 Workshop Exercise 3: from the commune to the 3 km grid</a:t>
            </a:r>
          </a:p>
        </p:txBody>
      </p:sp>
      <p:sp>
        <p:nvSpPr>
          <p:cNvPr id="3" name="Content Placeholder 2"/>
          <p:cNvSpPr>
            <a:spLocks noGrp="1"/>
          </p:cNvSpPr>
          <p:nvPr>
            <p:ph idx="1"/>
          </p:nvPr>
        </p:nvSpPr>
        <p:spPr/>
        <p:txBody>
          <a:bodyPr/>
          <a:lstStyle/>
          <a:p>
            <a:pPr lvl="0"/>
            <a:r>
              <a:rPr/>
              <a:t>The model is fitted at commune level, but its coefficients (urban share, savanna share) are known for EVERY 3 km grid cell, not just for the surveyed communes.</a:t>
            </a:r>
          </a:p>
          <a:p>
            <a:pPr lvl="0"/>
            <a:r>
              <a:rPr/>
              <a:t>Combining these coefficients with the commune’s random effect (</a:t>
            </a:r>
            <a:r>
              <a:rPr>
                <a:latin typeface="Courier"/>
              </a:rPr>
              <a:t>u_hat</a:t>
            </a:r>
            <a:r>
              <a:rPr/>
              <a:t>, the share of the covariate gap specific to each commune), we obtain a 3 km prediction: </a:t>
            </a:r>
            <a:r>
              <a:rPr>
                <a:latin typeface="Courier"/>
              </a:rPr>
              <a:t>insecure_pred = beta0 + beta_urbain * x_urbain + beta_savane * x_savane + u_hat</a:t>
            </a:r>
            <a:r>
              <a:rPr/>
              <a:t>.</a:t>
            </a:r>
          </a:p>
          <a:p>
            <a:pPr lvl="0"/>
            <a:r>
              <a:rPr/>
              <a:t>Result: a map finer than the survey itself, the spatial meaning of “small area”, beyond the sole gain in statistical precision.</a:t>
            </a:r>
          </a:p>
          <a:p>
            <a:pPr lvl="0"/>
            <a:r>
              <a:rPr/>
              <a:t>Limitation to keep in mind: this is an extrapolation from a relationship fitted on 76 communes; it assumes that this covariate-indicator relationship holds within each commune, which is not verifiable with this data alone.</a:t>
            </a:r>
          </a:p>
          <a:p>
            <a:pPr lvl="0"/>
            <a:r>
              <a:rPr/>
              <a:t>Pitfall to flag: this map is visually the most impressive of the exercise (smooth, continuous rendering at 3 km), but also the least measured. The rendering should not be mistaken for genuine precision at this resolution.</a:t>
            </a:r>
          </a:p>
        </p:txBody>
      </p:sp>
    </p:spTree>
  </p:cSld>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Atelier R Exercice 3 : ce que révèle la comparaison</a:t>
            </a:r>
          </a:p>
        </p:txBody>
      </p:sp>
      <p:sp>
        <p:nvSpPr>
          <p:cNvPr id="3" name="Content Placeholder 2"/>
          <p:cNvSpPr>
            <a:spLocks noGrp="1"/>
          </p:cNvSpPr>
          <p:nvPr>
            <p:ph idx="1"/>
          </p:nvPr>
        </p:nvSpPr>
        <p:spPr/>
        <p:txBody>
          <a:bodyPr/>
          <a:lstStyle/>
          <a:p>
            <a:pPr lvl="0"/>
            <a:r>
              <a:rPr/>
              <a:t>Le gain de précision Fay-Herriot n’est pas uniforme : il doit être concentré dans les communes où l’échantillon EHCVM est le plus petit - c’est le mécanisme même du SAE, à observer dans le nuage de points gain vs taille d’échantillon.</a:t>
            </a:r>
          </a:p>
          <a:p>
            <a:pPr lvl="0"/>
            <a:r>
              <a:rPr/>
              <a:t>Avec seulement 76 communes et deux covariables, la marge d’erreur sur les coefficients reste large : un rappel qu’un modèle d’aire nécessite en général davantage de domaines pour estimer sereinement l’effet d’une covariable.</a:t>
            </a:r>
          </a:p>
          <a:p>
            <a:pPr lvl="0"/>
            <a:r>
              <a:rPr/>
              <a:t>Message clé : le SAE ne remplace pas une enquête bien dimensionnée, mais il évite de publier des estimations communales trop bruitées pour être utiles à la décision - et, poussé à l’échelle de la grille, il permet de voir une variation spatiale invisible dans l’enquête seule.</a:t>
            </a:r>
          </a:p>
        </p:txBody>
      </p:sp>
    </p:spTree>
  </p:cSld>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 Workshop Exercise 3: what the comparison reveals</a:t>
            </a:r>
          </a:p>
        </p:txBody>
      </p:sp>
      <p:sp>
        <p:nvSpPr>
          <p:cNvPr id="3" name="Content Placeholder 2"/>
          <p:cNvSpPr>
            <a:spLocks noGrp="1"/>
          </p:cNvSpPr>
          <p:nvPr>
            <p:ph idx="1"/>
          </p:nvPr>
        </p:nvSpPr>
        <p:spPr/>
        <p:txBody>
          <a:bodyPr/>
          <a:lstStyle/>
          <a:p>
            <a:pPr lvl="0"/>
            <a:r>
              <a:rPr/>
              <a:t>The Fay-Herriot precision gain is not uniform: it should be concentrated in the communes where the EHCVM sample is smallest, this is the very mechanism of SAE, to be observed in the scatter plot of gain vs sample size.</a:t>
            </a:r>
          </a:p>
          <a:p>
            <a:pPr lvl="0"/>
            <a:r>
              <a:rPr/>
              <a:t>With only 76 communes and two covariates, the margin of error on the coefficients remains wide: a reminder that an area-level model generally needs more domains to reliably estimate the effect of a covariate.</a:t>
            </a:r>
          </a:p>
          <a:p>
            <a:pPr lvl="0"/>
            <a:r>
              <a:rPr/>
              <a:t>Key message: SAE does not replace a properly sized survey, but it avoids publishing commune-level estimates too noisy to be useful for decision-making, and, pushed to grid scale, it reveals spatial variation invisible in the survey alone.</a:t>
            </a:r>
          </a:p>
        </p:txBody>
      </p:sp>
    </p:spTree>
  </p:cSld>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Limites et précautions</a:t>
            </a:r>
          </a:p>
        </p:txBody>
      </p:sp>
      <p:sp>
        <p:nvSpPr>
          <p:cNvPr id="3" name="Content Placeholder 2"/>
          <p:cNvSpPr>
            <a:spLocks noGrp="1"/>
          </p:cNvSpPr>
          <p:nvPr>
            <p:ph idx="1"/>
          </p:nvPr>
        </p:nvSpPr>
        <p:spPr/>
        <p:txBody>
          <a:bodyPr/>
          <a:lstStyle/>
          <a:p>
            <a:pPr lvl="0" indent="0" marL="0">
              <a:buNone/>
            </a:pPr>
            <a:r>
              <a:rPr b="1"/>
              <a:t>ACLED :</a:t>
            </a:r>
          </a:p>
          <a:p>
            <a:pPr lvl="0"/>
            <a:r>
              <a:rPr/>
              <a:t>Couverture dépend des sources médiatiques : zones enclavées sous-représentées.</a:t>
            </a:r>
          </a:p>
          <a:p>
            <a:pPr lvl="0"/>
            <a:r>
              <a:rPr/>
              <a:t>Nombre d’événements ≠ intensité de la violence.</a:t>
            </a:r>
          </a:p>
          <a:p>
            <a:pPr lvl="0"/>
            <a:r>
              <a:rPr/>
              <a:t>Citer ACLED et préciser la date de téléchargement.</a:t>
            </a:r>
          </a:p>
          <a:p>
            <a:pPr lvl="0" indent="0" marL="0">
              <a:buNone/>
            </a:pPr>
            <a:r>
              <a:rPr b="1"/>
              <a:t>ERA5 :</a:t>
            </a:r>
          </a:p>
          <a:p>
            <a:pPr lvl="0"/>
            <a:r>
              <a:rPr/>
              <a:t>Réanalyse, pas des observations directes : les zones sans stations météo dépendent du modèle.</a:t>
            </a:r>
          </a:p>
          <a:p>
            <a:pPr lvl="0"/>
            <a:r>
              <a:rPr/>
              <a:t>Résolution de 31 km : pas adaptée à l’analyse intra-urbaine.</a:t>
            </a:r>
          </a:p>
          <a:p>
            <a:pPr lvl="0"/>
            <a:r>
              <a:rPr/>
              <a:t>Unité en Kelvin : toujours vérifier la conversion.</a:t>
            </a:r>
          </a:p>
          <a:p>
            <a:pPr lvl="0" indent="0" marL="0">
              <a:buNone/>
            </a:pPr>
            <a:r>
              <a:rPr b="1"/>
              <a:t>Petits domaines (SAE) :</a:t>
            </a:r>
          </a:p>
          <a:p>
            <a:pPr lvl="0"/>
            <a:r>
              <a:rPr/>
              <a:t>Un modèle d’aire (Fay-Herriot) avec seulement 76 domaines et deux covariables a une puissance limitée pour valider ces covariables ; un modèle plus riche demanderait davantage de domaines.</a:t>
            </a:r>
          </a:p>
          <a:p>
            <a:pPr lvl="0"/>
            <a:r>
              <a:rPr/>
              <a:t>Le lissage réduit le bruit d’échantillonnage, mais n’invente pas d’information : il ne corrige ni un plan d’enquête mal dimensionné, ni un biais de couverture.</a:t>
            </a:r>
          </a:p>
          <a:p>
            <a:pPr lvl="0"/>
            <a:r>
              <a:rPr/>
              <a:t>La prédiction à l’échelle de la grille (3 km) est une extrapolation du modèle communal : elle suppose que la relation covariable-indicateur estimée sur 76 communes est valable à l’intérieur de chaque commune, hypothèse non vérifiable avec ces seules données.</a:t>
            </a:r>
          </a:p>
        </p:txBody>
      </p:sp>
    </p:spTree>
  </p:cSld>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Limitations and precautions</a:t>
            </a:r>
          </a:p>
        </p:txBody>
      </p:sp>
      <p:sp>
        <p:nvSpPr>
          <p:cNvPr id="3" name="Content Placeholder 2"/>
          <p:cNvSpPr>
            <a:spLocks noGrp="1"/>
          </p:cNvSpPr>
          <p:nvPr>
            <p:ph idx="1"/>
          </p:nvPr>
        </p:nvSpPr>
        <p:spPr/>
        <p:txBody>
          <a:bodyPr/>
          <a:lstStyle/>
          <a:p>
            <a:pPr lvl="0" indent="0" marL="0">
              <a:buNone/>
            </a:pPr>
            <a:r>
              <a:rPr b="1"/>
              <a:t>ACLED:</a:t>
            </a:r>
          </a:p>
          <a:p>
            <a:pPr lvl="0"/>
            <a:r>
              <a:rPr/>
              <a:t>Coverage depends on media sources: remote areas are under-represented.</a:t>
            </a:r>
          </a:p>
          <a:p>
            <a:pPr lvl="0"/>
            <a:r>
              <a:rPr/>
              <a:t>Number of events ≠ intensity of violence.</a:t>
            </a:r>
          </a:p>
          <a:p>
            <a:pPr lvl="0"/>
            <a:r>
              <a:rPr/>
              <a:t>Cite ACLED and specify the download date.</a:t>
            </a:r>
          </a:p>
          <a:p>
            <a:pPr lvl="0" indent="0" marL="0">
              <a:buNone/>
            </a:pPr>
            <a:r>
              <a:rPr b="1"/>
              <a:t>ERA5:</a:t>
            </a:r>
          </a:p>
          <a:p>
            <a:pPr lvl="0"/>
            <a:r>
              <a:rPr/>
              <a:t>A reanalysis, not direct observations: areas without weather stations depend on the model.</a:t>
            </a:r>
          </a:p>
          <a:p>
            <a:pPr lvl="0"/>
            <a:r>
              <a:rPr/>
              <a:t>Resolution of 31 km: not suited to intra-urban analysis.</a:t>
            </a:r>
          </a:p>
          <a:p>
            <a:pPr lvl="0"/>
            <a:r>
              <a:rPr/>
              <a:t>Unit is Kelvin: always check the conversion.</a:t>
            </a:r>
          </a:p>
          <a:p>
            <a:pPr lvl="0" indent="0" marL="0">
              <a:buNone/>
            </a:pPr>
            <a:r>
              <a:rPr b="1"/>
              <a:t>Small area estimation (SAE):</a:t>
            </a:r>
          </a:p>
          <a:p>
            <a:pPr lvl="0"/>
            <a:r>
              <a:rPr/>
              <a:t>An area-level model (Fay-Herriot) with only 76 domains and two covariates has limited power to validate these covariates; a richer model would require more domains.</a:t>
            </a:r>
          </a:p>
          <a:p>
            <a:pPr lvl="0"/>
            <a:r>
              <a:rPr/>
              <a:t>Smoothing reduces sampling noise, but does not invent information: it corrects neither an undersized survey design nor a coverage bias.</a:t>
            </a:r>
          </a:p>
          <a:p>
            <a:pPr lvl="0"/>
            <a:r>
              <a:rPr/>
              <a:t>The grid-scale prediction (3 km) is an extrapolation of the commune model: it assumes that the covariate-indicator relationship estimated on 76 communes holds within each commune, a hypothesis not verifiable with this data alone.</a:t>
            </a:r>
          </a:p>
        </p:txBody>
      </p:sp>
    </p:spTree>
  </p:cSld>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Messages clés</a:t>
            </a:r>
          </a:p>
        </p:txBody>
      </p:sp>
      <p:sp>
        <p:nvSpPr>
          <p:cNvPr id="3" name="Content Placeholder 2"/>
          <p:cNvSpPr>
            <a:spLocks noGrp="1"/>
          </p:cNvSpPr>
          <p:nvPr>
            <p:ph idx="1"/>
          </p:nvPr>
        </p:nvSpPr>
        <p:spPr/>
        <p:txBody>
          <a:bodyPr/>
          <a:lstStyle/>
          <a:p>
            <a:pPr lvl="0"/>
            <a:r>
              <a:rPr/>
              <a:t>ACLED, ERA5 et le modèle de Fay-Herriot sont trois sources et méthodes complémentaires pour les sciences sociales spatiales.</a:t>
            </a:r>
          </a:p>
          <a:p>
            <a:pPr lvl="0"/>
            <a:r>
              <a:rPr/>
              <a:t>ACLED et ERA5 utilisent une API avec authentification : stocker les clés dans un fichier </a:t>
            </a:r>
            <a:r>
              <a:rPr>
                <a:latin typeface="Courier"/>
              </a:rPr>
              <a:t>.env</a:t>
            </a:r>
            <a:r>
              <a:rPr/>
              <a:t>.</a:t>
            </a:r>
          </a:p>
          <a:p>
            <a:pPr lvl="0"/>
            <a:r>
              <a:rPr/>
              <a:t>NetCDF est multidimensionnel : </a:t>
            </a:r>
            <a:r>
              <a:rPr>
                <a:latin typeface="Courier"/>
              </a:rPr>
              <a:t>terra::rast()</a:t>
            </a:r>
            <a:r>
              <a:rPr/>
              <a:t> lit toutes les couches en une seule commande.</a:t>
            </a:r>
          </a:p>
          <a:p>
            <a:pPr lvl="0"/>
            <a:r>
              <a:rPr>
                <a:latin typeface="Courier"/>
              </a:rPr>
              <a:t>exactextractr</a:t>
            </a:r>
            <a:r>
              <a:rPr/>
              <a:t> permet d’extraire des statistiques zonales pour chaque couche en une ligne.</a:t>
            </a:r>
          </a:p>
          <a:p>
            <a:pPr lvl="0"/>
            <a:r>
              <a:rPr>
                <a:latin typeface="Courier"/>
              </a:rPr>
              <a:t>sae::mseFH()</a:t>
            </a:r>
            <a:r>
              <a:rPr/>
              <a:t> combine estimation directe et covariable auxiliaire pour stabiliser une estimation régionale bruitée.</a:t>
            </a:r>
          </a:p>
          <a:p>
            <a:pPr lvl="0"/>
            <a:r>
              <a:rPr/>
              <a:t>Toujours afficher la plage temporelle des données avant de les analyser.</a:t>
            </a:r>
          </a:p>
        </p:txBody>
      </p:sp>
    </p:spTree>
  </p:cSld>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messages</a:t>
            </a:r>
          </a:p>
        </p:txBody>
      </p:sp>
      <p:sp>
        <p:nvSpPr>
          <p:cNvPr id="3" name="Content Placeholder 2"/>
          <p:cNvSpPr>
            <a:spLocks noGrp="1"/>
          </p:cNvSpPr>
          <p:nvPr>
            <p:ph idx="1"/>
          </p:nvPr>
        </p:nvSpPr>
        <p:spPr/>
        <p:txBody>
          <a:bodyPr/>
          <a:lstStyle/>
          <a:p>
            <a:pPr lvl="0"/>
            <a:r>
              <a:rPr/>
              <a:t>ACLED, ERA5, and the Fay-Herriot model are three complementary sources and methods for the spatial social sciences.</a:t>
            </a:r>
          </a:p>
          <a:p>
            <a:pPr lvl="0"/>
            <a:r>
              <a:rPr/>
              <a:t>ACLED and ERA5 use an authenticated API: store the keys in a </a:t>
            </a:r>
            <a:r>
              <a:rPr>
                <a:latin typeface="Courier"/>
              </a:rPr>
              <a:t>.env</a:t>
            </a:r>
            <a:r>
              <a:rPr/>
              <a:t> file.</a:t>
            </a:r>
          </a:p>
          <a:p>
            <a:pPr lvl="0"/>
            <a:r>
              <a:rPr/>
              <a:t>NetCDF is multidimensional: </a:t>
            </a:r>
            <a:r>
              <a:rPr>
                <a:latin typeface="Courier"/>
              </a:rPr>
              <a:t>terra::rast()</a:t>
            </a:r>
            <a:r>
              <a:rPr/>
              <a:t> reads all layers in a single command.</a:t>
            </a:r>
          </a:p>
          <a:p>
            <a:pPr lvl="0"/>
            <a:r>
              <a:rPr>
                <a:latin typeface="Courier"/>
              </a:rPr>
              <a:t>exactextractr</a:t>
            </a:r>
            <a:r>
              <a:rPr/>
              <a:t> extracts zonal statistics for every layer in one line.</a:t>
            </a:r>
          </a:p>
          <a:p>
            <a:pPr lvl="0"/>
            <a:r>
              <a:rPr>
                <a:latin typeface="Courier"/>
              </a:rPr>
              <a:t>sae::mseFH()</a:t>
            </a:r>
            <a:r>
              <a:rPr/>
              <a:t> combines a direct estimate with an auxiliary covariate to stabilise a noisy regional estimate.</a:t>
            </a:r>
          </a:p>
          <a:p>
            <a:pPr lvl="0"/>
            <a:r>
              <a:rPr/>
              <a:t>Always check the time range of the data before analysing it.</a:t>
            </a:r>
          </a:p>
        </p:txBody>
      </p:sp>
    </p:spTree>
  </p:cSld>
</p:sld>
</file>

<file path=ppt/theme/theme1.xml><?xml version="1.0" encoding="utf-8"?>
<a:theme xmlns:a="http://schemas.openxmlformats.org/drawingml/2006/main" name="IFORD R Spatial Theme">
  <a:themeElements>
    <a:clrScheme name="IFORD">
      <a:dk1>
        <a:srgbClr val="132A35"/>
      </a:dk1>
      <a:lt1>
        <a:srgbClr val="FFFFFF"/>
      </a:lt1>
      <a:dk2>
        <a:srgbClr val="004B3C"/>
      </a:dk2>
      <a:lt2>
        <a:srgbClr val="F3F7F2"/>
      </a:lt2>
      <a:accent1>
        <a:srgbClr val="006B4F"/>
      </a:accent1>
      <a:accent2>
        <a:srgbClr val="F2A900"/>
      </a:accent2>
      <a:accent3>
        <a:srgbClr val="3A7D44"/>
      </a:accent3>
      <a:accent4>
        <a:srgbClr val="2B6CB0"/>
      </a:accent4>
      <a:accent5>
        <a:srgbClr val="7A4E8A"/>
      </a:accent5>
      <a:accent6>
        <a:srgbClr val="D95F02"/>
      </a:accent6>
      <a:hlink>
        <a:srgbClr val="006B4F"/>
      </a:hlink>
      <a:folHlink>
        <a:srgbClr val="7A4E8A"/>
      </a:folHlink>
    </a:clrScheme>
    <a:fontScheme name="Office">
      <a:majorFont>
        <a:latin typeface="Aptos"/>
        <a:ea typeface=""/>
        <a:cs typeface=""/>
        <a:font script="Jpan" typeface="ï¼­ï¼³ ï¼°ã‚´ã‚·ãƒƒã‚¯"/>
        <a:font script="Hang" typeface="ë§‘ì€ ê³ ë”•"/>
        <a:font script="Hans" typeface="å®‹ä½“"/>
        <a:font script="Hant" typeface="æ–°ç´°æ˜Žé«”"/>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ï¼­ï¼³ ï¼°ã‚´ã‚·ãƒƒã‚¯"/>
        <a:font script="Hang" typeface="ë§‘ì€ ê³ ë”•"/>
        <a:font script="Hans" typeface="å®‹ä½“"/>
        <a:font script="Hant" typeface="æ–°ç´°æ˜Žé«”"/>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901</Words>
  <Application>Microsoft Office PowerPoint</Application>
  <PresentationFormat>On-screen Show (16:9)</PresentationFormat>
  <Paragraphs>145</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Arial</vt:lpstr>
      <vt:lpstr>Courier</vt:lpstr>
      <vt:lpstr>IFORD R Spatial Theme</vt:lpstr>
      <vt:lpstr>Jour 10 - Flux reproductibles et projet final</vt:lpstr>
      <vt:lpstr>Objectifs de la journee</vt:lpstr>
      <vt:lpstr>Programme 6 heures</vt:lpstr>
      <vt:lpstr>Reproductibilite</vt:lpstr>
      <vt:lpstr>Structure conseillee</vt:lpstr>
      <vt:lpstr>Quarto: idee centrale</vt:lpstr>
      <vt:lpstr>Un seul fichier, plusieurs formats</vt:lpstr>
      <vt:lpstr>Quand choisir quel format?</vt:lpstr>
      <vt:lpstr>PowerPoint Presentation</vt:lpstr>
      <vt:lpstr>Anatomie d’un fichier Quarto</vt:lpstr>
      <vt:lpstr>Demonstration Quarto</vt:lpstr>
      <vt:lpstr>tmap: plot vs view</vt:lpstr>
      <vt:lpstr>Automatisation</vt:lpstr>
      <vt:lpstr>Atelier R</vt:lpstr>
      <vt:lpstr>Mini-projet</vt:lpstr>
      <vt:lpstr>Grille de presentation</vt:lpstr>
      <vt:lpstr>FAIR</vt:lpstr>
      <vt:lpstr>Metadonnees minimales</vt:lpstr>
      <vt:lpstr>Feuille de route INS/BUCREP</vt:lpstr>
      <vt:lpstr>Messages de cloture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Jour 9 / Day 9 - Applications spatiales et sciences sociales / Spatial applications and social sciences</dc:title>
  <dc:creator>IFORD - Formation R spatial / Spatial R training</dc:creator>
  <cp:keywords/>
  <dcterms:created xsi:type="dcterms:W3CDTF">2026-08-05T21:37:09Z</dcterms:created>
  <dcterms:modified xsi:type="dcterms:W3CDTF">2026-08-05T21:37:09Z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subtitle">
    <vt:lpwstr>Fondements théoriques, ACLED (conflits armés) et ERA5 (température) au Cameroun, petits domaines au Bénin / Theoretical foundations, ACLED (armed conflict) and ERA5 (temperature) in Cameroon, small area estimation in Benin</vt:lpwstr>
  </property>
  <property fmtid="{D5CDD505-2E9C-101B-9397-08002B2CF9AE}" pid="10" name="toc-title">
    <vt:lpwstr>Table of contents</vt:lpwstr>
  </property>
</Properties>
</file>