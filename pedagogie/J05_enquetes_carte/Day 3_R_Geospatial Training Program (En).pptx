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0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1508760"/>
            <a:ext cx="4754880" cy="3566160"/>
          </a:xfrm>
          <a:prstGeom prst="ellipse">
            <a:avLst/>
          </a:prstGeom>
          <a:ln w="15875">
            <a:solidFill>
              <a:srgbClr val="6E9075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851660"/>
            <a:ext cx="3840480" cy="2880360"/>
          </a:xfrm>
          <a:prstGeom prst="ellipse">
            <a:avLst/>
          </a:prstGeom>
          <a:ln w="15875">
            <a:solidFill>
              <a:srgbClr val="B5651D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2194560"/>
            <a:ext cx="2926080" cy="2194560"/>
          </a:xfrm>
          <a:prstGeom prst="ellipse">
            <a:avLst/>
          </a:prstGeom>
          <a:ln w="15875">
            <a:solidFill>
              <a:srgbClr val="6E907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2537460"/>
            <a:ext cx="2011680" cy="1508760"/>
          </a:xfrm>
          <a:prstGeom prst="ellipse">
            <a:avLst/>
          </a:prstGeom>
          <a:ln w="15875">
            <a:solidFill>
              <a:srgbClr val="B5651D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2880360"/>
            <a:ext cx="1097280" cy="822960"/>
          </a:xfrm>
          <a:prstGeom prst="ellipse">
            <a:avLst/>
          </a:prstGeom>
          <a:ln w="15875">
            <a:solidFill>
              <a:srgbClr val="6E9075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Geospatial Data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with R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502920" cy="54864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4279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EEE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Day 3_Day4 — Raster Data in R. [</a:t>
            </a:r>
            <a:r>
              <a:rPr lang="en-US" sz="1800" dirty="0" err="1">
                <a:solidFill>
                  <a:srgbClr val="F2EEE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Mastering </a:t>
            </a:r>
            <a:r>
              <a:rPr lang="en-US" sz="1800" dirty="0">
                <a:solidFill>
                  <a:srgbClr val="F2EEE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Raster Data &amp; </a:t>
            </a:r>
            <a:r>
              <a:rPr lang="en-US" sz="1800" dirty="0" err="1">
                <a:solidFill>
                  <a:srgbClr val="F2EEE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Spatial Algebra</a:t>
            </a:r>
            <a:r>
              <a:rPr lang="en-US" sz="1800" dirty="0">
                <a:solidFill>
                  <a:srgbClr val="F2EEE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]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" y="4846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9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for the day: raster objects on their own, then combining them with vector objects.</a:t>
            </a:r>
            <a:endParaRPr lang="en-US" sz="125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0CC9694-35FA-24F7-63F8-4A67A4375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6418"/>
            <a:ext cx="2031950" cy="10757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1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7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SCHEDULE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Strategic Objectives for the Day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63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A two-part approach, as on the previous day</a:t>
            </a:r>
            <a:endParaRPr lang="en-US" sz="1350" dirty="0">
              <a:latin typeface="Bell MT" panose="02020503060305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F2EEE4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860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E563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Raster Objects Alone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3621775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Internal structure of a raster: pixels, bands, resolution, extent. Critical transition from raster to Terra. Reading satellite rasters and operations applicable to rasters alone.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63640" y="196596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F2EEE4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22860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B5651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788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Raster + Vector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0" y="338328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Overlaying administrative polygons on the pixel grid. Extracting area statistics. Case study: SRTM DTM and land cover in Cameroon.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a reproducible R script covering the entire process from importing the raw raster to generating decision-making indicators by administrative unit.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Geospatial · Day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6E907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PART 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Raster Objects Alone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20692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2EEE4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Structure, packages, and operations that apply to the raster independently of any vector data</a:t>
            </a:r>
            <a:endParaRPr lang="en-US" sz="200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KEY CONCEPTS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Anatomy of Matrix Data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F2EEE4"/>
          </a:solidFill>
          <a:ln w="12700">
            <a:solidFill>
              <a:srgbClr val="E2E2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1E563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2219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Extent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Boundary coordinates (Xmin, Xmax, Ymin, Ymax) defining the bounding box of the study area.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2240280"/>
            <a:ext cx="502920" cy="502920"/>
          </a:xfrm>
          <a:prstGeom prst="ellipse">
            <a:avLst/>
          </a:prstGeom>
          <a:solidFill>
            <a:srgbClr val="1E563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22219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Spatial resolution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37960" y="28803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Actual ground size of a pixel (e.g., 30 m for SRTM). Determines the level of detail in the analysis.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F2EEE4"/>
          </a:solidFill>
          <a:ln w="12700">
            <a:solidFill>
              <a:srgbClr val="E2E2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3708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Bands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Single-channel (elevation) or multiband (multispectral satellite imagery) rasters.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411480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4389120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43708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37960" y="502920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Coordinate Reference System. Crucial for georeferencing. Standardized to WGS 84 (EPSG:4326).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Geospatial · Day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Technological Evolution: From Raster to Terra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563347"/>
              </p:ext>
            </p:extLst>
          </p:nvPr>
        </p:nvGraphicFramePr>
        <p:xfrm>
          <a:off x="457200" y="1965960"/>
          <a:ext cx="11247120" cy="3054096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Criteria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Raster Package (Legacy)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Terra package (standard)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Implementation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R, heavy dependencies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Native C++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Performance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Historical Reference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Up to 50x faster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Memory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Large-scale bottlenecks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Maximum RAM optimization, nationwide scale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Key Classes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RasterLayer / Stack / Brick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SpatRaster · SpatVector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457200" y="525780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F2EEE4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257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new analyses should be developed using terra. The raster package is mentioned here only for the purpose of reading legacy scripts.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Geospatial · Day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DATA READING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Reading Satellite-Derived Rasters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6309360" cy="3291840"/>
          </a:xfrm>
          <a:prstGeom prst="roundRect">
            <a:avLst>
              <a:gd name="adj" fmla="val 2222"/>
            </a:avLst>
          </a:prstGeom>
          <a:solidFill>
            <a:srgbClr val="0F2F1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4884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library(terra)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# Single-band raster (e.g., SRTM DTM)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mnt &lt;- rast("srtm_cameroun.tif")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# Multiband raster (e.g., Copernicus)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landcover &lt;- rast("copernicus_lc.tif")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# Inspecting the structure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crs(mnt); res(mnt); ext(mnt); nlyr(mnt)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995160" y="1965960"/>
            <a:ext cx="4736592" cy="1463040"/>
          </a:xfrm>
          <a:prstGeom prst="roundRect">
            <a:avLst>
              <a:gd name="adj" fmla="val 5625"/>
            </a:avLst>
          </a:prstGeom>
          <a:solidFill>
            <a:srgbClr val="F2EEE4"/>
          </a:solidFill>
          <a:ln/>
        </p:spPr>
      </p:sp>
      <p:sp>
        <p:nvSpPr>
          <p:cNvPr id="8" name="Shape 6"/>
          <p:cNvSpPr/>
          <p:nvPr/>
        </p:nvSpPr>
        <p:spPr>
          <a:xfrm>
            <a:off x="7269480" y="2240280"/>
            <a:ext cx="457200" cy="45720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SRTM DTM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223760" y="28346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6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Topography — 30 m resolution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995160" y="3657600"/>
            <a:ext cx="4736592" cy="1463040"/>
          </a:xfrm>
          <a:prstGeom prst="roundRect">
            <a:avLst>
              <a:gd name="adj" fmla="val 5625"/>
            </a:avLst>
          </a:prstGeom>
          <a:solidFill>
            <a:srgbClr val="F2EEE4"/>
          </a:solidFill>
          <a:ln/>
        </p:spPr>
      </p:sp>
      <p:sp>
        <p:nvSpPr>
          <p:cNvPr id="13" name="Shape 11"/>
          <p:cNvSpPr/>
          <p:nvPr/>
        </p:nvSpPr>
        <p:spPr>
          <a:xfrm>
            <a:off x="7269480" y="3931920"/>
            <a:ext cx="457200" cy="457200"/>
          </a:xfrm>
          <a:prstGeom prst="ellipse">
            <a:avLst/>
          </a:prstGeom>
          <a:solidFill>
            <a:srgbClr val="1E5631"/>
          </a:solidFill>
          <a:ln/>
        </p:spPr>
      </p:sp>
      <p:sp>
        <p:nvSpPr>
          <p:cNvPr id="14" name="Text 12"/>
          <p:cNvSpPr/>
          <p:nvPr/>
        </p:nvSpPr>
        <p:spPr>
          <a:xfrm>
            <a:off x="72694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6384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Copernicus Land Cover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223760" y="4526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6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Land cover — 100 m resolution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Geospatial · Day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GEOTECHNICAL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Cutting and Masking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86400" cy="2651760"/>
          </a:xfrm>
          <a:prstGeom prst="roundRect">
            <a:avLst>
              <a:gd name="adj" fmla="val 3103"/>
            </a:avLst>
          </a:prstGeom>
          <a:solidFill>
            <a:srgbClr val="F2EEE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1E563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1945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Cropping — crop()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Crops the matrix to the rectangular bounding box of the study area.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361188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0F2F1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794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mnt_crop &lt;-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crop(mnt, extent)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965960"/>
            <a:ext cx="5486400" cy="2651760"/>
          </a:xfrm>
          <a:prstGeom prst="roundRect">
            <a:avLst>
              <a:gd name="adj" fmla="val 3103"/>
            </a:avLst>
          </a:prstGeom>
          <a:solidFill>
            <a:srgbClr val="F2EEE4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7960" y="2240280"/>
            <a:ext cx="457200" cy="457200"/>
          </a:xfrm>
          <a:prstGeom prst="ellipse">
            <a:avLst/>
          </a:prstGeom>
          <a:solidFill>
            <a:srgbClr val="1E5631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21945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Masking — mask()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27889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any pixel located outside the exact administrative boundaries to NA.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361188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0F2F1B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3794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mnt_msk &lt;-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mask(mnt_crop, boundary)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89204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1E563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029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F2EEE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Institutional Rigor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7240" y="53492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operations ensure that your statistics apply only to the sovereign territory, eliminating peripheral noise and streamlining calculations.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Geospatial · Day 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GEOPROCESSING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Resampling and Aggregation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F2EEE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B5651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resample()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a source raster to the geometry of a target raster. This step is required before performing any map algebra operations.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F2EEE4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1945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E563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aggregate()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37960" y="27889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resolution to produce larger cells. Uses mean (physical variable) or sum (counting variable).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1124712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Interpolation Semantics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7240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565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 </a:t>
            </a:r>
            <a:r>
              <a:rPr lang="en-US" sz="2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categorical variables (land cover).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5120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5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bilinear </a:t>
            </a:r>
            <a:r>
              <a:rPr lang="en-US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continuous variables (topography, temperature).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77240" y="562356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Common pitfall: Using `mean` for a stock variable (population) underestimates the totals—use `sum` instead.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Geospatial · Day 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648"/>
            <a:ext cx="164592" cy="685800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6E907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PART 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Raster + Vector Combination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2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intersection between the physical world (raster) and the administrative world (vectors)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PIVOT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Area Statistics — extract()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0F2F1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488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vect_reg &lt;- vect("gadm41_CMR_1.shp")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 &lt;- extract(mnt_msk, vect_reg,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fun = mean, na.rm = TRUE)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965960"/>
            <a:ext cx="5760720" cy="3063240"/>
          </a:xfrm>
          <a:prstGeom prst="roundRect">
            <a:avLst>
              <a:gd name="adj" fmla="val 2687"/>
            </a:avLst>
          </a:prstGeom>
          <a:solidFill>
            <a:srgbClr val="F2EEE4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2148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Decision-Making Applications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2651760"/>
            <a:ext cx="292608" cy="29260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651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57860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Overlays the official polygons onto the pixel grid.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17920" y="3401568"/>
            <a:ext cx="292608" cy="29260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3401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332841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all intersecting cells.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17920" y="4151376"/>
            <a:ext cx="292608" cy="29260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41513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4078224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consolidated decision-making indicators by region or department.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5B6B63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“This is the point where the physical world (raster) and the political world (administrative vectors) converge.”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Geospatial · Day 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SCHOOL CASE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Risks in Cameroon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2EEE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1945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Urban Vulnerabilities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built-up areas located in low-lying areas that are prone to flooding.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0F2F1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251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= (Elevation &lt; 500 m)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&amp; (Urban == 3)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212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6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Note: Code 3 corresponds to the “Urban” class in Copernicus Land Cover.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049569"/>
              </p:ext>
            </p:extLst>
          </p:nvPr>
        </p:nvGraphicFramePr>
        <p:xfrm>
          <a:off x="6245352" y="1965960"/>
          <a:ext cx="5468112" cy="2255520"/>
        </p:xfrm>
        <a:graphic>
          <a:graphicData uri="http://schemas.openxmlformats.org/drawingml/2006/table">
            <a:tbl>
              <a:tblPr/>
              <a:tblGrid>
                <a:gridCol w="1822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2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2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Layer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Source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Resolution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srtm_cameroun.tif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SRTM (NASA/USGS)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30 m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copernicus_lc.tif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Copernicus GLC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100 m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gadm41_CMR_1.shp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GADM Level 1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vector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245352" y="4343400"/>
            <a:ext cx="5468112" cy="1691640"/>
          </a:xfrm>
          <a:prstGeom prst="roundRect">
            <a:avLst>
              <a:gd name="adj" fmla="val 4865"/>
            </a:avLst>
          </a:prstGeom>
          <a:solidFill>
            <a:srgbClr val="1E5631"/>
          </a:solidFill>
          <a:ln/>
        </p:spPr>
      </p:sp>
      <p:sp>
        <p:nvSpPr>
          <p:cNvPr id="15" name="Text 12"/>
          <p:cNvSpPr/>
          <p:nvPr/>
        </p:nvSpPr>
        <p:spPr>
          <a:xfrm>
            <a:off x="6519672" y="4526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2EEE4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Cross-sectoral application</a:t>
            </a:r>
            <a:endParaRPr lang="en-US" sz="1400" dirty="0">
              <a:latin typeface="Bell MT" panose="02020503060305020303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519672" y="48463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The integration of topography (SRTM) and land cover (Copernicus) transforms two physical layers into a risk indicator that can be directly used for public decision-making.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Geospatial · Day 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E9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PRODUCTION SYNTAX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Complete Algebraic Implementation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10515600" cy="4663440"/>
          </a:xfrm>
          <a:prstGeom prst="roundRect">
            <a:avLst>
              <a:gd name="adj" fmla="val 1569"/>
            </a:avLst>
          </a:prstGeom>
          <a:solidFill>
            <a:srgbClr val="0F2F1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691640"/>
            <a:ext cx="100584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library(terra)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Importing data structures  —  [Part 1: Raster only]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srtm_cmr  &lt;- rast("srtm_cameroun.tif")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vect_reg  &lt;- vect("gadm41_CMR_1.shp")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Alignment and masking      —  [Part 1: Raster only]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srtm_msk &lt;- mask(crop(srtm_cmr, vect_reg), vect_reg)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Multicriteria map algebra —  [Part 2: raster + vector]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zones_risk &lt;- (srtm_msk &lt; 500) &amp; (landcover == 3)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Extraction by GADM unit   —  [Part 2: raster + vector]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 &lt;- terra::extract(srtm_msk, vect_reg, fun = mean, na.rm = TRUE)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9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08392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9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Geospatial · Day 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Spatial Statistician’s Checklist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F2EEE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77440"/>
            <a:ext cx="594360" cy="594360"/>
          </a:xfrm>
          <a:prstGeom prst="ellipse">
            <a:avLst/>
          </a:prstGeom>
          <a:solidFill>
            <a:srgbClr val="1E563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77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CRS Alert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Verify that the coordinate systems are exactly the same before any extract() operation.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79392" y="210312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F2EEE4"/>
          </a:solidFill>
          <a:ln/>
        </p:spPr>
      </p:sp>
      <p:sp>
        <p:nvSpPr>
          <p:cNvPr id="11" name="Shape 9"/>
          <p:cNvSpPr/>
          <p:nvPr/>
        </p:nvSpPr>
        <p:spPr>
          <a:xfrm>
            <a:off x="4599432" y="2377440"/>
            <a:ext cx="594360" cy="59436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377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53712" y="3154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RAM Footprint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53712" y="36576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Always include `crop()` at the beginning to reduce the size of the matrices.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01584" y="210312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F2EEE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21624" y="2377440"/>
            <a:ext cx="594360" cy="594360"/>
          </a:xfrm>
          <a:prstGeom prst="ellipse">
            <a:avLst/>
          </a:prstGeom>
          <a:solidFill>
            <a:srgbClr val="1E5631"/>
          </a:solidFill>
          <a:ln/>
        </p:spPr>
      </p:sp>
      <p:sp>
        <p:nvSpPr>
          <p:cNvPr id="17" name="Text 15"/>
          <p:cNvSpPr/>
          <p:nvPr/>
        </p:nvSpPr>
        <p:spPr>
          <a:xfrm>
            <a:off x="8421624" y="2377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75904" y="3154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NA Caution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75904" y="36576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argument na.rm = TRUE is required for valid official figures.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Geospatial · Day 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83080"/>
            <a:ext cx="4389120" cy="3291840"/>
          </a:xfrm>
          <a:prstGeom prst="ellipse">
            <a:avLst/>
          </a:prstGeom>
          <a:ln w="15875">
            <a:solidFill>
              <a:srgbClr val="6E9075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2194560"/>
            <a:ext cx="3291840" cy="2468880"/>
          </a:xfrm>
          <a:prstGeom prst="ellipse">
            <a:avLst/>
          </a:prstGeom>
          <a:ln w="15875">
            <a:solidFill>
              <a:srgbClr val="B5651D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2606040"/>
            <a:ext cx="2194560" cy="1645920"/>
          </a:xfrm>
          <a:prstGeom prst="ellipse">
            <a:avLst/>
          </a:prstGeom>
          <a:ln w="15875">
            <a:solidFill>
              <a:srgbClr val="6E9075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3017520"/>
            <a:ext cx="1097280" cy="822960"/>
          </a:xfrm>
          <a:prstGeom prst="ellipse">
            <a:avLst/>
          </a:prstGeom>
          <a:ln w="15875">
            <a:solidFill>
              <a:srgbClr val="B5651D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0" y="26517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6E9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THE SESSION — DAY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310896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IFORD — Excellence &amp; Rigor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0" y="38404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 only → Raster + vector → Decision.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Sources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Topographic cover illustration: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5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en-gb.topographic-map.com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Geospatial · Day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1236</Words>
  <Application>Microsoft Office PowerPoint</Application>
  <PresentationFormat>Grand écran</PresentationFormat>
  <Paragraphs>202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Bell MT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keywords>, docId:EFE7406865A2DC088DA0674D4BE8E74E</cp:keywords>
  <cp:lastModifiedBy>PC</cp:lastModifiedBy>
  <cp:revision>4</cp:revision>
  <dcterms:created xsi:type="dcterms:W3CDTF">2026-07-13T10:20:19Z</dcterms:created>
  <dcterms:modified xsi:type="dcterms:W3CDTF">2026-07-30T06:52:19Z</dcterms:modified>
</cp:coreProperties>
</file>