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0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508760"/>
            <a:ext cx="4754880" cy="35661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51660"/>
            <a:ext cx="3840480" cy="2880360"/>
          </a:xfrm>
          <a:prstGeom prst="ellipse">
            <a:avLst/>
          </a:prstGeom>
          <a:ln w="15875">
            <a:solidFill>
              <a:srgbClr val="B5651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194560"/>
            <a:ext cx="2926080" cy="21945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2537460"/>
            <a:ext cx="2011680" cy="1508760"/>
          </a:xfrm>
          <a:prstGeom prst="ellipse">
            <a:avLst/>
          </a:prstGeom>
          <a:ln w="15875">
            <a:solidFill>
              <a:srgbClr val="B5651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2880360"/>
            <a:ext cx="1097280" cy="822960"/>
          </a:xfrm>
          <a:prstGeom prst="ellipse">
            <a:avLst/>
          </a:prstGeom>
          <a:ln w="15875">
            <a:solidFill>
              <a:srgbClr val="6E9075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Analyse des Données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Géospatiales avec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029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Jour 3_jour4 — Données raster dans R. [</a:t>
            </a:r>
            <a:r>
              <a:rPr lang="en-US" sz="1800" dirty="0" err="1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Maîtrise</a:t>
            </a: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des données matricielles &amp; </a:t>
            </a:r>
            <a:r>
              <a:rPr lang="en-US" sz="1800" dirty="0" err="1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algèbre</a:t>
            </a: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spatiale</a:t>
            </a:r>
            <a:r>
              <a:rPr lang="en-US" sz="18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]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4846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journée : les objets raster seuls, puis leur combinaison avec les objets vectoriels.</a:t>
            </a:r>
            <a:endParaRPr lang="en-US" sz="125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0CC9694-35FA-24F7-63F8-4A67A4375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6418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JOURNÉE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Objectifs stratégiques du jour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3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Une progression en deux temps, comme pour la journée précédente</a:t>
            </a:r>
            <a:endParaRPr lang="en-US" sz="1350" dirty="0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2EEE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563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objets raster seuls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621775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Structure intime du raster : pixels, bandes, résolution, étendue. Transition critique de raster vers terra. Lecture des rasters satellitaires et opérations qui s'appliquent au raster seul.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2E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+ vecteur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Superposition des polygones administratifs sur le maillage pixel. Extraction de statistiques de zones. Étude de cas : MNT SRTM et occupation des sols du Cameroun.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 un script R reproductible allant de l'import du raster brut jusqu'aux indicateurs décisionnels par unité administrative.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E907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objets raster seuls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20692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EEE4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Structure, packages, et opérations qui s'appliquent au raster indépendamment de tout vecteur</a:t>
            </a:r>
            <a:endParaRPr lang="en-US" sz="20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CONCEPTS CLÉS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Anatomie de la donnée matricielle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2EEE4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Étendue (extent)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Coordonnées limites (Xmin, Xmax, Ymin, Ymax) définissant la boîte englobante de la zone d'étude.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221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Résolution spatiale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Taille réelle au sol d'un pixel (ex. 30 m pour SRTM). Détermine le niveau de détail de l'analyse.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2EEE4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bandes (bands)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Rasters monocanaux (altitude) ou multibandes (imagerie multispectrale satellite).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50292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Système de référence des coordonnées. Crucial pour la superposition. Standardisation en WGS 84 (EPSG:4326).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L'évolution technologique : de raster à terra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63347"/>
              </p:ext>
            </p:extLst>
          </p:nvPr>
        </p:nvGraphicFramePr>
        <p:xfrm>
          <a:off x="457200" y="1965960"/>
          <a:ext cx="11247120" cy="305409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Critère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 raster (héritage)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 terra (standard)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Implémentation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R, dépendances lourdes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C++ natif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Performance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Référence historique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Jusqu'à 50x plus rapide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Mémoire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Goulets d'étranglement à grande échelle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Optimisation maximale de la RAM, échelle nationale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Classes clés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RasterLayer / Stack / Brick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SpatRaster · SpatVector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52578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2EEE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</a:t>
            </a: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nouvelle analyse doit être développée avec terra. Le package raster n'est mentionné ici que pour la lecture de scripts hérités.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LECTURE DES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Lecture des rasters dérivés de satellites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library(terra)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Raster mono-bande (ex. MNT SRTM)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mnt &lt;- rast("srtm_cameroun.tif")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Raster multibande (ex. Copernicus)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landcover &lt;- rast("copernicus_lc.tif")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Inspection de la structure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crs(mnt); res(mnt); ext(mnt); nlyr(mnt)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95160" y="1965960"/>
            <a:ext cx="4736592" cy="1463040"/>
          </a:xfrm>
          <a:prstGeom prst="roundRect">
            <a:avLst>
              <a:gd name="adj" fmla="val 5625"/>
            </a:avLst>
          </a:prstGeom>
          <a:solidFill>
            <a:srgbClr val="F2EEE4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MNT SRTM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23760" y="2834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Topographie — résolution 30 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95160" y="3657600"/>
            <a:ext cx="4736592" cy="1463040"/>
          </a:xfrm>
          <a:prstGeom prst="roundRect">
            <a:avLst>
              <a:gd name="adj" fmla="val 5625"/>
            </a:avLst>
          </a:prstGeom>
          <a:solidFill>
            <a:srgbClr val="F2E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9480" y="393192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Copernicus Land Cover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23760" y="4526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Occupation des sols — résolution 100 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GÉOTRAITEMENTS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Découpage et masquage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 découpage — crop()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Réduit la matrice à la boîte englobante rectangulaire de la zone d'étude.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F2F1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mnt_crop &lt;-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crop(mnt, etendue)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2E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masquage — mask()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à NA tout pixel situé hors des frontières administratives exactes.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6118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F2F1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mnt_msk &lt;-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mask(mnt_crop, contour)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E563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2EEE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Rigueur institutionnelle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opérations garantissent que vos statistiques ne concernent que le territoire souverain, en éliminant les bruits périphériques et en allégeant les calculs.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GÉOTRAITEMENTS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Rééchantillonnage et agrégation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resample()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 un raster source sur la géométrie d'un raster cible. Étape obligatoire avant toute algèbre de cartes.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2EEE4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E563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Diminue la résolution pour des cellules plus grandes. Utilise mean (variable physique) ou sum (variable de comptage).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1247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Sémiologie d'interpolation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</a:t>
            </a: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pour les variables qualitatives (occupation du sol).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5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bilinear</a:t>
            </a: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pour les variables continues (topographie, température).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Piège fréquent : utiliser mean pour une variable de stock (population) sous-estime les totaux — préférer sum.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648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E907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Combinaison raster + vecteur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convergence entre le monde physique (raster) et le monde administratif (vecteurs)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ANALYSE PIVOT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Statistiques de zones — extract()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vect_reg &lt;- vect("gadm41_CMR_1.shp")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&lt;- extract(mnt_msk, vect_reg,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fun = mean, na.rm = TRUE)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965960"/>
            <a:ext cx="5760720" cy="3063240"/>
          </a:xfrm>
          <a:prstGeom prst="roundRect">
            <a:avLst>
              <a:gd name="adj" fmla="val 2687"/>
            </a:avLst>
          </a:prstGeom>
          <a:solidFill>
            <a:srgbClr val="F2EEE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Usage décisionnel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5786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Superpose les polygones officiels sur le maillage pixel.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3401568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32841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l'ensemble des cellules intersectées.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7920" y="4151376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151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indicateurs décisionnels consolidés par région ou département.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6B63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« C'est le point de convergence entre le monde physique (raster) et le monde politique (vecteurs administratifs). »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CAS D'ÉCOLE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risques au Cameroun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Vulnérabilités urbaines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espaces bâtis situés en zones de basse altitude, exposés aux inondations.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0F2F1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51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Risque = (Altitude &lt; 500m)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 (Urbain == 3)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 : le code 3 correspond à la classe « Urbain » dans Copernicus Land Cover.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49569"/>
              </p:ext>
            </p:extLst>
          </p:nvPr>
        </p:nvGraphicFramePr>
        <p:xfrm>
          <a:off x="6245352" y="1965960"/>
          <a:ext cx="5468112" cy="2255520"/>
        </p:xfrm>
        <a:graphic>
          <a:graphicData uri="http://schemas.openxmlformats.org/drawingml/2006/table">
            <a:tbl>
              <a:tblPr/>
              <a:tblGrid>
                <a:gridCol w="1822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Couche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Source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Résolution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srtm_cameroun.tif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SRTM (NASA/USGS)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30 m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copernicus_lc.tif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Copernicus GLC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100 m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gadm41_CMR_1.shp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GADM niveau 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45352" y="4343400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1E5631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4526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EEE4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Pratique intersectorielle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19672" y="48463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Le croisement topographie (SRTM) × occupation du sol (Copernicus) transforme deux couches physiques en un indicateur de risque directement mobilisable pour la décision publique.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11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DE PRODUCTION 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Implémentation algébrique complète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4663440"/>
          </a:xfrm>
          <a:prstGeom prst="roundRect">
            <a:avLst>
              <a:gd name="adj" fmla="val 1569"/>
            </a:avLst>
          </a:prstGeom>
          <a:solidFill>
            <a:srgbClr val="0F2F1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library(terra)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Importation des structures  —  [Partie 1 : raster seul]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srtm_cmr  &lt;- rast("srtm_cameroun.tif")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vect_reg  &lt;- vect("gadm41_CMR_1.shp")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Alignement et masquage      —  [Partie 1 : raster seul]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srtm_msk &lt;- mask(crop(srtm_cmr, vect_reg), vect_reg)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Algèbre de cartes multicritère —  [Partie 2 : raster + vecteur]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zones_risk &lt;- (srtm_msk &lt; 500) &amp; (landcover == 3)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Extraction par unité GADM   —  [Partie 2 : raster + vecteur]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&lt;- terra::extract(srtm_msk, vect_reg, fun = mean, na.rm = TRUE)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08392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Check-list du statisticien spatial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Alerte CRS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Vérifiez l'identité stricte des systèmes de coordonnées avant tout extract().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377440"/>
            <a:ext cx="594360" cy="5943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Empreinte RAM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712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Intégrez systématiquement crop() au début pour alléger les matrices.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21031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2EEE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1624" y="2377440"/>
            <a:ext cx="594360" cy="59436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5904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Vigilance NA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36576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L'argument na.rm = TRUE est obligatoire pour des chiffres officiels valides.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83080"/>
            <a:ext cx="4389120" cy="3291840"/>
          </a:xfrm>
          <a:prstGeom prst="ellipse">
            <a:avLst/>
          </a:prstGeom>
          <a:ln w="15875">
            <a:solidFill>
              <a:srgbClr val="6E9075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2194560"/>
            <a:ext cx="3291840" cy="2468880"/>
          </a:xfrm>
          <a:prstGeom prst="ellipse">
            <a:avLst/>
          </a:prstGeom>
          <a:ln w="15875">
            <a:solidFill>
              <a:srgbClr val="B5651D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606040"/>
            <a:ext cx="2194560" cy="1645920"/>
          </a:xfrm>
          <a:prstGeom prst="ellipse">
            <a:avLst/>
          </a:prstGeom>
          <a:ln w="15875">
            <a:solidFill>
              <a:srgbClr val="6E907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3017520"/>
            <a:ext cx="1097280" cy="822960"/>
          </a:xfrm>
          <a:prstGeom prst="ellipse">
            <a:avLst/>
          </a:prstGeom>
          <a:ln w="15875">
            <a:solidFill>
              <a:srgbClr val="B5651D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651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E9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SESSION — JOUR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31089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IFORD — Excellence &amp; Rigueur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3840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seul → Raster + vecteur → Décision.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EE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des images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de couverture topographique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en-gb.topographic-map.com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— R Géospatial · Jour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1261</Words>
  <Application>Microsoft Office PowerPoint</Application>
  <PresentationFormat>Grand écran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Bell MT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4</cp:revision>
  <dcterms:created xsi:type="dcterms:W3CDTF">2026-07-13T10:20:19Z</dcterms:created>
  <dcterms:modified xsi:type="dcterms:W3CDTF">2026-07-30T06:50:01Z</dcterms:modified>
</cp:coreProperties>
</file>