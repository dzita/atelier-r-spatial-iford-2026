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47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657600" cy="3657600"/>
          </a:xfrm>
          <a:prstGeom prst="ellipse">
            <a:avLst/>
          </a:prstGeom>
          <a:solidFill>
            <a:srgbClr val="B8504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5511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ANALYSE SPATIALE — DONNÉES, ANALYSE ET MANIPULATION DANS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82137" y="2223629"/>
            <a:ext cx="1125940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Module 1 — Jour 2</a:t>
            </a:r>
            <a:r>
              <a:rPr lang="en-US" sz="4000" b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_J3_J4— 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Données </a:t>
            </a:r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vectorielles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dans R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82137" y="3366459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7E8D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Manipuler les données spatiales dans R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2137" y="4177171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Lecture • Transformation / Analyses • Sauvegarde — sur données réelles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4938477"/>
            <a:ext cx="822960" cy="4114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2371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C9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IFORD Yaoundé — Institut de Formation et de Recherche Démographiques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B2C63E6-BAAE-8CDD-F7E0-64D08DDA0E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575" y="65112"/>
            <a:ext cx="2031950" cy="107578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008AED1-75B9-92BD-FD7D-847BE683F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745" y="179327"/>
            <a:ext cx="2031950" cy="10757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6" dur="1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7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NOTE 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191723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Quelques</a:t>
            </a: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considérations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2243283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5292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Tous les exemples s'appuient sur des données réelles : limites du Cameroun (INC/HDX), OpenStreetMap, raster WorldPop, CSV des districts de santé.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81304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Structure en trois temps : Lectures (tous les packages pertinents) → Transformation / analyses → Sauvegarde.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773168"/>
            <a:ext cx="1036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Chaque notion conceptuelle du Jour 1 (formats, opérations vectorielles, algèbre raster, combinaison raster/polygone) est ici mise en pratique dans 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du Jour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 packages R pour le spatial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Lectures : vecteur, GDB, raster, CSV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Inspection des objets spatiaux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CRS et opérations vectorielles dans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Algèbre raster dans 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788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Combinaison raster / polygone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37033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Cartographie des résultats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466344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40880" y="46177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Sauvegarde et bonnes pratiques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Objectifs pédagogiques du Jour 2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7510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Utiliser les principaux packages R pour importer des données spatiales, quel que soit leur format.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7802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Lire des données vectorielles et raster réelles (Shapefile, GeoJSON, GeoPackage, GDB, GeoTIFF).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8152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Inspecter un objet spatial avant toute analyse.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85032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Reproduire dans R les opérations vectorielles du Jour 1 : mesure, buffer, fusion, découpage, jointure spatiale.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288536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Reproduire l'algèbre raster et la combinaison raster / polygone sur des données réelles.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99262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Lier une table CSV externe (districts de santé) aux couches spatiales.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559612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495544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Sauvegarder les résultats dans un format adapté.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COMMENCER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Les packages R pour l'analyse spatiale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15185"/>
              </p:ext>
            </p:extLst>
          </p:nvPr>
        </p:nvGraphicFramePr>
        <p:xfrm>
          <a:off x="548640" y="1783080"/>
          <a:ext cx="11064240" cy="4389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Package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Rôle principal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Type de données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Statut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sf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Lecture/écriture/manipulation vectorielle (Simple Features)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Standard actuel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terra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Lecture/écriture et algèbre raster ; gère aussi le vecteur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 (+ vecteur)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Standard actuel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stars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Cubes de données spatio-temporelles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Complémentaire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dplyr / readr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Lecture CSV et manipulation d'attributs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Tabulaire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Standard actuel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ggplot2 / tmap / mapview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Cartographie statique ou interactive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 et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Standard actuel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sp / rgdal /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Anciens standards, archivés en 2023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Vecteur / raster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Historique — à éviter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76072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nouveau projet doit s'appuyer sur sf et terra, qui couvrent aujourd'hui l'ensemble des besoins vecteur et raster.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PARTIE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Lectures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Importer des données réelles, quel que soit leur format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LECTURE — VECTEUR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Lire des données vectorielles avec sf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st_read() lit la plupart des formats vectoriels. Exemples : limites administratives réelles du Cameroun (INC / HDX).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library(sf)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Shapefile — limites régionales du Cameroun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 &lt;- st_read("donnees/cmr_regions.shp")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GeoJSON — réseau routier principal (OpenStreetMap Cameroun)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 &lt;- st_read("donnees/cmr_routes_principales.geojson")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GeoPackage multi-couches — régions, départements, arrondissements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st_layers("donnees/cmr_admin.gpkg")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departements &lt;- st_read("donnees/cmr_admin.gpkg", layer = "departements")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– 1.3 LECTURE — GDB ET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Géodatabase et données raster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Une géodatabase regroupe plusieurs couches : on liste d'abord les couches disponibles.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3400" y="2331720"/>
            <a:ext cx="5394960" cy="2176272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96312"/>
            <a:ext cx="493776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Lister les couches de la géodatabase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st_layers("donnees/cameroun_admin.gdb")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Importer une couche précise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arrondissements &lt;- st_read(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"donnees/cameroun_admin.gdb",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layer = "arrondissements")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5352" y="1586484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 package terra lit les rasters (GeoTIFF) avec rast(). Exemple : population WorldPop Cameroun.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275559"/>
            <a:ext cx="5468112" cy="2558342"/>
          </a:xfrm>
          <a:prstGeom prst="roundRect">
            <a:avLst>
              <a:gd name="adj" fmla="val 30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9672" y="2275558"/>
            <a:ext cx="4937760" cy="19279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library(terra)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Population WorldPop (~100 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pop_raster &lt;- rast(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"donnees/cmr_population_worldpop_2020.tif")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Modèle numérique de terrain (SRTM)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mnt &lt;- rast("donnees/cmr_mnt_srtm.tif")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– 1.5 LECTURE — CSV ET INSPECTION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Lier un CSV externe et inspecter les objets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Districts de santé (coordonnées GPS, Ministère de la Santé / HDX) : lecture puis conversion en objet spatial.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94960" cy="3017520"/>
          </a:xfrm>
          <a:prstGeom prst="roundRect">
            <a:avLst>
              <a:gd name="adj" fmla="val 25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87752"/>
            <a:ext cx="493776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library(readr)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districts_sante &lt;- read_csv(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"donnees/cmr_districts_sante.csv")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Conversion en points, CRS WGS84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districts_sante_sf &lt;- st_as_sf(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districts_sante,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coords = c("longitude", "latitude"),</a:t>
            </a:r>
            <a:endParaRPr lang="en-US" dirty="0"/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crs = 4326)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63640" y="17830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Avant toute analyse, on inspecte systématiquement l'objet importé.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2331720"/>
            <a:ext cx="5394960" cy="3227832"/>
          </a:xfrm>
          <a:prstGeom prst="roundRect">
            <a:avLst>
              <a:gd name="adj" fmla="val 2400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96312"/>
            <a:ext cx="4937760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class(regions)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sf / data.frame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st_geometry_type(regions)  # POLYGON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st_crs(regions)   # système de coord.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head(regions)     # aperçu attributs</a:t>
            </a:r>
            <a:endParaRPr lang="en-US" sz="2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plot(st_geometry(regions))  # aperçu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PARTIE 2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Transformation, analyses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 concepts du Jour 1, mis en pratique dans 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CRS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Vérifier et transformer le système de coordonnées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Règle pratique (rappel du Jour 1) : transformer vers un CRS projeté avant tout calcul de distance ou de superficie.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Vérifier le CRS actuel (souvent WGS84 géographique)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st_crs(regions)$input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Transformer vers un CRS projeté (UTM Zone 32N — Cameroun)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regions_utm &lt;- st_transform(regions, crs = 32632)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OPÉRATIONS VECTORIELLES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Du concept (Jour 1) à la fonction 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367014"/>
              </p:ext>
            </p:extLst>
          </p:nvPr>
        </p:nvGraphicFramePr>
        <p:xfrm>
          <a:off x="548640" y="1783080"/>
          <a:ext cx="11064240" cy="4846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Opération (Jour 1)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Fonction R (sf)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Exemple sur données réelles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Mesure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st_area(), st_length()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Superficie de chaque région camerounaise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Zone tampon (buffer)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st_buffer()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Zone de 5 km autour de chaque district de santé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Fusion (dissolve)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st_union(), group_by()+summarise()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Fusionner les départements en régions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Découpage (clip)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st_intersection(), st_crop()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Routes dans la région du Centre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Intersection / union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st_intersection(), st_union()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Croiser deux couches administratives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Jointure spatiale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st_join()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Attribuer à chaque district sa région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Filtrage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filter() (dplyr)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Sélectionner la région de l'Adamaoua</a:t>
                      </a:r>
                      <a:endParaRPr lang="en-US" sz="20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OPÉRATIONS VECTORIELLES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Mise en pratique sur les données du Cameroun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library(dplyr)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Mesure : superficie de chaque région (km²), sur couche projetée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regions_utm &lt;- regions_utm %&gt;% mutate(superficie_km2 = as.numeric(st_area(.)) / 1e6)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Zone tampon de 5 km autour des districts de santé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districts_utm &lt;- st_transform(districts_sante_sf, crs = 32632)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zones_influence &lt;- st_buffer(districts_utm, dist = 5000)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Jointure spatiale : région de chaque district de santé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districts_avec_region &lt;- st_join(districts_sante_sf, regions, join = st_within)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Filtrage : ne garder que la région de l'Adamaoua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adamaoua &lt;- regions %&gt;% filter(nom_region == "Adamaoua")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ALGÈBRE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Du concept (Jour 1) à la fonction R (terra)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023255"/>
              </p:ext>
            </p:extLst>
          </p:nvPr>
        </p:nvGraphicFramePr>
        <p:xfrm>
          <a:off x="548640" y="1783080"/>
          <a:ext cx="11064240" cy="2834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Catégorie (Jour 1)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Fonction R (terra)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Exemple sur données réelles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Locale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app(), classify()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Reclasser la population en 3 classes de densité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focal()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Calculer la pente à partir du MNT (SRTM)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zonal(), extract()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Population moyenne (WorldPop) par région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Globale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distance()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B2B2B"/>
                          </a:solidFill>
                          <a:latin typeface="Arial" panose="020B0604020202020204" pitchFamily="34" charset="0"/>
                          <a:ea typeface="Calibri" pitchFamily="34" charset="-122"/>
                          <a:cs typeface="Arial" panose="020B0604020202020204" pitchFamily="34" charset="0"/>
                        </a:rPr>
                        <a:t>Distance de chaque cellule à la route la plus proche</a:t>
                      </a:r>
                      <a:endParaRPr lang="en-US" sz="1800" dirty="0">
                        <a:latin typeface="Arial" panose="020B0604020202020204" pitchFamily="34" charset="0"/>
                        <a:ea typeface="Calibri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ALGÈBRE RASTER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Mise en pratique avec terra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Opération locale : reclasser la densité de population en 3 classes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classes &lt;- matrix(c(0,50,1,  50,200,2,  200,Inf,3), ncol = 3, byrow = TRUE)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pop_classes &lt;- classify(pop_raster, classes)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Opération focale : pente à partir du modèle numérique de terrain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pente &lt;- terrain(mnt, v = "slope", unit = "degrees")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Opération globale : distance à la route la plus proche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routes_vect &lt;- vect(routes)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distance_routes &lt;- distance(pop_raster, routes_vect)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COMBINAISON RASTER / POLYGONE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Statistique zonale : population par région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Comme vu au Jour 1 : résumer un raster à l'intérieur de chaque polygone.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3794760"/>
          </a:xfrm>
          <a:prstGeom prst="roundRect">
            <a:avLst>
              <a:gd name="adj" fmla="val 1446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33472"/>
            <a:ext cx="10607040" cy="3465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Population totale par région, à partir du raster WorldPop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regions_vect &lt;- vect(regions)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pop_par_region &lt;- extract(pop_raster, regions_vect, fun = "sum", na.rm = TRUE)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Ajout du résultat à la couche des régions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regions$population_estimee &lt;- pop_par_region[, 2]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CARTOGRAPHIE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Visualiser les résultats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480560"/>
          </a:xfrm>
          <a:prstGeom prst="roundRect">
            <a:avLst>
              <a:gd name="adj" fmla="val 1224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415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geom_sf(data = regions, aes(fill = population_estimee))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geom_sf(data = districts_sante_sf, color = "firebrick", size = 1)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scale_fill_viridis_c(name = "Population estimée")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labs(title = "Population estimée par région — Cameroun") +</a:t>
            </a:r>
            <a:endParaRPr lang="en-US" sz="2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theme_minimal()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Sauvegarde</a:t>
            </a:r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Exporter les résultats dans le format le plus adapté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– 3.2 EXPORT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20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Sauvegarder les données vectorielles et raster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2834640"/>
          </a:xfrm>
          <a:prstGeom prst="roundRect">
            <a:avLst>
              <a:gd name="adj" fmla="val 1935"/>
            </a:avLst>
          </a:prstGeom>
          <a:solidFill>
            <a:srgbClr val="F4F4F2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10607040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Vecteur — Shapefile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st_write(regions, "resultats/cmr_regions_population.shp", delete_dsn = TRUE)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Vecteur — GeoPackage (recommandé pour un projet multi-couches)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st_write(regions, "resultats/cameroun_analyse.gpkg", layer = "regions", append = FALSE)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st_write(departements, "resultats/cameroun_analyse.gpkg", layer = "departements", append = FALSE)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Raster — GeoTIFF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writeRaster(pop_classes, "resultats/cmr_population_classes.tif", overwrite = TRUE)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4892040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2803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Privilégier le GeoPackage pour tout projet multi-couches.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312664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524865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Vérifier que le CRS est conservé après écriture.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733288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6692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Nommer les fichiers de façon explicite (zone, date, traitement).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IFORD Yaoundé  •  Module 1 — Jour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88552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SYNTHÈSE DU JOUR 2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Ce qu'il faut retenir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63347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Lire tout type de données réelles : vecteur, raster, géodatabase, CSV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3639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Vérifier et transformer le CRS avant toute analyse métrique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70332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6393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Reproduire les opérations vectorielles et l'algèbre raster du Jour 1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14223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Combiner raster et polygone via la statistique zonale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4515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Sauvegarder dans un format adapté, avec de bonnes pratiques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 étape : Jour 3 — Télédétection &amp; Raster.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4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C5F2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Questions ?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E8D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Merci pour votre participation active au Jour 2 !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7BC6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contact@iford-cm.org   •   www.iford-cm.org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6C9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Rendez-vous au Jour 3 : Télédétection &amp; Raster</a:t>
            </a:r>
            <a:endParaRPr lang="en-US" sz="14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2049</Words>
  <Application>Microsoft Office PowerPoint</Application>
  <PresentationFormat>Grand écran</PresentationFormat>
  <Paragraphs>308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Bell MT</vt:lpstr>
      <vt:lpstr>Calibri</vt:lpstr>
      <vt:lpstr>Cambria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PC</cp:lastModifiedBy>
  <cp:revision>14</cp:revision>
  <dcterms:created xsi:type="dcterms:W3CDTF">2026-07-13T09:38:39Z</dcterms:created>
  <dcterms:modified xsi:type="dcterms:W3CDTF">2026-07-30T06:47:59Z</dcterms:modified>
</cp:coreProperties>
</file>