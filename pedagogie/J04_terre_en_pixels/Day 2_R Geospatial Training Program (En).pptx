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38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914779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4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011680"/>
            <a:ext cx="5486400" cy="5486400"/>
          </a:xfrm>
          <a:prstGeom prst="ellipse">
            <a:avLst/>
          </a:prstGeom>
          <a:solidFill>
            <a:srgbClr val="2C5F2D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4206240"/>
            <a:ext cx="3657600" cy="3657600"/>
          </a:xfrm>
          <a:prstGeom prst="ellipse">
            <a:avLst/>
          </a:prstGeom>
          <a:solidFill>
            <a:srgbClr val="B85042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55116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150" dirty="0">
                <a:solidFill>
                  <a:srgbClr val="97BC62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SPATIAL ANALYSIS — DATA, ANALYSIS, AND MANIPULATION IN R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382137" y="2223629"/>
            <a:ext cx="11259403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Module 1 — Day 2_Day3_Day4 — Vector Data in R</a:t>
            </a: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82137" y="3366459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E7E8D1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Working with Spatial Data in R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382137" y="4177171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97BC62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Reading • Transformation / Analysis • Saving — Using Real Data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02920" y="4938477"/>
            <a:ext cx="822960" cy="41148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5237124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9D6C9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IFORD Yaoundé — Institute for Demographic Training and Research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EB2C63E6-BAAE-8CDD-F7E0-64D08DDA0E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1575" y="65112"/>
            <a:ext cx="2031950" cy="1075789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B008AED1-75B9-92BD-FD7D-847BE683FE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6745" y="179327"/>
            <a:ext cx="2031950" cy="107578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6" dur="1500" tmFilter="0, 0; .2, .5; .8, .5; 1, 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750" autoRev="1" fill="hold"/>
                                        <p:tgtEl>
                                          <p:spTgt spid="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26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0" dur="1500" tmFilter="0, 0; .2, .5; .8, .5; 1, 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750" autoRev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B85042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NOTE 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914400" y="1191723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 err="1">
                <a:solidFill>
                  <a:srgbClr val="1E4020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Some Considerations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28600" y="2243283"/>
            <a:ext cx="1005840" cy="4572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9659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92608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2C5F2D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926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2852928"/>
            <a:ext cx="103601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All examples are based on real data: Cameroon boundaries (INC/HDX), OpenStreetMap, WorldPop raster, and CSV files of health districts.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48640" y="388620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2C5F2D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886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97280" y="3813048"/>
            <a:ext cx="103601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Three-step process: Import (all relevant packages) → Transformation/analysis → Saving.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48640" y="484632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2C5F2D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846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97280" y="4773168"/>
            <a:ext cx="103601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Each conceptual topic from Day 1 (formats, vector operations, raster algebra, raster/polygon combinations) is put into practice here in R.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IFORD Yaoundé  •  Module 1 — Day 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4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2 Schedule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005840" cy="4572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920240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187452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 Packages for Space Applications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457200" cy="45720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834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88720" y="278892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Readings: vector, GDB, raster, CSV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48640" y="3749040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749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88720" y="370332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Inspection of spatial objects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48640" y="4663440"/>
            <a:ext cx="457200" cy="45720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663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88720" y="461772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CRS and vector operations in R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400800" y="1920240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040880" y="187452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Raster Algebra in R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400800" y="2834640"/>
            <a:ext cx="457200" cy="45720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2834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040880" y="278892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Raster/Polygon Combination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400800" y="3749040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0" y="3749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040880" y="370332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Mapping the Results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400800" y="4663440"/>
            <a:ext cx="457200" cy="45720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0" y="4663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040880" y="461772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Backup and Best Practices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IFORD Yaoundé  •  Module 1 — Day 2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4020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Learning Objectives for Day 2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005840" cy="4572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975104"/>
            <a:ext cx="146304" cy="146304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87452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Use the main R packages to import spatial data, regardless of their format.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48640" y="2578608"/>
            <a:ext cx="146304" cy="146304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478024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Read real-world vector and raster data (Shapefile, GeoJSON, GeoPackage, GDB, GeoTIFF).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48640" y="3182112"/>
            <a:ext cx="146304" cy="146304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081528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Inspect a spatial object before performing any analysis.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48640" y="3785616"/>
            <a:ext cx="146304" cy="146304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685032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Reproduce the vector operations from Day 1 in R: measurement, buffering, merging, clipping, and spatial join.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48640" y="4389120"/>
            <a:ext cx="146304" cy="146304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288536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Reproduce raster algebra and raster/polygon combinations using real data.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48640" y="4992624"/>
            <a:ext cx="146304" cy="146304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8920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Link an external CSV table (health districts) to the spatial layers.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48640" y="5596128"/>
            <a:ext cx="146304" cy="146304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5495544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Save the results in an appropriate format.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IFORD Yaoundé  •  Module 1 — Day 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BEGIN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4020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R Packages for Spatial Analysis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005840" cy="45720"/>
          </a:xfrm>
          <a:prstGeom prst="rect">
            <a:avLst/>
          </a:prstGeom>
          <a:solidFill>
            <a:srgbClr val="B85042"/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2715185"/>
              </p:ext>
            </p:extLst>
          </p:nvPr>
        </p:nvGraphicFramePr>
        <p:xfrm>
          <a:off x="548640" y="1783080"/>
          <a:ext cx="11064240" cy="438912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Package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Primary Function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Data Type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Status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sf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Read/Write/Vector Manipulation (Simple Features)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Vector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Current standard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terra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Raster read/write and algebra; also supports vector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Raster (+ vector)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Current standard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stars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Spatio-temporal data cubes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Raster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Complementary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dplyr / readr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Reading CSV files and manipulating attributes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Tabular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Current Standard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ggplot2 / tmap / mapview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Static or interactive mapping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Vector and raster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Current standard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sp / rgdal / raster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Legacy standards, archived in 2023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Vector / raster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Legacy — to be avoided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3"/>
          <p:cNvSpPr/>
          <p:nvPr/>
        </p:nvSpPr>
        <p:spPr>
          <a:xfrm>
            <a:off x="576072" y="621792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new projects must use sf and terra, which now cover all vector and raster needs.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IFORD Yaoundé  •  Module 1 — Day 2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4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011680"/>
            <a:ext cx="5486400" cy="5486400"/>
          </a:xfrm>
          <a:prstGeom prst="ellipse">
            <a:avLst/>
          </a:prstGeom>
          <a:solidFill>
            <a:srgbClr val="2C5F2D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468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150" dirty="0">
                <a:solidFill>
                  <a:srgbClr val="97BC62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PART 1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31520" y="288036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Readings</a:t>
            </a:r>
            <a:endParaRPr lang="en-US" sz="3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31520" y="37947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E7E8D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Importing real-world data, regardless of format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 READING — VECTOR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4020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Reading vector data with sf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005840" cy="4572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8308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st_read() reads most vector formats. Examples: actual administrative boundaries of Cameroon (INC / HDX).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2468880"/>
            <a:ext cx="11064240" cy="3794760"/>
          </a:xfrm>
          <a:prstGeom prst="roundRect">
            <a:avLst>
              <a:gd name="adj" fmla="val 1446"/>
            </a:avLst>
          </a:prstGeom>
          <a:solidFill>
            <a:srgbClr val="F4F4F2"/>
          </a:solidFill>
          <a:ln w="12700">
            <a:solidFill>
              <a:srgbClr val="D8D8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633472"/>
            <a:ext cx="10607040" cy="34655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library(sf)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Shapefile — regional boundaries of Cameroon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regions &lt;- st_read("data/cmr_regions.shp")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GeoJSON — major road network (OpenStreetMap Cameroon)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routes &lt;- st_read("data/cmr_main_roads.geojson")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Multi-layer GeoPackage — regions, departments, districts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st_layers("data/cmr_admin.gpkg")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departments &lt;- st_read("data/cmr_admin.gpkg", layer = "departments")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IFORD Yaoundé  •  Module 1 — Day 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– 1.3 READING — GDB AND RASTER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4020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Geodatabase and Raster Data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005840" cy="4572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45920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 geodatabase contains multiple layers: first, list the available layers.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33400" y="2331720"/>
            <a:ext cx="5394960" cy="2176272"/>
          </a:xfrm>
          <a:prstGeom prst="roundRect">
            <a:avLst>
              <a:gd name="adj" fmla="val 3000"/>
            </a:avLst>
          </a:prstGeom>
          <a:solidFill>
            <a:srgbClr val="F4F4F2"/>
          </a:solidFill>
          <a:ln w="12700">
            <a:solidFill>
              <a:srgbClr val="D8D8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496312"/>
            <a:ext cx="4937760" cy="1499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# List the layers in the geodatabase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st_layers("data/cameroun_admin.gdb")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 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# Import a specific layer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districts &lt;- st_read(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  "data/cameroun_admin.gdb",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  layer = "arrondissements")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6245352" y="1586484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The terra package reads rasters (GeoTIFF) using rast(). Example: WorldPop population data for Cameroon.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263640" y="2275559"/>
            <a:ext cx="5468112" cy="2558342"/>
          </a:xfrm>
          <a:prstGeom prst="roundRect">
            <a:avLst>
              <a:gd name="adj" fmla="val 3000"/>
            </a:avLst>
          </a:prstGeom>
          <a:solidFill>
            <a:srgbClr val="F4F4F2"/>
          </a:solidFill>
          <a:ln w="12700">
            <a:solidFill>
              <a:srgbClr val="D8D8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19672" y="2275558"/>
            <a:ext cx="4937760" cy="192795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library(terra)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 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# WorldPop population (~100 m)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pop_raster &lt;- rast(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  "data/cmr_population_worldpop_2020.tif")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 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# Digital Elevation Model (SRTM)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mnt &lt;- rast("data/cmr_mnt_srtm.tif")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IFORD Yaoundé  •  Module 1 — Day 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 – 1.5 READING — CSV AND INSPECTION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4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Link an external CSV file and inspect the objects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005840" cy="4572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83080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Health districts (GPS coordinates, Ministry of Health / HDX): read and then convert to a spatial object.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2423160"/>
            <a:ext cx="5394960" cy="3017520"/>
          </a:xfrm>
          <a:prstGeom prst="roundRect">
            <a:avLst>
              <a:gd name="adj" fmla="val 2500"/>
            </a:avLst>
          </a:prstGeom>
          <a:solidFill>
            <a:srgbClr val="F4F4F2"/>
          </a:solidFill>
          <a:ln w="12700">
            <a:solidFill>
              <a:srgbClr val="D8D8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587752"/>
            <a:ext cx="4937760" cy="1865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library(readr)</a:t>
            </a:r>
            <a:endParaRPr lang="en-US" dirty="0"/>
          </a:p>
          <a:p>
            <a:pPr marL="0" indent="0">
              <a:lnSpc>
                <a:spcPct val="118000"/>
              </a:lnSpc>
              <a:buNone/>
            </a:pPr>
            <a:r>
              <a:rPr lang="en-US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districts_sante &lt;- read_csv(</a:t>
            </a:r>
            <a:endParaRPr lang="en-US" dirty="0"/>
          </a:p>
          <a:p>
            <a:pPr marL="0" indent="0">
              <a:lnSpc>
                <a:spcPct val="118000"/>
              </a:lnSpc>
              <a:buNone/>
            </a:pPr>
            <a:r>
              <a:rPr lang="en-US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"data/cmr_health_districts.csv")</a:t>
            </a:r>
            <a:endParaRPr lang="en-US" dirty="0"/>
          </a:p>
          <a:p>
            <a:pPr marL="0" indent="0">
              <a:lnSpc>
                <a:spcPct val="118000"/>
              </a:lnSpc>
              <a:buNone/>
            </a:pPr>
            <a:r>
              <a:rPr lang="en-US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dirty="0"/>
          </a:p>
          <a:p>
            <a:pPr marL="0" indent="0">
              <a:lnSpc>
                <a:spcPct val="118000"/>
              </a:lnSpc>
              <a:buNone/>
            </a:pPr>
            <a:r>
              <a:rPr lang="en-US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Convert to points, WGS84 CRS</a:t>
            </a:r>
            <a:endParaRPr lang="en-US" dirty="0"/>
          </a:p>
          <a:p>
            <a:pPr marL="0" indent="0">
              <a:lnSpc>
                <a:spcPct val="118000"/>
              </a:lnSpc>
              <a:buNone/>
            </a:pPr>
            <a:r>
              <a:rPr lang="en-US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districts_sante_sf &lt;- st_as_sf(</a:t>
            </a:r>
            <a:endParaRPr lang="en-US" dirty="0"/>
          </a:p>
          <a:p>
            <a:pPr marL="0" indent="0">
              <a:lnSpc>
                <a:spcPct val="118000"/>
              </a:lnSpc>
              <a:buNone/>
            </a:pPr>
            <a:r>
              <a:rPr lang="en-US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districts_sante,</a:t>
            </a:r>
            <a:endParaRPr lang="en-US" dirty="0"/>
          </a:p>
          <a:p>
            <a:pPr marL="0" indent="0">
              <a:lnSpc>
                <a:spcPct val="118000"/>
              </a:lnSpc>
              <a:buNone/>
            </a:pPr>
            <a:r>
              <a:rPr lang="en-US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coords = c("longitude", "latitude"),</a:t>
            </a:r>
            <a:endParaRPr lang="en-US" dirty="0"/>
          </a:p>
          <a:p>
            <a:pPr marL="0" indent="0">
              <a:lnSpc>
                <a:spcPct val="118000"/>
              </a:lnSpc>
              <a:buNone/>
            </a:pPr>
            <a:r>
              <a:rPr lang="en-US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crs = 4326)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263640" y="178308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Before any analysis, we systematically inspect the imported object.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263640" y="2331720"/>
            <a:ext cx="5394960" cy="3227832"/>
          </a:xfrm>
          <a:prstGeom prst="roundRect">
            <a:avLst>
              <a:gd name="adj" fmla="val 2400"/>
            </a:avLst>
          </a:prstGeom>
          <a:solidFill>
            <a:srgbClr val="F4F4F2"/>
          </a:solidFill>
          <a:ln w="12700">
            <a:solidFill>
              <a:srgbClr val="D8D8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2496312"/>
            <a:ext cx="4937760" cy="1956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class(regions)</a:t>
            </a:r>
            <a:endParaRPr lang="en-US" sz="20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sf / data.frame</a:t>
            </a:r>
            <a:endParaRPr lang="en-US" sz="20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st_geometry_type(regions)  # POLYGON</a:t>
            </a:r>
            <a:endParaRPr lang="en-US" sz="20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st_crs(regions)   # coordinate system</a:t>
            </a:r>
            <a:endParaRPr lang="en-US" sz="20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head(regions)     # preview attributes</a:t>
            </a:r>
            <a:endParaRPr lang="en-US" sz="20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plot(st_geometry(regions))  # preview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IFORD Yaoundé  •  Module 1 — Day 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4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011680"/>
            <a:ext cx="5486400" cy="5486400"/>
          </a:xfrm>
          <a:prstGeom prst="ellipse">
            <a:avLst/>
          </a:prstGeom>
          <a:solidFill>
            <a:srgbClr val="2C5F2D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468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150" dirty="0">
                <a:solidFill>
                  <a:srgbClr val="97BC62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PART 2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31520" y="288036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Transformation, Analysis</a:t>
            </a:r>
            <a:endParaRPr lang="en-US" sz="3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31520" y="37947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E7E8D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Day 1 Concepts, Put into Practice in R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CRS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4020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Check and transform the coordinate system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005840" cy="4572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8308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Rule of thumb (reminder from Day 1): Transform to a projected CRS before calculating any distances or areas.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2468880"/>
            <a:ext cx="11064240" cy="3794760"/>
          </a:xfrm>
          <a:prstGeom prst="roundRect">
            <a:avLst>
              <a:gd name="adj" fmla="val 1446"/>
            </a:avLst>
          </a:prstGeom>
          <a:solidFill>
            <a:srgbClr val="F4F4F2"/>
          </a:solidFill>
          <a:ln w="12700">
            <a:solidFill>
              <a:srgbClr val="D8D8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633472"/>
            <a:ext cx="10607040" cy="34655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# Check the current CRS (often geographic WGS84)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st_crs(regions)$input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 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# Transform to a projected CRS (UTM Zone 32N — Cameroon)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regions_utm &lt;- st_transform(regions, crs = 32632)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IFORD Yaoundé  •  Module 1 — Day 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 VECTOR OPERATIONS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4020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From the Concept (Day 1) to the R Function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005840" cy="45720"/>
          </a:xfrm>
          <a:prstGeom prst="rect">
            <a:avLst/>
          </a:prstGeom>
          <a:solidFill>
            <a:srgbClr val="B85042"/>
          </a:solidFill>
          <a:ln/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7367014"/>
              </p:ext>
            </p:extLst>
          </p:nvPr>
        </p:nvGraphicFramePr>
        <p:xfrm>
          <a:off x="548640" y="1783080"/>
          <a:ext cx="11064240" cy="484632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94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Operation (Day 1)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R Function (sf)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Example Using Real Data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Measure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st_area(), st_length()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Area of each region in Cameroon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Buffer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st_buffer()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5-km zone around each health district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Merge (dissolve)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st_union(), group_by() + summarise()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Merge departments into regions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Clip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st_intersection(), st_crop()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Roads in the Central Region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Intersection / union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st_intersection(), st_union()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Cross-referencing two administrative layers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Spatial join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st_join()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Assign a region to each district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Filtering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filter() (dplyr)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Select the Adamaoua region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IFORD Yaoundé  •  Module 1 — Day 2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 VECTOR OPERATIONS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4020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Practical Application Using Data from Cameroon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005840" cy="4572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83080"/>
            <a:ext cx="11064240" cy="4480560"/>
          </a:xfrm>
          <a:prstGeom prst="roundRect">
            <a:avLst>
              <a:gd name="adj" fmla="val 1224"/>
            </a:avLst>
          </a:prstGeom>
          <a:solidFill>
            <a:srgbClr val="F4F4F2"/>
          </a:solidFill>
          <a:ln w="12700">
            <a:solidFill>
              <a:srgbClr val="D8D8D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947672"/>
            <a:ext cx="10607040" cy="4151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library(dplyr)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 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# Measurement: area of each region (km²), on a projected layer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regions_utm &lt;- regions_utm %&gt;% mutate(area_km2 = as.numeric(st_area(.)) / 1e6)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 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# 5-km buffer zone around health districts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districts_utm &lt;- st_transform(districts_sante_sf, crs = 32632)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zones_influence &lt;- st_buffer(districts_utm, dist = 5000)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 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# Spatial join: region for each health district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districts_with_region &lt;- st_join(health_districts_sf, regions, join = st_within)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 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# Filter: keep only the Adamaoua region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adamaoua &lt;- regions %&gt;% filter(region_name == "Adamaoua")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IFORD Yaoundé  •  Module 1 — Day 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 RASTER ALGEBRA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4020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From the Concept (Day 1) to the R Function (terra)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005840" cy="45720"/>
          </a:xfrm>
          <a:prstGeom prst="rect">
            <a:avLst/>
          </a:prstGeom>
          <a:solidFill>
            <a:srgbClr val="B85042"/>
          </a:solidFill>
          <a:ln/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7023255"/>
              </p:ext>
            </p:extLst>
          </p:nvPr>
        </p:nvGraphicFramePr>
        <p:xfrm>
          <a:off x="548640" y="1783080"/>
          <a:ext cx="11064240" cy="283464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Category (Day 1)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R Function (terra)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Example Using Real Data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Local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app(), classify()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Reclassify the population into 3 density classes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Focal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focal()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Calculate the slope based on the DTM (SRTM)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Zonal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zonal(), extract()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Average population (WorldPop) by region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Global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distance()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Distance from each cell to the nearest road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IFORD Yaoundé  •  Module 1 — Day 2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 RASTER ALGEBRA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4020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Practical Application with Terra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005840" cy="4572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83080"/>
            <a:ext cx="11064240" cy="4480560"/>
          </a:xfrm>
          <a:prstGeom prst="roundRect">
            <a:avLst>
              <a:gd name="adj" fmla="val 1224"/>
            </a:avLst>
          </a:prstGeom>
          <a:solidFill>
            <a:srgbClr val="F4F4F2"/>
          </a:solidFill>
          <a:ln w="12700">
            <a:solidFill>
              <a:srgbClr val="D8D8D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947672"/>
            <a:ext cx="10607040" cy="4151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# Local operation: reclassify population density into 3 classes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classes &lt;- matrix(c(0,50,1,  50,200,2,  200,Inf,3), ncol = 3, byrow = TRUE)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pop_classes &lt;- classify(pop_raster, classes)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 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# Focal operation: slope based on the digital elevation model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slope &lt;- terrain(mnt, v = "slope", unit = "degrees")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 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# Global operation: distance to the nearest road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routes_vect &lt;- vect(routes)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distance_routes &lt;- distance(pop_raster, routes_vect)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IFORD Yaoundé  •  Module 1 — Day 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 COMBINATION OF GRID AND POLYGON DATA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4020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Zonal statistics: population by region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005840" cy="4572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8308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As seen on Day 1: summarize a raster within each polygon.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2468880"/>
            <a:ext cx="11064240" cy="3794760"/>
          </a:xfrm>
          <a:prstGeom prst="roundRect">
            <a:avLst>
              <a:gd name="adj" fmla="val 1446"/>
            </a:avLst>
          </a:prstGeom>
          <a:solidFill>
            <a:srgbClr val="F4F4F2"/>
          </a:solidFill>
          <a:ln w="12700">
            <a:solidFill>
              <a:srgbClr val="D8D8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633472"/>
            <a:ext cx="10607040" cy="34655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24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# Total population by region, based on the WorldPop raster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24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regions_vect &lt;- vect(regions)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24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pop_par_region &lt;- extract(pop_raster, regions_vect, fun = "sum", na.rm = TRUE)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24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 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24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# Add the result to the regions layer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24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regions$population_estimate &lt;- pop_par_region[, 2]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IFORD Yaoundé  •  Module 1 — Day 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 MAPPING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4020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Visualizing the Results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005840" cy="4572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83080"/>
            <a:ext cx="11064240" cy="4480560"/>
          </a:xfrm>
          <a:prstGeom prst="roundRect">
            <a:avLst>
              <a:gd name="adj" fmla="val 1224"/>
            </a:avLst>
          </a:prstGeom>
          <a:solidFill>
            <a:srgbClr val="F4F4F2"/>
          </a:solidFill>
          <a:ln w="12700">
            <a:solidFill>
              <a:srgbClr val="D8D8D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947672"/>
            <a:ext cx="10607040" cy="4151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24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library(ggplot2)</a:t>
            </a:r>
            <a:endParaRPr lang="en-US" sz="2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24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2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24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ggplot() +</a:t>
            </a:r>
            <a:endParaRPr lang="en-US" sz="2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24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geom_sf(data = regions, aes(fill = population_estimee)) +</a:t>
            </a:r>
            <a:endParaRPr lang="en-US" sz="2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24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geom_sf(data = health_districts_sf, color = "firebrick", size = 1) +</a:t>
            </a:r>
            <a:endParaRPr lang="en-US" sz="2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24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scale_fill_viridis_c(name = "Estimated Population") +</a:t>
            </a:r>
            <a:endParaRPr lang="en-US" sz="2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24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labs(title = "Estimated Population by Region — Cameroon") +</a:t>
            </a:r>
            <a:endParaRPr lang="en-US" sz="2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24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theme_minimal()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IFORD Yaoundé  •  Module 1 — Day 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4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011680"/>
            <a:ext cx="5486400" cy="5486400"/>
          </a:xfrm>
          <a:prstGeom prst="ellipse">
            <a:avLst/>
          </a:prstGeom>
          <a:solidFill>
            <a:srgbClr val="2C5F2D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468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150" dirty="0">
                <a:solidFill>
                  <a:srgbClr val="97BC62"/>
                </a:solidFill>
                <a:latin typeface="Bell MT" panose="02020503060305020303" pitchFamily="18" charset="0"/>
                <a:ea typeface="Calibri" pitchFamily="34" charset="-122"/>
                <a:cs typeface="Calibri" pitchFamily="34" charset="-120"/>
              </a:rPr>
              <a:t>PART 3</a:t>
            </a:r>
            <a:endParaRPr lang="en-US" dirty="0">
              <a:latin typeface="Bell MT" panose="02020503060305020303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31520" y="288036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Backup</a:t>
            </a:r>
            <a:endParaRPr lang="en-US" sz="3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31520" y="37947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E7E8D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Export the results in the most suitable format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 – 3.2 EXPORT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4020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Save vector and raster data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005840" cy="4572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83080"/>
            <a:ext cx="11064240" cy="2834640"/>
          </a:xfrm>
          <a:prstGeom prst="roundRect">
            <a:avLst>
              <a:gd name="adj" fmla="val 1935"/>
            </a:avLst>
          </a:prstGeom>
          <a:solidFill>
            <a:srgbClr val="F4F4F2"/>
          </a:solidFill>
          <a:ln w="12700">
            <a:solidFill>
              <a:srgbClr val="D8D8D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947672"/>
            <a:ext cx="10607040" cy="2505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# Vector — Shapefile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st_write(regions, "results/cmr_regions_population.shp", delete_dsn = TRUE)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 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# Vector — GeoPackage (recommended for a multi-layer project)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st_write(regions, "results/cameroun_analysis.gpkg", layer = "regions", append = FALSE)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st_write(departments, "results/cameroon_analysis.gpkg", layer = "departments", append = FALSE)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 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# Raster — GeoTIFF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writeRaster(pop_classes, "results/cmr_population_classes.tif", overwrite = TRUE)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48640" y="4892040"/>
            <a:ext cx="128016" cy="128016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4828032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Use GeoPackage for any multi-layer project.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48640" y="5312664"/>
            <a:ext cx="128016" cy="128016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5248656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Verify that the CRS is preserved after writing.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48640" y="5733288"/>
            <a:ext cx="128016" cy="128016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566928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Name files descriptively (area, date, processing).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IFORD Yaoundé  •  Module 1 — Day 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4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2801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150" dirty="0">
                <a:solidFill>
                  <a:srgbClr val="97BC62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DAY 2 SUMMARY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31520" y="16916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Key Takeaways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31520" y="2697480"/>
            <a:ext cx="146304" cy="146304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2633472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Read all types of real-world data: vector, raster, geodatabase, CSV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731520" y="3200400"/>
            <a:ext cx="146304" cy="146304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3136392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Verify and transform the CRS before performing any metric analysis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31520" y="3703320"/>
            <a:ext cx="146304" cy="146304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3639312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Reproduce the vector operations and raster algebra from Day 1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31520" y="4206240"/>
            <a:ext cx="146304" cy="146304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4142232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Combine raster and polygon data using zonal statistics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31520" y="4709160"/>
            <a:ext cx="146304" cy="146304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4645152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Save in an appropriate format, following best practices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31520" y="53949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step: Day 3 — Remote Sensing &amp; Rasters.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E4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2C5F2D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3774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Questions?</a:t>
            </a: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3152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E7E8D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Thank you for your active participation on Day 2!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31520" y="3840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97BC62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contact@iford-cm.org   •   www.iford-cm.org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31520" y="45720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9D6C9"/>
                </a:solidFill>
                <a:latin typeface="Bell MT" panose="02020503060305020303" pitchFamily="18" charset="0"/>
                <a:ea typeface="Calibri" pitchFamily="34" charset="-122"/>
                <a:cs typeface="Calibri" pitchFamily="34" charset="-120"/>
              </a:rPr>
              <a:t>See you on Day 3: Remote Sensing &amp; Raster</a:t>
            </a:r>
            <a:endParaRPr lang="en-US" sz="1400" dirty="0">
              <a:latin typeface="Bell MT" panose="020205030603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1989</Words>
  <Application>Microsoft Office PowerPoint</Application>
  <PresentationFormat>Grand écran</PresentationFormat>
  <Paragraphs>308</Paragraphs>
  <Slides>21</Slides>
  <Notes>21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21</vt:i4>
      </vt:variant>
    </vt:vector>
  </HeadingPairs>
  <TitlesOfParts>
    <vt:vector size="27" baseType="lpstr">
      <vt:lpstr>Arial</vt:lpstr>
      <vt:lpstr>Bell MT</vt:lpstr>
      <vt:lpstr>Calibri</vt:lpstr>
      <vt:lpstr>Cambria</vt:lpstr>
      <vt:lpstr>Consolas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keywords>, docId:8A553F3739CC74C243075CAF7F2CB4FE</cp:keywords>
  <cp:lastModifiedBy>PC</cp:lastModifiedBy>
  <cp:revision>14</cp:revision>
  <dcterms:created xsi:type="dcterms:W3CDTF">2026-07-13T09:38:39Z</dcterms:created>
  <dcterms:modified xsi:type="dcterms:W3CDTF">2026-07-30T06:52:43Z</dcterms:modified>
</cp:coreProperties>
</file>