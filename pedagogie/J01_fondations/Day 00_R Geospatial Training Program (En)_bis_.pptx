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83" r:id="rId22"/>
    <p:sldId id="284" r:id="rId23"/>
    <p:sldId id="285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71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3614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0" y="0"/>
            <a:ext cx="0" cy="6858000"/>
          </a:xfrm>
          <a:prstGeom prst="line">
            <a:avLst/>
          </a:prstGeom>
          <a:noFill/>
          <a:ln w="9525">
            <a:solidFill>
              <a:srgbClr val="13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926080" y="0"/>
            <a:ext cx="0" cy="6858000"/>
          </a:xfrm>
          <a:prstGeom prst="line">
            <a:avLst/>
          </a:prstGeom>
          <a:noFill/>
          <a:ln w="9525">
            <a:solidFill>
              <a:srgbClr val="13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389120" y="0"/>
            <a:ext cx="0" cy="6858000"/>
          </a:xfrm>
          <a:prstGeom prst="line">
            <a:avLst/>
          </a:prstGeom>
          <a:noFill/>
          <a:ln w="9525">
            <a:solidFill>
              <a:srgbClr val="13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852160" y="0"/>
            <a:ext cx="0" cy="6858000"/>
          </a:xfrm>
          <a:prstGeom prst="line">
            <a:avLst/>
          </a:prstGeom>
          <a:noFill/>
          <a:ln w="9525">
            <a:solidFill>
              <a:srgbClr val="13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9525">
            <a:solidFill>
              <a:srgbClr val="13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778240" y="0"/>
            <a:ext cx="0" cy="6858000"/>
          </a:xfrm>
          <a:prstGeom prst="line">
            <a:avLst/>
          </a:prstGeom>
          <a:noFill/>
          <a:ln w="9525">
            <a:solidFill>
              <a:srgbClr val="13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9525">
            <a:solidFill>
              <a:srgbClr val="13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0" y="1280160"/>
            <a:ext cx="12188952" cy="0"/>
          </a:xfrm>
          <a:prstGeom prst="line">
            <a:avLst/>
          </a:prstGeom>
          <a:noFill/>
          <a:ln w="9525">
            <a:solidFill>
              <a:srgbClr val="13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0" y="2560320"/>
            <a:ext cx="12188952" cy="0"/>
          </a:xfrm>
          <a:prstGeom prst="line">
            <a:avLst/>
          </a:prstGeom>
          <a:noFill/>
          <a:ln w="9525">
            <a:solidFill>
              <a:srgbClr val="13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0" y="3840480"/>
            <a:ext cx="12188952" cy="0"/>
          </a:xfrm>
          <a:prstGeom prst="line">
            <a:avLst/>
          </a:prstGeom>
          <a:noFill/>
          <a:ln w="9525">
            <a:solidFill>
              <a:srgbClr val="13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0" y="5120640"/>
            <a:ext cx="12188952" cy="0"/>
          </a:xfrm>
          <a:prstGeom prst="line">
            <a:avLst/>
          </a:prstGeom>
          <a:noFill/>
          <a:ln w="9525">
            <a:solidFill>
              <a:srgbClr val="13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8E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4400" y="1371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IN SPATIAL DATA ANALYSIS AND MANIPULATION IN 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1965960"/>
            <a:ext cx="9144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00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914400" y="324612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1F7A72"/>
                </a:solidFill>
              </a:rPr>
              <a:t>R &amp; RStudio Fundamentals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914400" y="4160520"/>
            <a:ext cx="2926080" cy="0"/>
          </a:xfrm>
          <a:prstGeom prst="line">
            <a:avLst/>
          </a:prstGeom>
          <a:noFill/>
          <a:ln w="31750">
            <a:solidFill>
              <a:srgbClr val="D98E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14400" y="43891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F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Materials — R 4.4 · RStudio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F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Intended for National Institutes of Statistics and Cartography</a:t>
            </a:r>
            <a:endParaRPr lang="en-US" sz="1500" dirty="0"/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508D4530-E788-0D9A-CFA4-40D312A7D5B7}"/>
              </a:ext>
            </a:extLst>
          </p:cNvPr>
          <p:cNvGrpSpPr/>
          <p:nvPr/>
        </p:nvGrpSpPr>
        <p:grpSpPr>
          <a:xfrm>
            <a:off x="281941" y="188227"/>
            <a:ext cx="6057900" cy="998219"/>
            <a:chOff x="0" y="0"/>
            <a:chExt cx="6057900" cy="998219"/>
          </a:xfrm>
        </p:grpSpPr>
        <p:grpSp>
          <p:nvGrpSpPr>
            <p:cNvPr id="20" name="Groupe 19">
              <a:extLst>
                <a:ext uri="{FF2B5EF4-FFF2-40B4-BE49-F238E27FC236}">
                  <a16:creationId xmlns:a16="http://schemas.microsoft.com/office/drawing/2014/main" id="{D91D4187-303B-E351-46C2-D029B7BCC6D7}"/>
                </a:ext>
              </a:extLst>
            </p:cNvPr>
            <p:cNvGrpSpPr/>
            <p:nvPr/>
          </p:nvGrpSpPr>
          <p:grpSpPr>
            <a:xfrm>
              <a:off x="1196340" y="0"/>
              <a:ext cx="4861560" cy="885825"/>
              <a:chOff x="0" y="0"/>
              <a:chExt cx="4861560" cy="885825"/>
            </a:xfrm>
          </p:grpSpPr>
          <p:sp>
            <p:nvSpPr>
              <p:cNvPr id="24" name="Zone de texte 2">
                <a:extLst>
                  <a:ext uri="{FF2B5EF4-FFF2-40B4-BE49-F238E27FC236}">
                    <a16:creationId xmlns:a16="http://schemas.microsoft.com/office/drawing/2014/main" id="{8AF18377-B4E3-C932-1588-2FA85E16BCAB}"/>
                  </a:ext>
                </a:extLst>
              </p:cNvPr>
              <p:cNvSpPr txBox="1"/>
              <p:nvPr/>
            </p:nvSpPr>
            <p:spPr>
              <a:xfrm>
                <a:off x="0" y="0"/>
                <a:ext cx="4861560" cy="678180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buNone/>
                </a:pPr>
                <a:r>
                  <a:rPr lang="fr-CM" sz="2000" b="1">
                    <a:solidFill>
                      <a:srgbClr val="2E74B5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</a:rPr>
                  <a:t>INSTITUTE FOR DEMOGRAPHIC TRAINING AND RESEARCH</a:t>
                </a:r>
                <a:endParaRPr lang="fr-FR" sz="1050">
                  <a:effectLst/>
                  <a:latin typeface="Calibri" panose="020F0502020204030204" pitchFamily="34" charset="0"/>
                  <a:ea typeface="Calibri" panose="020F0502020204030204" pitchFamily="34" charset="0"/>
                </a:endParaRPr>
              </a:p>
            </p:txBody>
          </p:sp>
          <p:pic>
            <p:nvPicPr>
              <p:cNvPr id="25" name="Image 24">
                <a:extLst>
                  <a:ext uri="{FF2B5EF4-FFF2-40B4-BE49-F238E27FC236}">
                    <a16:creationId xmlns:a16="http://schemas.microsoft.com/office/drawing/2014/main" id="{F059E9CF-19CA-8B78-31EC-5760DA528D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2860" y="762000"/>
                <a:ext cx="4732020" cy="123825"/>
              </a:xfrm>
              <a:prstGeom prst="rect">
                <a:avLst/>
              </a:prstGeom>
            </p:spPr>
          </p:pic>
        </p:grpSp>
        <p:grpSp>
          <p:nvGrpSpPr>
            <p:cNvPr id="21" name="Groupe 20">
              <a:extLst>
                <a:ext uri="{FF2B5EF4-FFF2-40B4-BE49-F238E27FC236}">
                  <a16:creationId xmlns:a16="http://schemas.microsoft.com/office/drawing/2014/main" id="{F2B20D55-B0D6-DAC9-3014-04D7A276537B}"/>
                </a:ext>
              </a:extLst>
            </p:cNvPr>
            <p:cNvGrpSpPr/>
            <p:nvPr/>
          </p:nvGrpSpPr>
          <p:grpSpPr>
            <a:xfrm>
              <a:off x="0" y="22860"/>
              <a:ext cx="1043940" cy="975359"/>
              <a:chOff x="0" y="0"/>
              <a:chExt cx="1219200" cy="1315836"/>
            </a:xfrm>
          </p:grpSpPr>
          <p:pic>
            <p:nvPicPr>
              <p:cNvPr id="22" name="Image 21">
                <a:extLst>
                  <a:ext uri="{FF2B5EF4-FFF2-40B4-BE49-F238E27FC236}">
                    <a16:creationId xmlns:a16="http://schemas.microsoft.com/office/drawing/2014/main" id="{C24F503F-2B00-EFBB-DF96-0837EDEF4B6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8485" b="8687"/>
              <a:stretch>
                <a:fillRect/>
              </a:stretch>
            </p:blipFill>
            <p:spPr bwMode="auto">
              <a:xfrm>
                <a:off x="0" y="0"/>
                <a:ext cx="1219200" cy="1009650"/>
              </a:xfrm>
              <a:prstGeom prst="rect">
                <a:avLst/>
              </a:prstGeom>
              <a:ln>
                <a:noFill/>
              </a:ln>
              <a:extLst>
                <a:ext uri="{53640926-AAD7-44D8-BBD7-CCE9431645EC}">
                  <a14:shadowObscured xmlns:a14="http://schemas.microsoft.com/office/drawing/2010/main"/>
                </a:ext>
              </a:extLst>
            </p:spPr>
          </p:pic>
          <p:sp>
            <p:nvSpPr>
              <p:cNvPr id="23" name="Zone de texte 4">
                <a:extLst>
                  <a:ext uri="{FF2B5EF4-FFF2-40B4-BE49-F238E27FC236}">
                    <a16:creationId xmlns:a16="http://schemas.microsoft.com/office/drawing/2014/main" id="{032BEEF3-AF29-FEAD-A760-E6B18D7807AB}"/>
                  </a:ext>
                </a:extLst>
              </p:cNvPr>
              <p:cNvSpPr txBox="1"/>
              <p:nvPr/>
            </p:nvSpPr>
            <p:spPr>
              <a:xfrm>
                <a:off x="231132" y="911975"/>
                <a:ext cx="783386" cy="403861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buNone/>
                </a:pPr>
                <a:r>
                  <a:rPr lang="fr-CM" sz="1200" b="1">
                    <a:effectLst/>
                    <a:latin typeface="Arial" panose="020B0604020202020204" pitchFamily="34" charset="0"/>
                    <a:ea typeface="Calibri" panose="020F0502020204030204" pitchFamily="34" charset="0"/>
                  </a:rPr>
                  <a:t>IFORD</a:t>
                </a:r>
                <a:endParaRPr lang="fr-FR" sz="1050">
                  <a:effectLst/>
                  <a:latin typeface="Calibri" panose="020F0502020204030204" pitchFamily="34" charset="0"/>
                  <a:ea typeface="Calibri" panose="020F0502020204030204" pitchFamily="34" charset="0"/>
                </a:endParaRP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10-Day Training Course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691640" cy="2834640"/>
          </a:xfrm>
          <a:prstGeom prst="roundRect">
            <a:avLst>
              <a:gd name="adj" fmla="val 4324"/>
            </a:avLst>
          </a:prstGeom>
          <a:solidFill>
            <a:srgbClr val="0B3D5C"/>
          </a:solidFill>
          <a:ln w="12700">
            <a:solidFill>
              <a:srgbClr val="0B3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15087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&amp; RStudio Fundamentals</a:t>
            </a:r>
          </a:p>
        </p:txBody>
      </p:sp>
      <p:sp>
        <p:nvSpPr>
          <p:cNvPr id="7" name="Text 5"/>
          <p:cNvSpPr/>
          <p:nvPr/>
        </p:nvSpPr>
        <p:spPr>
          <a:xfrm>
            <a:off x="640080" y="42519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78024" y="1828800"/>
            <a:ext cx="1691640" cy="2834640"/>
          </a:xfrm>
          <a:prstGeom prst="roundRect">
            <a:avLst>
              <a:gd name="adj" fmla="val 4324"/>
            </a:avLst>
          </a:prstGeom>
          <a:solidFill>
            <a:srgbClr val="F7F9FA"/>
          </a:solidFill>
          <a:ln w="12700">
            <a:solidFill>
              <a:srgbClr val="D8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478024" y="205740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569464" y="2834640"/>
            <a:ext cx="15087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 Objects &amp;</a:t>
            </a:r>
            <a:endParaRPr lang="en-US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Maps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315968" y="1828800"/>
            <a:ext cx="1691640" cy="2834640"/>
          </a:xfrm>
          <a:prstGeom prst="roundRect">
            <a:avLst>
              <a:gd name="adj" fmla="val 4324"/>
            </a:avLst>
          </a:prstGeom>
          <a:solidFill>
            <a:srgbClr val="F7F9FA"/>
          </a:solidFill>
          <a:ln w="12700">
            <a:solidFill>
              <a:srgbClr val="D8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15968" y="205740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02-03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407408" y="2834640"/>
            <a:ext cx="15087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Manipulation &amp;</a:t>
            </a:r>
            <a:endParaRPr lang="en-US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joints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153912" y="1828800"/>
            <a:ext cx="1691640" cy="2834640"/>
          </a:xfrm>
          <a:prstGeom prst="roundRect">
            <a:avLst>
              <a:gd name="adj" fmla="val 4324"/>
            </a:avLst>
          </a:prstGeom>
          <a:solidFill>
            <a:srgbClr val="F7F9FA"/>
          </a:solidFill>
          <a:ln w="12700">
            <a:solidFill>
              <a:srgbClr val="D8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53912" y="205740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04-05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245352" y="2834640"/>
            <a:ext cx="15087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DHS Data &amp;</a:t>
            </a:r>
            <a:endParaRPr lang="en-US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geo-cross-referencing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7991856" y="1828800"/>
            <a:ext cx="1691640" cy="2834640"/>
          </a:xfrm>
          <a:prstGeom prst="roundRect">
            <a:avLst>
              <a:gd name="adj" fmla="val 4324"/>
            </a:avLst>
          </a:prstGeom>
          <a:solidFill>
            <a:srgbClr val="F7F9FA"/>
          </a:solidFill>
          <a:ln w="12700">
            <a:solidFill>
              <a:srgbClr val="D8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991856" y="205740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06-08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083296" y="2834640"/>
            <a:ext cx="15087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Indicators,</a:t>
            </a:r>
            <a:endParaRPr lang="en-US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FIES, thematic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9829800" y="1828800"/>
            <a:ext cx="1691640" cy="2834640"/>
          </a:xfrm>
          <a:prstGeom prst="roundRect">
            <a:avLst>
              <a:gd name="adj" fmla="val 4324"/>
            </a:avLst>
          </a:prstGeom>
          <a:solidFill>
            <a:srgbClr val="F7F9FA"/>
          </a:solidFill>
          <a:ln w="12700">
            <a:solidFill>
              <a:srgbClr val="D8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829800" y="205740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09-10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9921240" y="2834640"/>
            <a:ext cx="15087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</a:t>
            </a:r>
            <a:endParaRPr lang="en-US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B77"/>
                </a:solidFill>
                <a:latin typeface="Bell MT" panose="02020503060305020303" pitchFamily="18" charset="0"/>
                <a:ea typeface="Calibri" pitchFamily="34" charset="-122"/>
                <a:cs typeface="Calibri" pitchFamily="34" charset="-120"/>
              </a:rPr>
              <a:t>Real-world datasets used throughout the course: GADM Cameroon, population/household estimates, DHS (recodes + GPS), FIES-FAO — no simulated data.</a:t>
            </a:r>
            <a:endParaRPr lang="en-US" sz="1600" i="1" dirty="0">
              <a:latin typeface="Bell MT" panose="02020503060305020303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00 — Introduction to R in the Age of AI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and Schedule for the Day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51206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a sustainable R 4.4 / RStudio environment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R objects and data structures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 dplyr skills using real-world data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a rigorous approach to using AI in R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989320" y="1463040"/>
            <a:ext cx="0" cy="4206240"/>
          </a:xfrm>
          <a:prstGeom prst="line">
            <a:avLst/>
          </a:prstGeom>
          <a:noFill/>
          <a:ln w="12700">
            <a:solidFill>
              <a:srgbClr val="D8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309360" y="14173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 (full day)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309360" y="1920240"/>
            <a:ext cx="73152" cy="411480"/>
          </a:xfrm>
          <a:prstGeom prst="rect">
            <a:avLst/>
          </a:prstGeom>
          <a:solidFill>
            <a:srgbClr val="D98E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92240" y="187452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8:30 a.m.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60920" y="187452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&amp; 10-day program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2487168"/>
            <a:ext cx="73152" cy="411480"/>
          </a:xfrm>
          <a:prstGeom prst="rect">
            <a:avLst/>
          </a:prstGeom>
          <a:solidFill>
            <a:srgbClr val="D98E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92240" y="2441448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8:45 AM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60920" y="2441448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Installation &amp; RStudio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3054096"/>
            <a:ext cx="73152" cy="411480"/>
          </a:xfrm>
          <a:prstGeom prst="rect">
            <a:avLst/>
          </a:prstGeom>
          <a:solidFill>
            <a:srgbClr val="D98E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92240" y="3008376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10:30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60920" y="2994728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R Basics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09360" y="3621024"/>
            <a:ext cx="73152" cy="411480"/>
          </a:xfrm>
          <a:prstGeom prst="rect">
            <a:avLst/>
          </a:prstGeom>
          <a:solidFill>
            <a:srgbClr val="D98E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92240" y="3575304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1:30 PM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60920" y="3575304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Packages &amp; dplyr Review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09360" y="4187952"/>
            <a:ext cx="73152" cy="411480"/>
          </a:xfrm>
          <a:prstGeom prst="rect">
            <a:avLst/>
          </a:prstGeom>
          <a:solidFill>
            <a:srgbClr val="D98E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92240" y="4142232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3:15 PM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60920" y="4142232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— Best Practices for AI in 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09360" y="4754880"/>
            <a:ext cx="73152" cy="411480"/>
          </a:xfrm>
          <a:prstGeom prst="rect">
            <a:avLst/>
          </a:prstGeom>
          <a:solidFill>
            <a:srgbClr val="D98E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92240" y="470916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5:00 PM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360920" y="470916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Bridge to Day 01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00 — Introduction to R in the Age of AI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SIMULATION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Actual workshop data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05481"/>
              </p:ext>
            </p:extLst>
          </p:nvPr>
        </p:nvGraphicFramePr>
        <p:xfrm>
          <a:off x="640080" y="1463040"/>
          <a:ext cx="10881360" cy="4660900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File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Used starting with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</a:rPr>
                        <a:t>gadm41_CMR_shp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</a:rPr>
                        <a:t>Administrative boundaries of Cameroon (GADM)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</a:rPr>
                        <a:t>Day 01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</a:rPr>
                        <a:t>CMR_population_v1_0_admin_level2.csv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</a:rPr>
                        <a:t>Population by Level 2 Administrative Unit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</a:rPr>
                        <a:t>Day 00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</a:rPr>
                        <a:t>CMR_household_v1_0_admin_level2.csv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</a:rPr>
                        <a:t>Households by Level 2 Administrative Unit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</a:rPr>
                        <a:t>Day 00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</a:rPr>
                        <a:t>CMGC72FL.csv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</a:rPr>
                        <a:t>DHS Geographic Covariates (Clusters)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</a:rPr>
                        <a:t>Days 04–05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</a:rPr>
                        <a:t>CMBR71FR.sav / CMWF71FR.sav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</a:rPr>
                        <a:t>DHS Recodes (SPSS)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</a:rPr>
                        <a:t>Overview J00 · Days 05-06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</a:rPr>
                        <a:t>CMGE71FL.shp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</a:rPr>
                        <a:t>GPS positions of DHS clusters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</a:rPr>
                        <a:t>Day 01 / 04–05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</a:rPr>
                        <a:t>FIES-FAO Data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</a:rPr>
                        <a:t>Experienced Food Insecurity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</a:rPr>
                        <a:t>Days 07–08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00 — Introduction to R in the Age of AI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8E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23774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88036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Installation and Getting Started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43434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AF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4.4 &amp; RStudio 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Use R for Geostatistical Work?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7F9FA"/>
          </a:solidFill>
          <a:ln w="12700">
            <a:solidFill>
              <a:srgbClr val="D8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687068" y="2011680"/>
            <a:ext cx="512064" cy="51206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687068" y="20116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6974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Reproducible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246120"/>
            <a:ext cx="22402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script documents and reproduces the entire processing workflow, year after year.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383280" y="173736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7F9FA"/>
          </a:solidFill>
          <a:ln w="12700">
            <a:solidFill>
              <a:srgbClr val="D8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430268" y="2011680"/>
            <a:ext cx="512064" cy="51206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430268" y="20116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520440" y="26974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 &amp; widely used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66160" y="3246120"/>
            <a:ext cx="22402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 national statistical institutes, the World Bank, the FAO, UNFPA, INSEE...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126480" y="173736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7F9FA"/>
          </a:solidFill>
          <a:ln w="12700">
            <a:solidFill>
              <a:srgbClr val="D8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173468" y="2011680"/>
            <a:ext cx="512064" cy="51206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173468" y="20116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263640" y="26974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Mature spatial ecosystem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09360" y="3246120"/>
            <a:ext cx="22402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sf, terra, tmap, leaflet — introduced on Day 1.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8869680" y="173736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7F9FA"/>
          </a:solidFill>
          <a:ln w="12700">
            <a:solidFill>
              <a:srgbClr val="D8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916668" y="2011680"/>
            <a:ext cx="512064" cy="51206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916668" y="20116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006840" y="26974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Interoperable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052560" y="3246120"/>
            <a:ext cx="22402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Shapefiles (.shp), DHS files (.sav), Excel/CSV — all natively supported.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00 — Introduction to R in the Age of AI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 R 4.4 and RStudio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94360" cy="594360"/>
          </a:xfrm>
          <a:prstGeom prst="roundRect">
            <a:avLst>
              <a:gd name="adj" fmla="val 49231"/>
            </a:avLst>
          </a:prstGeom>
          <a:solidFill>
            <a:srgbClr val="0B3D5C"/>
          </a:solidFill>
          <a:ln w="12700">
            <a:solidFill>
              <a:srgbClr val="0B3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17320" y="167335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Download R 4.4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2039112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cran.r-project.org — select “base,” then the installer for your operating system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932688" y="2313432"/>
            <a:ext cx="0" cy="320040"/>
          </a:xfrm>
          <a:prstGeom prst="line">
            <a:avLst/>
          </a:prstGeom>
          <a:noFill/>
          <a:ln w="19050">
            <a:solidFill>
              <a:srgbClr val="C9D3D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0080" y="2651760"/>
            <a:ext cx="594360" cy="594360"/>
          </a:xfrm>
          <a:prstGeom prst="roundRect">
            <a:avLst>
              <a:gd name="adj" fmla="val 49231"/>
            </a:avLst>
          </a:prstGeom>
          <a:solidFill>
            <a:srgbClr val="0B3D5C"/>
          </a:solidFill>
          <a:ln w="12700">
            <a:solidFill>
              <a:srgbClr val="0B3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26517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17320" y="263347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 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17320" y="2999232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the installer’s default options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932688" y="3273552"/>
            <a:ext cx="0" cy="320040"/>
          </a:xfrm>
          <a:prstGeom prst="line">
            <a:avLst/>
          </a:prstGeom>
          <a:noFill/>
          <a:ln w="19050">
            <a:solidFill>
              <a:srgbClr val="C9D3D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40080" y="3611880"/>
            <a:ext cx="594360" cy="594360"/>
          </a:xfrm>
          <a:prstGeom prst="roundRect">
            <a:avLst>
              <a:gd name="adj" fmla="val 49231"/>
            </a:avLst>
          </a:prstGeom>
          <a:solidFill>
            <a:srgbClr val="0B3D5C"/>
          </a:solidFill>
          <a:ln w="12700">
            <a:solidFill>
              <a:srgbClr val="0B3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36118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17320" y="359359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Download RStudio Desktop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17320" y="3959352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posit.co/download/rstudio-desktop — free “Open Source” version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932688" y="4233672"/>
            <a:ext cx="0" cy="320040"/>
          </a:xfrm>
          <a:prstGeom prst="line">
            <a:avLst/>
          </a:prstGeom>
          <a:noFill/>
          <a:ln w="19050">
            <a:solidFill>
              <a:srgbClr val="C9D3D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0080" y="4572000"/>
            <a:ext cx="594360" cy="594360"/>
          </a:xfrm>
          <a:prstGeom prst="roundRect">
            <a:avLst>
              <a:gd name="adj" fmla="val 49231"/>
            </a:avLst>
          </a:prstGeom>
          <a:solidFill>
            <a:srgbClr val="0B3D5C"/>
          </a:solidFill>
          <a:ln w="12700">
            <a:solidFill>
              <a:srgbClr val="0B3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45720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417320" y="455371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17320" y="4919472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RStudio: the console should display “R version 4.4.x”</a:t>
            </a: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8092440" y="1691640"/>
            <a:ext cx="3429000" cy="3840480"/>
          </a:xfrm>
          <a:prstGeom prst="roundRect">
            <a:avLst>
              <a:gd name="adj" fmla="val 2133"/>
            </a:avLst>
          </a:prstGeom>
          <a:solidFill>
            <a:srgbClr val="0A1F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366760" y="1920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366760" y="237744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R.version.string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getwd()</a:t>
            </a: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8366760" y="420624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i="1" dirty="0">
                <a:solidFill>
                  <a:srgbClr val="AF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console should display: “R version 4.4.x”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00 — Introduction to R in the Age of AI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the RStudio Interface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57800" cy="2148840"/>
          </a:xfrm>
          <a:prstGeom prst="roundRect">
            <a:avLst>
              <a:gd name="adj" fmla="val 2553"/>
            </a:avLst>
          </a:prstGeom>
          <a:solidFill>
            <a:srgbClr val="F7F9FA"/>
          </a:solidFill>
          <a:ln w="19050">
            <a:solidFill>
              <a:srgbClr val="0B3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5257800" cy="411480"/>
          </a:xfrm>
          <a:prstGeom prst="rect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148840"/>
            <a:ext cx="4800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Editor (.R)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Ctrl+Enter runs the current line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080760" y="1600200"/>
            <a:ext cx="5257800" cy="2148840"/>
          </a:xfrm>
          <a:prstGeom prst="roundRect">
            <a:avLst>
              <a:gd name="adj" fmla="val 2553"/>
            </a:avLst>
          </a:prstGeom>
          <a:solidFill>
            <a:srgbClr val="F7F9FA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080760" y="1600200"/>
            <a:ext cx="5257800" cy="4114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263640" y="160020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 / History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09360" y="2148840"/>
            <a:ext cx="4800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Objects (Data, Variables)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40080" y="3931920"/>
            <a:ext cx="5257800" cy="2148840"/>
          </a:xfrm>
          <a:prstGeom prst="roundRect">
            <a:avLst>
              <a:gd name="adj" fmla="val 2553"/>
            </a:avLst>
          </a:prstGeom>
          <a:solidFill>
            <a:srgbClr val="F7F9FA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3931920"/>
            <a:ext cx="5257800" cy="4114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393192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4480560"/>
            <a:ext cx="4800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execution, results displayed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recalls previous commands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080760" y="3931920"/>
            <a:ext cx="5257800" cy="2148840"/>
          </a:xfrm>
          <a:prstGeom prst="roundRect">
            <a:avLst>
              <a:gd name="adj" fmla="val 2553"/>
            </a:avLst>
          </a:prstGeom>
          <a:solidFill>
            <a:srgbClr val="F7F9FA"/>
          </a:solidFill>
          <a:ln w="19050">
            <a:solidFill>
              <a:srgbClr val="0B3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080760" y="3931920"/>
            <a:ext cx="5257800" cy="411480"/>
          </a:xfrm>
          <a:prstGeom prst="rect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63640" y="393192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Files / Plots / Packages / Help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09360" y="4480560"/>
            <a:ext cx="4800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Explorer, plots, help (?function)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00 — Introduction to R in the Age of AI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RStudio Projects &amp; Folder Organization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.Rproj file specifies the working directory: no more unreliable absolute paths.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6675120" cy="4023360"/>
          </a:xfrm>
          <a:prstGeom prst="roundRect">
            <a:avLst>
              <a:gd name="adj" fmla="val 1818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61264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GIS_R_CMR_Training/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GIS_R_CMR_Training.Rproj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data/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raw/       # received files — never modified manually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gadm41_CMR_shp/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CMR_population_v1_0_admin_level2.csv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CMR_household_v1_0_admin_level2.csv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CMGE71FL.shp ...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processed/     # outputs generated by our scripts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scripts/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outputs/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README.md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589520" y="1920240"/>
            <a:ext cx="3931920" cy="4023360"/>
          </a:xfrm>
          <a:prstGeom prst="roundRect">
            <a:avLst>
              <a:gd name="adj" fmla="val 1860"/>
            </a:avLst>
          </a:prstGeom>
          <a:solidFill>
            <a:srgbClr val="F7F9FA"/>
          </a:solidFill>
          <a:ln w="19050">
            <a:solidFill>
              <a:srgbClr val="D98E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818120" y="2103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Golden Rule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818120" y="2560320"/>
            <a:ext cx="3474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data/raw/ is NEVER edited manually.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processing is done via an R script and goes into data/processed/.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ensures traceability for a statistical service.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00 — Introduction to R in the Age of AI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8E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23774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88036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Basics for Data Science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43434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AF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Objects, Structure, Exploration 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Syntax and Assignment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6309360" cy="3017520"/>
          </a:xfrm>
          <a:prstGeom prst="roundRect">
            <a:avLst>
              <a:gd name="adj" fmla="val 2424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dirty="0">
                <a:solidFill>
                  <a:srgbClr val="8FB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Assignment: &lt;- (shortcut Alt + -)</a:t>
            </a:r>
            <a:endParaRPr lang="en-US" dirty="0"/>
          </a:p>
          <a:p>
            <a:pPr marL="0" indent="0">
              <a:spcAft>
                <a:spcPts val="400"/>
              </a:spcAft>
              <a:buNone/>
            </a:pPr>
            <a:r>
              <a:rPr lang="en-US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country_name &lt;- "Cameroon"</a:t>
            </a:r>
            <a:endParaRPr lang="en-US" dirty="0"/>
          </a:p>
          <a:p>
            <a:pPr marL="0" indent="0">
              <a:spcAft>
                <a:spcPts val="400"/>
              </a:spcAft>
              <a:buNone/>
            </a:pPr>
            <a:r>
              <a:rPr lang="en-US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number_of_regions &lt;- 10L</a:t>
            </a:r>
            <a:endParaRPr lang="en-US" dirty="0"/>
          </a:p>
          <a:p>
            <a:pPr marL="0" indent="0">
              <a:spcAft>
                <a:spcPts val="400"/>
              </a:spcAft>
              <a:buNone/>
            </a:pPr>
            <a:r>
              <a:rPr lang="en-US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area_km2 &lt;- 475650</a:t>
            </a:r>
            <a:endParaRPr lang="en-US" dirty="0"/>
          </a:p>
          <a:p>
            <a:pPr marL="0" indent="0">
              <a:spcAft>
                <a:spcPts val="400"/>
              </a:spcAft>
              <a:buNone/>
            </a:pPr>
            <a:r>
              <a:rPr lang="en-US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dirty="0"/>
          </a:p>
          <a:p>
            <a:pPr marL="0" indent="0">
              <a:spcAft>
                <a:spcPts val="400"/>
              </a:spcAft>
              <a:buNone/>
            </a:pPr>
            <a:r>
              <a:rPr lang="en-US" dirty="0">
                <a:solidFill>
                  <a:srgbClr val="8FB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Display an object: simply type its name</a:t>
            </a:r>
            <a:endParaRPr lang="en-US" dirty="0"/>
          </a:p>
          <a:p>
            <a:pPr marL="0" indent="0">
              <a:spcAft>
                <a:spcPts val="400"/>
              </a:spcAft>
              <a:buNone/>
            </a:pPr>
            <a:r>
              <a:rPr lang="en-US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country_name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223760" y="160020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Essential Operators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223760" y="2093976"/>
            <a:ext cx="54864" cy="384048"/>
          </a:xfrm>
          <a:prstGeom prst="rect">
            <a:avLst/>
          </a:prstGeom>
          <a:solidFill>
            <a:srgbClr val="D98E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60920" y="2057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0" y="20574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3D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- * / ^ %% %/%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223760" y="2660904"/>
            <a:ext cx="54864" cy="384048"/>
          </a:xfrm>
          <a:prstGeom prst="rect">
            <a:avLst/>
          </a:prstGeom>
          <a:solidFill>
            <a:srgbClr val="D98E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60920" y="262432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0" y="262432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3D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 != &lt; &gt; &lt;= &gt;=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223760" y="3227832"/>
            <a:ext cx="54864" cy="384048"/>
          </a:xfrm>
          <a:prstGeom prst="rect">
            <a:avLst/>
          </a:prstGeom>
          <a:solidFill>
            <a:srgbClr val="D98E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60920" y="319125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0" y="319125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3D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 | ! &amp;&amp; ||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223760" y="3794760"/>
            <a:ext cx="54864" cy="384048"/>
          </a:xfrm>
          <a:prstGeom prst="rect">
            <a:avLst/>
          </a:prstGeom>
          <a:solidFill>
            <a:srgbClr val="D98E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60920" y="375818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0" y="3758184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3D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&lt;- = &lt;&lt;-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846320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F7F9FA"/>
          </a:solidFill>
          <a:ln w="12700">
            <a:solidFill>
              <a:srgbClr val="D8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14400" y="48463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is case-sensitive and indexes vectors starting at 1 (not 0).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00 — Introduction to R in the Age of AI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Major Families of R Objects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066544" cy="3931920"/>
          </a:xfrm>
          <a:prstGeom prst="roundRect">
            <a:avLst>
              <a:gd name="adj" fmla="val 3097"/>
            </a:avLst>
          </a:prstGeom>
          <a:solidFill>
            <a:srgbClr val="F7F9FA"/>
          </a:solidFill>
          <a:ln w="12700">
            <a:solidFill>
              <a:srgbClr val="D8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77240" y="2423160"/>
            <a:ext cx="17922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sequence, single type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822960" y="3840480"/>
            <a:ext cx="1700784" cy="0"/>
          </a:xfrm>
          <a:prstGeom prst="line">
            <a:avLst/>
          </a:prstGeom>
          <a:noFill/>
          <a:ln w="12700">
            <a:solidFill>
              <a:srgbClr val="D8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3977640"/>
            <a:ext cx="188366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dirty="0">
                <a:solidFill>
                  <a:srgbClr val="5B6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c("Adamaoua", "Centre", ...)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2816352" y="1691640"/>
            <a:ext cx="2066544" cy="3931920"/>
          </a:xfrm>
          <a:prstGeom prst="roundRect">
            <a:avLst>
              <a:gd name="adj" fmla="val 3097"/>
            </a:avLst>
          </a:prstGeom>
          <a:solidFill>
            <a:srgbClr val="F7F9FA"/>
          </a:solidFill>
          <a:ln w="12700">
            <a:solidFill>
              <a:srgbClr val="D8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907792" y="1874520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Matrix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2953512" y="2423160"/>
            <a:ext cx="17922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array, single type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2999232" y="3840480"/>
            <a:ext cx="1700784" cy="0"/>
          </a:xfrm>
          <a:prstGeom prst="line">
            <a:avLst/>
          </a:prstGeom>
          <a:noFill/>
          <a:ln w="12700">
            <a:solidFill>
              <a:srgbClr val="D8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907792" y="3977640"/>
            <a:ext cx="188366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dirty="0">
                <a:solidFill>
                  <a:srgbClr val="5B6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matrix(1:6, nrow=2)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992624" y="1691640"/>
            <a:ext cx="2066544" cy="3931920"/>
          </a:xfrm>
          <a:prstGeom prst="roundRect">
            <a:avLst>
              <a:gd name="adj" fmla="val 3097"/>
            </a:avLst>
          </a:prstGeom>
          <a:solidFill>
            <a:srgbClr val="F7F9FA"/>
          </a:solidFill>
          <a:ln w="12700">
            <a:solidFill>
              <a:srgbClr val="D8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84064" y="1874520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129784" y="2423160"/>
            <a:ext cx="17922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Heterogeneous container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175504" y="3840480"/>
            <a:ext cx="1700784" cy="0"/>
          </a:xfrm>
          <a:prstGeom prst="line">
            <a:avLst/>
          </a:prstGeom>
          <a:noFill/>
          <a:ln w="12700">
            <a:solidFill>
              <a:srgbClr val="D8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84064" y="3977640"/>
            <a:ext cx="188366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dirty="0">
                <a:solidFill>
                  <a:srgbClr val="5B6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list(name=..., regions=...)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7168896" y="1691640"/>
            <a:ext cx="2066544" cy="3931920"/>
          </a:xfrm>
          <a:prstGeom prst="roundRect">
            <a:avLst>
              <a:gd name="adj" fmla="val 3097"/>
            </a:avLst>
          </a:prstGeom>
          <a:solidFill>
            <a:srgbClr val="0B3D5C"/>
          </a:solidFill>
          <a:ln w="12700">
            <a:solidFill>
              <a:srgbClr val="0B3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260336" y="1874520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Data.frame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306056" y="2423160"/>
            <a:ext cx="17922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rectangular array</a:t>
            </a:r>
            <a:endParaRPr lang="en-US" sz="14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column — central structure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351776" y="3840480"/>
            <a:ext cx="1700784" cy="0"/>
          </a:xfrm>
          <a:prstGeom prst="line">
            <a:avLst/>
          </a:prstGeom>
          <a:noFill/>
          <a:ln w="12700">
            <a:solidFill>
              <a:srgbClr val="3D6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260336" y="3977640"/>
            <a:ext cx="188366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CF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data.frame(region=..., pop=...)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345168" y="1691640"/>
            <a:ext cx="2066544" cy="3931920"/>
          </a:xfrm>
          <a:prstGeom prst="roundRect">
            <a:avLst>
              <a:gd name="adj" fmla="val 3097"/>
            </a:avLst>
          </a:prstGeom>
          <a:solidFill>
            <a:srgbClr val="F7F9FA"/>
          </a:solidFill>
          <a:ln w="12700">
            <a:solidFill>
              <a:srgbClr val="D8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436608" y="1874520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482328" y="2423160"/>
            <a:ext cx="17922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variable with levels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9528048" y="3840480"/>
            <a:ext cx="1700784" cy="0"/>
          </a:xfrm>
          <a:prstGeom prst="line">
            <a:avLst/>
          </a:prstGeom>
          <a:noFill/>
          <a:ln w="12700">
            <a:solidFill>
              <a:srgbClr val="D8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436608" y="3977640"/>
            <a:ext cx="188366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dirty="0">
                <a:solidFill>
                  <a:srgbClr val="5B6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factor(c("Urban", "Rural"))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00 — Introduction to R in the Age of AI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Always inspect before handling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2516702"/>
              </p:ext>
            </p:extLst>
          </p:nvPr>
        </p:nvGraphicFramePr>
        <p:xfrm>
          <a:off x="640080" y="1600200"/>
          <a:ext cx="6035040" cy="4239625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78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Function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What it returns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</a:rPr>
                        <a:t>class(x)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</a:rPr>
                        <a:t>The object's class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</a:rPr>
                        <a:t>str(x)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</a:rPr>
                        <a:t>Detailed structure: types, overview of values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</a:rPr>
                        <a:t>summary(x)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</a:rPr>
                        <a:t>Statistical summary by column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</a:rPr>
                        <a:t>names(x)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</a:rPr>
                        <a:t>Column names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</a:rPr>
                        <a:t>dim(x) / nrow(x) / ncol(x)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</a:rPr>
                        <a:t>Array dimensions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</a:rPr>
                        <a:t>head(x, n)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</a:rPr>
                        <a:t>First n rows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903720" y="1600200"/>
            <a:ext cx="4617720" cy="4114800"/>
          </a:xfrm>
          <a:prstGeom prst="roundRect">
            <a:avLst>
              <a:gd name="adj" fmla="val 1778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178040" y="1828800"/>
            <a:ext cx="40690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dirty="0">
                <a:solidFill>
                  <a:srgbClr val="8FB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Actual Day 00 file</a:t>
            </a:r>
            <a:endParaRPr lang="en-US" dirty="0"/>
          </a:p>
          <a:p>
            <a:pPr marL="0" indent="0">
              <a:spcAft>
                <a:spcPts val="400"/>
              </a:spcAft>
              <a:buNone/>
            </a:pPr>
            <a:r>
              <a:rPr lang="en-US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population_adm2 &lt;- read.csv(</a:t>
            </a:r>
            <a:endParaRPr lang="en-US" dirty="0"/>
          </a:p>
          <a:p>
            <a:pPr marL="0" indent="0">
              <a:spcAft>
                <a:spcPts val="400"/>
              </a:spcAft>
              <a:buNone/>
            </a:pPr>
            <a:r>
              <a:rPr lang="en-US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"data/brutes/CMR_population_v1_0</a:t>
            </a:r>
            <a:endParaRPr lang="en-US" dirty="0"/>
          </a:p>
          <a:p>
            <a:pPr marL="0" indent="0">
              <a:spcAft>
                <a:spcPts val="400"/>
              </a:spcAft>
              <a:buNone/>
            </a:pPr>
            <a:r>
              <a:rPr lang="en-US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_admin_level2.csv")</a:t>
            </a:r>
            <a:endParaRPr lang="en-US" dirty="0"/>
          </a:p>
          <a:p>
            <a:pPr marL="0" indent="0">
              <a:spcAft>
                <a:spcPts val="400"/>
              </a:spcAft>
              <a:buNone/>
            </a:pPr>
            <a:r>
              <a:rPr lang="en-US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dirty="0"/>
          </a:p>
          <a:p>
            <a:pPr marL="0" indent="0">
              <a:spcAft>
                <a:spcPts val="400"/>
              </a:spcAft>
              <a:buNone/>
            </a:pPr>
            <a:r>
              <a:rPr lang="en-US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class(population_adm2)</a:t>
            </a:r>
            <a:endParaRPr lang="en-US" dirty="0"/>
          </a:p>
          <a:p>
            <a:pPr marL="0" indent="0">
              <a:spcAft>
                <a:spcPts val="400"/>
              </a:spcAft>
              <a:buNone/>
            </a:pPr>
            <a:r>
              <a:rPr lang="en-US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str(population_adm2)</a:t>
            </a:r>
            <a:endParaRPr lang="en-US" dirty="0"/>
          </a:p>
          <a:p>
            <a:pPr marL="0" indent="0">
              <a:spcAft>
                <a:spcPts val="400"/>
              </a:spcAft>
              <a:buNone/>
            </a:pPr>
            <a:r>
              <a:rPr lang="en-US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names(population_adm2)</a:t>
            </a:r>
            <a:endParaRPr lang="en-US" dirty="0"/>
          </a:p>
          <a:p>
            <a:pPr marL="0" indent="0">
              <a:spcAft>
                <a:spcPts val="400"/>
              </a:spcAft>
              <a:buNone/>
            </a:pPr>
            <a:r>
              <a:rPr lang="en-US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summary(population_adm2)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00 — Introduction to R in the Age of AI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 Values: R Symbology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06040" cy="1828800"/>
          </a:xfrm>
          <a:prstGeom prst="roundRect">
            <a:avLst>
              <a:gd name="adj" fmla="val 35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24688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dirty="0">
                <a:solidFill>
                  <a:srgbClr val="E4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data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77240" y="31089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98E0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is.na(x)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83280" y="1691640"/>
            <a:ext cx="2606040" cy="1828800"/>
          </a:xfrm>
          <a:prstGeom prst="roundRect">
            <a:avLst>
              <a:gd name="adj" fmla="val 35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383280" y="182880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NULL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520440" y="24688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4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absence of an object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520440" y="31089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98E0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is.null(x)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26480" y="1691640"/>
            <a:ext cx="2606040" cy="1828800"/>
          </a:xfrm>
          <a:prstGeom prst="roundRect">
            <a:avLst>
              <a:gd name="adj" fmla="val 35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126480" y="182880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263640" y="24688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dirty="0">
                <a:solidFill>
                  <a:srgbClr val="E4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Undefined result (0/0)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263640" y="31089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98E0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is.nan(x)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869680" y="1691640"/>
            <a:ext cx="2606040" cy="1828800"/>
          </a:xfrm>
          <a:prstGeom prst="roundRect">
            <a:avLst>
              <a:gd name="adj" fmla="val 35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869680" y="182880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006840" y="24688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dirty="0">
                <a:solidFill>
                  <a:srgbClr val="E4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 (division by 0)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9006840" y="31089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98E0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is.infinite(x)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3794760"/>
            <a:ext cx="10881360" cy="1920240"/>
          </a:xfrm>
          <a:prstGeom prst="roundRect">
            <a:avLst>
              <a:gd name="adj" fmla="val 3810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14400" y="402336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&lt;- NA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== NA        # NA  -- pitfall: never TRUE/FALSE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is.na(x)       # TRUE -- good practice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mean(c(10, 20, NA))               # NA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mean(c(10, 20, NA), na.rm = TRUE)  # 15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00 — Introduction to R in the Age of AI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8E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23774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88036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Packages, Functions, and a Review of dplyr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43434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AF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</a:t>
            </a:r>
            <a:r>
              <a:rPr lang="en-US" sz="1800" i="1" dirty="0" err="1">
                <a:solidFill>
                  <a:srgbClr val="AF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</a:t>
            </a:r>
            <a:r>
              <a:rPr lang="en-US" sz="1800" i="1" dirty="0">
                <a:solidFill>
                  <a:srgbClr val="AF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 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install.packages() vs. library()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03520" cy="2286000"/>
          </a:xfrm>
          <a:prstGeom prst="roundRect">
            <a:avLst>
              <a:gd name="adj" fmla="val 2800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install.packages()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per machine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E4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 the package from CRAN and installs it on the disk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217920" y="1645920"/>
            <a:ext cx="5303520" cy="2286000"/>
          </a:xfrm>
          <a:prstGeom prst="roundRect">
            <a:avLst>
              <a:gd name="adj" fmla="val 28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92240" y="18288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92240" y="23317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 session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92240" y="274320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E4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the package into memory for the current session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40080" y="4160520"/>
            <a:ext cx="10881360" cy="1737360"/>
          </a:xfrm>
          <a:prstGeom prst="roundRect">
            <a:avLst>
              <a:gd name="adj" fmla="val 4211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4389120"/>
            <a:ext cx="10332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install.packages("dplyr")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install.packages("haven")   # read DHS .sav files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install.packages(c("sf", "tmap"))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library(dplyr)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library(haven)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00 — Introduction to R in the Age of AI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an R Function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2286000"/>
          </a:xfrm>
          <a:prstGeom prst="roundRect">
            <a:avLst>
              <a:gd name="adj" fmla="val 3200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10332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urbanization_rate &lt;- function(urban_pop, total_pop) {</a:t>
            </a:r>
            <a:endParaRPr lang="en-US" dirty="0"/>
          </a:p>
          <a:p>
            <a:pPr marL="0" indent="0">
              <a:spcAft>
                <a:spcPts val="400"/>
              </a:spcAft>
              <a:buNone/>
            </a:pPr>
            <a:r>
              <a:rPr lang="en-US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rate &lt;- (urban_pop / total_pop) * 100</a:t>
            </a:r>
            <a:endParaRPr lang="en-US" dirty="0"/>
          </a:p>
          <a:p>
            <a:pPr marL="0" indent="0">
              <a:spcAft>
                <a:spcPts val="400"/>
              </a:spcAft>
              <a:buNone/>
            </a:pPr>
            <a:r>
              <a:rPr lang="en-US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return(round(rate, 1))</a:t>
            </a:r>
            <a:endParaRPr lang="en-US" dirty="0"/>
          </a:p>
          <a:p>
            <a:pPr marL="0" indent="0">
              <a:spcAft>
                <a:spcPts val="400"/>
              </a:spcAft>
              <a:buNone/>
            </a:pPr>
            <a:r>
              <a:rPr lang="en-US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dirty="0"/>
          </a:p>
          <a:p>
            <a:pPr marL="0" indent="0">
              <a:spcAft>
                <a:spcPts val="400"/>
              </a:spcAft>
              <a:buNone/>
            </a:pPr>
            <a:r>
              <a:rPr lang="en-US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dirty="0"/>
          </a:p>
          <a:p>
            <a:pPr marL="0" indent="0">
              <a:spcAft>
                <a:spcPts val="400"/>
              </a:spcAft>
              <a:buNone/>
            </a:pPr>
            <a:r>
              <a:rPr lang="en-US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urbanization_rate(urban_pop = 1800000, total_pop = 4500000)  # 40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40080" y="4206240"/>
            <a:ext cx="2606040" cy="1691640"/>
          </a:xfrm>
          <a:prstGeom prst="roundRect">
            <a:avLst>
              <a:gd name="adj" fmla="val 3243"/>
            </a:avLst>
          </a:prstGeom>
          <a:solidFill>
            <a:srgbClr val="F7F9FA"/>
          </a:solidFill>
          <a:ln w="19050">
            <a:solidFill>
              <a:srgbClr val="0B3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434340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475488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urbanization_rate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383280" y="4206240"/>
            <a:ext cx="2606040" cy="1691640"/>
          </a:xfrm>
          <a:prstGeom prst="roundRect">
            <a:avLst>
              <a:gd name="adj" fmla="val 3243"/>
            </a:avLst>
          </a:prstGeom>
          <a:solidFill>
            <a:srgbClr val="F7F9FA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20440" y="434340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Arguments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20440" y="475488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urban_pop, total_pop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126480" y="4206240"/>
            <a:ext cx="2606040" cy="1691640"/>
          </a:xfrm>
          <a:prstGeom prst="roundRect">
            <a:avLst>
              <a:gd name="adj" fmla="val 3243"/>
            </a:avLst>
          </a:prstGeom>
          <a:solidFill>
            <a:srgbClr val="F7F9FA"/>
          </a:solidFill>
          <a:ln w="19050">
            <a:solidFill>
              <a:srgbClr val="0B3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63640" y="434340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Body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63640" y="475488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calculation between { }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869680" y="4206240"/>
            <a:ext cx="2606040" cy="1691640"/>
          </a:xfrm>
          <a:prstGeom prst="roundRect">
            <a:avLst>
              <a:gd name="adj" fmla="val 3243"/>
            </a:avLst>
          </a:prstGeom>
          <a:solidFill>
            <a:srgbClr val="F7F9FA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006840" y="434340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 value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006840" y="475488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return() or the last expression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00 — Introduction to R in the Age of AI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ACTIVE REVIEW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Essential dplyr Verbs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03520" cy="1188720"/>
          </a:xfrm>
          <a:prstGeom prst="roundRect">
            <a:avLst>
              <a:gd name="adj" fmla="val 4615"/>
            </a:avLst>
          </a:prstGeom>
          <a:solidFill>
            <a:srgbClr val="F7F9FA"/>
          </a:solidFill>
          <a:ln w="12700">
            <a:solidFill>
              <a:srgbClr val="D8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82296" cy="1188720"/>
          </a:xfrm>
          <a:prstGeom prst="rect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75564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select()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24028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 Columns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080760" y="1645920"/>
            <a:ext cx="5303520" cy="1188720"/>
          </a:xfrm>
          <a:prstGeom prst="roundRect">
            <a:avLst>
              <a:gd name="adj" fmla="val 4615"/>
            </a:avLst>
          </a:prstGeom>
          <a:solidFill>
            <a:srgbClr val="F7F9FA"/>
          </a:solidFill>
          <a:ln w="12700">
            <a:solidFill>
              <a:srgbClr val="D8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080760" y="1645920"/>
            <a:ext cx="82296" cy="11887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355080" y="175564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filter()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55080" y="224028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 rows based on a condition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40080" y="2971800"/>
            <a:ext cx="5303520" cy="1188720"/>
          </a:xfrm>
          <a:prstGeom prst="roundRect">
            <a:avLst>
              <a:gd name="adj" fmla="val 4615"/>
            </a:avLst>
          </a:prstGeom>
          <a:solidFill>
            <a:srgbClr val="F7F9FA"/>
          </a:solidFill>
          <a:ln w="12700">
            <a:solidFill>
              <a:srgbClr val="D8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2971800"/>
            <a:ext cx="82296" cy="1188720"/>
          </a:xfrm>
          <a:prstGeom prst="rect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4400" y="308152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mutate()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35661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or modify a column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080760" y="2971800"/>
            <a:ext cx="5303520" cy="1188720"/>
          </a:xfrm>
          <a:prstGeom prst="roundRect">
            <a:avLst>
              <a:gd name="adj" fmla="val 4615"/>
            </a:avLst>
          </a:prstGeom>
          <a:solidFill>
            <a:srgbClr val="F7F9FA"/>
          </a:solidFill>
          <a:ln w="12700">
            <a:solidFill>
              <a:srgbClr val="D8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080760" y="2971800"/>
            <a:ext cx="82296" cy="11887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355080" y="308152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group_by() + summarise()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55080" y="35661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by group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40080" y="4297680"/>
            <a:ext cx="5303520" cy="1188720"/>
          </a:xfrm>
          <a:prstGeom prst="roundRect">
            <a:avLst>
              <a:gd name="adj" fmla="val 4615"/>
            </a:avLst>
          </a:prstGeom>
          <a:solidFill>
            <a:srgbClr val="F7F9FA"/>
          </a:solidFill>
          <a:ln w="12700">
            <a:solidFill>
              <a:srgbClr val="D8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40080" y="4297680"/>
            <a:ext cx="82296" cy="1188720"/>
          </a:xfrm>
          <a:prstGeom prst="rect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14400" y="440740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arrange()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4400" y="489204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rows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080760" y="4297680"/>
            <a:ext cx="5303520" cy="1188720"/>
          </a:xfrm>
          <a:prstGeom prst="roundRect">
            <a:avLst>
              <a:gd name="adj" fmla="val 4615"/>
            </a:avLst>
          </a:prstGeom>
          <a:solidFill>
            <a:srgbClr val="F7F9FA"/>
          </a:solidFill>
          <a:ln w="12700">
            <a:solidFill>
              <a:srgbClr val="D8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080760" y="4297680"/>
            <a:ext cx="82296" cy="11887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355080" y="440740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left_join() / inner_join()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55080" y="489204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two tables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00 — Introduction to R in the Age of AI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EXERCISE 3.1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Cross-tabulation of population and households by administrative unit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3200400" cy="1554480"/>
          </a:xfrm>
          <a:prstGeom prst="roundRect">
            <a:avLst>
              <a:gd name="adj" fmla="val 3529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CMR_population_v1_0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_admin_level2.csv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Level 2 administrative code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731520" y="3749040"/>
            <a:ext cx="3200400" cy="1554480"/>
          </a:xfrm>
          <a:prstGeom prst="roundRect">
            <a:avLst>
              <a:gd name="adj" fmla="val 3529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393192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CMR_household_v1_0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_admin_level2.csv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14400" y="46634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E4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Level 2 administrative code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160520" y="3063240"/>
            <a:ext cx="1188720" cy="822960"/>
          </a:xfrm>
          <a:prstGeom prst="rightArrow">
            <a:avLst/>
          </a:prstGeom>
          <a:solidFill>
            <a:srgbClr val="D98E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023360" y="38862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8E0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left_join()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23560" y="2331720"/>
            <a:ext cx="3474720" cy="2788920"/>
          </a:xfrm>
          <a:prstGeom prst="roundRect">
            <a:avLst>
              <a:gd name="adj" fmla="val 2609"/>
            </a:avLst>
          </a:prstGeom>
          <a:solidFill>
            <a:srgbClr val="0A1F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852160" y="25146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Joined table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852160" y="292608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E4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average_household_size</a:t>
            </a:r>
            <a:endParaRPr lang="en-US" dirty="0"/>
          </a:p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E4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TOTAL_POPULATION / NUMBER_OF_HOUSEHOLDS</a:t>
            </a:r>
            <a:endParaRPr lang="en-US" dirty="0"/>
          </a:p>
          <a:p>
            <a:pPr marL="0" indent="0">
              <a:lnSpc>
                <a:spcPct val="125000"/>
              </a:lnSpc>
              <a:buNone/>
            </a:pPr>
            <a:endParaRPr lang="en-US" dirty="0"/>
          </a:p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E4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by region (group_by + summarise)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9281160" y="2331720"/>
            <a:ext cx="2240280" cy="2103120"/>
          </a:xfrm>
          <a:prstGeom prst="roundRect">
            <a:avLst>
              <a:gd name="adj" fmla="val 2609"/>
            </a:avLst>
          </a:prstGeom>
          <a:solidFill>
            <a:srgbClr val="F7F9FA"/>
          </a:solidFill>
          <a:ln w="19050">
            <a:solidFill>
              <a:srgbClr val="D98E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418320" y="25146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Sorted result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418320" y="2971800"/>
            <a:ext cx="1965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arrange(desc(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total_population))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31520" y="55778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7"/>
                </a:solidFill>
                <a:latin typeface="Bell MT" panose="02020503060305020303" pitchFamily="18" charset="0"/>
                <a:ea typeface="Calibri" pitchFamily="34" charset="-122"/>
                <a:cs typeface="Calibri" pitchFamily="34" charset="-120"/>
              </a:rPr>
              <a:t>Quality control check: after the join, `nrow(joined_table)` must remain equal to `nrow(population_adm2)`—otherwise, the join key produces unexpected duplicates.</a:t>
            </a:r>
            <a:endParaRPr lang="en-US" sz="1300" dirty="0">
              <a:latin typeface="Bell MT" panose="02020503060305020303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00 — Introduction to R in the Age of AI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a DHS file (.sav) with haven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492240" cy="3566160"/>
          </a:xfrm>
          <a:prstGeom prst="roundRect">
            <a:avLst>
              <a:gd name="adj" fmla="val 2051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5943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library(haven)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naissances_dhs &lt;- read_sav("data/brutes/CMBR71FR.sav")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class(naissances_dhs)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dim(naissances_dhs)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8FB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SPSS-labeled variables: read the full label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attr(naissances_dhs[[1]], "label")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0" y="1691640"/>
            <a:ext cx="4206240" cy="3566160"/>
          </a:xfrm>
          <a:prstGeom prst="roundRect">
            <a:avLst>
              <a:gd name="adj" fmla="val 1795"/>
            </a:avLst>
          </a:prstGeom>
          <a:solidFill>
            <a:srgbClr val="F7F9FA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543800" y="18745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Points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43800" y="228600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DHS recodes (.sav) can be read directly into R without prior conversion.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topics: Days 05–06, once you’ve mastered sf and spatial joins.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00 — Introduction to R in the Age of AI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Covered Today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800"/>
              </a:spcAft>
              <a:buSzPct val="100000"/>
              <a:buChar char="▪"/>
            </a:pPr>
            <a:r>
              <a:rPr lang="en-US" sz="2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R 4.4 / RStudio environment organized as a reproducible project</a:t>
            </a:r>
            <a:endParaRPr lang="en-US" sz="2800" dirty="0"/>
          </a:p>
          <a:p>
            <a:pPr marL="342900" indent="-342900">
              <a:spcAft>
                <a:spcPts val="1800"/>
              </a:spcAft>
              <a:buSzPct val="100000"/>
              <a:buChar char="▪"/>
            </a:pPr>
            <a:r>
              <a:rPr lang="en-US" sz="2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 of the major families of R objects and exploratory techniques</a:t>
            </a:r>
            <a:endParaRPr lang="en-US" sz="2800" dirty="0"/>
          </a:p>
          <a:p>
            <a:pPr marL="342900" indent="-342900">
              <a:spcAft>
                <a:spcPts val="1800"/>
              </a:spcAft>
              <a:buSzPct val="100000"/>
              <a:buChar char="▪"/>
            </a:pPr>
            <a:r>
              <a:rPr lang="en-US" sz="2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ability to install, load, and query a package</a:t>
            </a:r>
            <a:endParaRPr lang="en-US" sz="2800" dirty="0"/>
          </a:p>
          <a:p>
            <a:pPr marL="342900" indent="-342900">
              <a:spcAft>
                <a:spcPts val="1800"/>
              </a:spcAft>
              <a:buSzPct val="100000"/>
              <a:buChar char="▪"/>
            </a:pPr>
            <a:r>
              <a:rPr lang="en-US" sz="2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hands-on review of dplyr using real-world data from Cameroon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00 — Introduction to R in the Age of AI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8E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— sf objects &amp; first maps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i="1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sf object is, essentially, a regular data.frame with an additional geometric column.</a:t>
            </a:r>
            <a:endParaRPr lang="en-US" sz="2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000" i="1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the dplyr skills you’ve mastered so far apply directly to spatial data, without needing to relearn anything.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2971800"/>
            <a:ext cx="73152" cy="365760"/>
          </a:xfrm>
          <a:prstGeom prst="rect">
            <a:avLst/>
          </a:prstGeom>
          <a:solidFill>
            <a:srgbClr val="D98E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292608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gadm41_CMR_shp — administrative boundaries of Cameroon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40080" y="3538728"/>
            <a:ext cx="73152" cy="365760"/>
          </a:xfrm>
          <a:prstGeom prst="rect">
            <a:avLst/>
          </a:prstGeom>
          <a:solidFill>
            <a:srgbClr val="D98E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349300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CMGE71FL.shp — GPS positions of DHS clusters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40080" y="4389120"/>
            <a:ext cx="10881360" cy="1280160"/>
          </a:xfrm>
          <a:prstGeom prst="roundRect">
            <a:avLst>
              <a:gd name="adj" fmla="val 4286"/>
            </a:avLst>
          </a:prstGeom>
          <a:solidFill>
            <a:srgbClr val="0F2A42"/>
          </a:solidFill>
          <a:ln w="12700">
            <a:solidFill>
              <a:srgbClr val="D98E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452628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prepare before tomorrow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68680" y="484632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4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that `install.packages("sf")` runs without errors: this package depends on system libraries (GDAL, GEOS, PROJ), which can sometimes take longer to install depending on the OS.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00 — Introduction to R in the Age of AI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0" y="0"/>
            <a:ext cx="0" cy="6858000"/>
          </a:xfrm>
          <a:prstGeom prst="line">
            <a:avLst/>
          </a:prstGeom>
          <a:noFill/>
          <a:ln w="9525">
            <a:solidFill>
              <a:srgbClr val="13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926080" y="0"/>
            <a:ext cx="0" cy="6858000"/>
          </a:xfrm>
          <a:prstGeom prst="line">
            <a:avLst/>
          </a:prstGeom>
          <a:noFill/>
          <a:ln w="9525">
            <a:solidFill>
              <a:srgbClr val="13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389120" y="0"/>
            <a:ext cx="0" cy="6858000"/>
          </a:xfrm>
          <a:prstGeom prst="line">
            <a:avLst/>
          </a:prstGeom>
          <a:noFill/>
          <a:ln w="9525">
            <a:solidFill>
              <a:srgbClr val="13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852160" y="0"/>
            <a:ext cx="0" cy="6858000"/>
          </a:xfrm>
          <a:prstGeom prst="line">
            <a:avLst/>
          </a:prstGeom>
          <a:noFill/>
          <a:ln w="9525">
            <a:solidFill>
              <a:srgbClr val="13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9525">
            <a:solidFill>
              <a:srgbClr val="13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778240" y="0"/>
            <a:ext cx="0" cy="6858000"/>
          </a:xfrm>
          <a:prstGeom prst="line">
            <a:avLst/>
          </a:prstGeom>
          <a:noFill/>
          <a:ln w="9525">
            <a:solidFill>
              <a:srgbClr val="13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9525">
            <a:solidFill>
              <a:srgbClr val="13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0" y="1280160"/>
            <a:ext cx="12188952" cy="0"/>
          </a:xfrm>
          <a:prstGeom prst="line">
            <a:avLst/>
          </a:prstGeom>
          <a:noFill/>
          <a:ln w="9525">
            <a:solidFill>
              <a:srgbClr val="13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0" y="2560320"/>
            <a:ext cx="12188952" cy="0"/>
          </a:xfrm>
          <a:prstGeom prst="line">
            <a:avLst/>
          </a:prstGeom>
          <a:noFill/>
          <a:ln w="9525">
            <a:solidFill>
              <a:srgbClr val="13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0" y="3840480"/>
            <a:ext cx="12188952" cy="0"/>
          </a:xfrm>
          <a:prstGeom prst="line">
            <a:avLst/>
          </a:prstGeom>
          <a:noFill/>
          <a:ln w="9525">
            <a:solidFill>
              <a:srgbClr val="13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0" y="5120640"/>
            <a:ext cx="12188952" cy="0"/>
          </a:xfrm>
          <a:prstGeom prst="line">
            <a:avLst/>
          </a:prstGeom>
          <a:noFill/>
          <a:ln w="9525">
            <a:solidFill>
              <a:srgbClr val="13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8E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4400" y="265176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Questions?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914400" y="3657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AF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00 — Introduction to R in the Age of AI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1977</Words>
  <Application>Microsoft Office PowerPoint</Application>
  <PresentationFormat>Grand écran</PresentationFormat>
  <Paragraphs>382</Paragraphs>
  <Slides>23</Slides>
  <Notes>23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23</vt:i4>
      </vt:variant>
    </vt:vector>
  </HeadingPairs>
  <TitlesOfParts>
    <vt:vector size="29" baseType="lpstr">
      <vt:lpstr>Arial</vt:lpstr>
      <vt:lpstr>Bell MT</vt:lpstr>
      <vt:lpstr>Calibri</vt:lpstr>
      <vt:lpstr>Cambria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keywords>, docId:3B5A61CA67DDEC94D64823DC6113FC82</cp:keywords>
  <cp:lastModifiedBy>PC</cp:lastModifiedBy>
  <cp:revision>13</cp:revision>
  <dcterms:created xsi:type="dcterms:W3CDTF">2026-07-22T19:49:05Z</dcterms:created>
  <dcterms:modified xsi:type="dcterms:W3CDTF">2026-07-27T10:12:15Z</dcterms:modified>
</cp:coreProperties>
</file>