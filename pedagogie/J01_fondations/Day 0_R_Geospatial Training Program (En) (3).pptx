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07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16="http://schemas.microsoft.com/office/drawing/2014/main"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011680"/>
            <a:ext cx="6400800" cy="6400800"/>
          </a:xfrm>
          <a:prstGeom prst="ellipse">
            <a:avLst/>
          </a:prstGeom>
          <a:solidFill>
            <a:srgbClr val="0E2338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F7A72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TRAINING PROGRAM — </a:t>
            </a:r>
            <a:r>
              <a:rPr lang="fr-FR" sz="1600" b="1" kern="0" spc="200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 DATA, ANALYSIS, AND MANIPULATION IN 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0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7A72"/>
                </a:solidFill>
              </a:rPr>
              <a:t>R &amp; RStudio Fundamentals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6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 Started Before Days 1–3 — Basic Data Manipulation and Analysis in 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4206240" cy="0"/>
          </a:xfrm>
          <a:prstGeom prst="line">
            <a:avLst/>
          </a:prstGeom>
          <a:noFill/>
          <a:ln w="19050">
            <a:solidFill>
              <a:srgbClr val="1F7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Audience: Level 1 in R, good familiarity with STATA/SPSS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set: 2018 DHS in Cameroon (households &amp; women)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B8"/>
                </a:solidFill>
              </a:rPr>
              <a:t>July 2026</a:t>
            </a:r>
            <a:endParaRPr lang="en-US" sz="11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9F9A16E-31CA-2A9C-0A31-5E2DEC693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296" y="32237"/>
            <a:ext cx="2031950" cy="107578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A917DD4-9DC8-343B-48AE-EE68D7798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3" y="56465"/>
            <a:ext cx="2031950" cy="1075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1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7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 · 0.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a Day 0?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entire group starts from the same point: Level 1 in R, but with established experience using STATA and/or SPSS. This Day 0 builds a bridge between your existing skills and R/RStudio, before moving on to data manipulation on Day 1.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and open R and RStudio without errors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89504" y="265176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72384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72384" y="3429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 Oriented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72384" y="379476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Navigating the RStudio Interface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38928" y="265176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21808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21808" y="3429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Scripting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21808" y="379476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Writing and Running Your First R Script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88352" y="265176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71232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71232" y="3429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71232" y="379476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the DHS 2016 dataset from the course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37776" y="265176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20656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20656" y="3429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20656" y="3794760"/>
            <a:ext cx="1719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Recognize STATA/SPSS ↔ R equivalences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FUNDAMENTALS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 · SCHEDULE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</a:rPr>
              <a:t>The day’s schedule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6065" y="1737360"/>
            <a:ext cx="5760415" cy="4617720"/>
          </a:xfrm>
          <a:prstGeom prst="roundRect">
            <a:avLst>
              <a:gd name="adj" fmla="val 2273"/>
            </a:avLst>
          </a:prstGeom>
          <a:solidFill>
            <a:srgbClr val="16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4C9"/>
                </a:solidFill>
              </a:rPr>
              <a:t>MORNING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and RStudio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Installing R and RStudio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RStudio Interface (4 Panels)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script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Packages &amp; Libraries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19" y="1737359"/>
            <a:ext cx="5710223" cy="4663441"/>
          </a:xfrm>
          <a:prstGeom prst="roundRect">
            <a:avLst>
              <a:gd name="adj" fmla="val 2273"/>
            </a:avLst>
          </a:prstGeom>
          <a:solidFill>
            <a:srgbClr val="1F7A7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FE3DB"/>
                </a:solidFill>
              </a:rPr>
              <a:t>AFTERNOON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&amp; Getting Started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0" y="310896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2016 DHS Data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 Exploration Steps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STATA/SPSS ↔ R Correspondences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Roadmap for Days 1–3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</a:rPr>
              <a:t>From STATA/SPSS to R: Staying on Track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" cy="2286000"/>
          </a:xfrm>
          <a:prstGeom prst="rect">
            <a:avLst/>
          </a:prstGeom>
          <a:solidFill>
            <a:srgbClr val="1F7A7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 &amp; open-source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7720" y="2320119"/>
            <a:ext cx="3032760" cy="1657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license required. A global community develops extensions—the equivalent of STATA’s ado-files, but in much greater numbers.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691640"/>
            <a:ext cx="73152" cy="2286000"/>
          </a:xfrm>
          <a:prstGeom prst="rect">
            <a:avLst/>
          </a:prstGeom>
          <a:solidFill>
            <a:srgbClr val="1F7A7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 is done via scripts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 a do-file or SPSS syntax, but without a “click-only” mode: scripting is the only way to go, so your work is fully reproducible.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691640"/>
            <a:ext cx="73152" cy="2286000"/>
          </a:xfrm>
          <a:prstGeom prst="rect">
            <a:avLst/>
          </a:prstGeom>
          <a:solidFill>
            <a:srgbClr val="1F7A7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920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ecosystem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0" y="2514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R does very little; you add packages for data manipulation, graphics, and surveys—just like an SPSS module or a STATA user command.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262284"/>
              </p:ext>
            </p:extLst>
          </p:nvPr>
        </p:nvGraphicFramePr>
        <p:xfrm>
          <a:off x="640080" y="4160520"/>
          <a:ext cx="10881360" cy="21488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Concept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STATA / SPSS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 equivalent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 Editor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Do-file editor / Syntax editor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Script editor (RStudio)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Results window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Results window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Console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Extensions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ado-files, SPSS packages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CRAN packages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Native data file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.dta / .sav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haven::read_dta() / read_sav()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and RStudio: Two Different Things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101600" dist="25400" dir="5400000" algn="bl" rotWithShape="0">
              <a:srgbClr val="1B2A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822960" cy="82296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pptx_build/icon_termin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35915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</a:rPr>
              <a:t>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011680" y="2670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language / the engine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05840" y="33375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statistical computing engine—like the STATA engine, which runs even without a graphical user interface. R must be installed first.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1792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101600" dist="25400" dir="5400000" algn="bl" rotWithShape="0">
              <a:srgbClr val="1B2A33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194560"/>
            <a:ext cx="822960" cy="822960"/>
          </a:xfrm>
          <a:prstGeom prst="ellipse">
            <a:avLst/>
          </a:prstGeom>
          <a:solidFill>
            <a:srgbClr val="1F7A72"/>
          </a:solidFill>
          <a:ln/>
        </p:spPr>
      </p:sp>
      <p:pic>
        <p:nvPicPr>
          <p:cNvPr id="12" name="Image 1" descr="/home/claude/pptx_build/icon_layou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35915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</a:rPr>
              <a:t>RStudio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589520" y="2670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working environment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583680" y="33375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IDE that makes working with R more convenient: script editor, console, history, and object visualization. It automatically connects to R after installation.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FUNDAMENTALS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INSTALLATION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</a:rPr>
              <a:t>Installing R and RStudio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8308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cran.r-project.org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your operating system (Windows / macOS / Linux)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the default options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103120"/>
            <a:ext cx="640080" cy="640080"/>
          </a:xfrm>
          <a:prstGeom prst="ellipse">
            <a:avLst/>
          </a:prstGeom>
          <a:solidFill>
            <a:srgbClr val="1F7A7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6092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RStudio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0" y="30175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posit.co/download/rstudio-desktop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 version: “RStudio Desktop”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 after R (automatic connection)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6324F"/>
          </a:solidFill>
          <a:ln/>
        </p:spPr>
      </p:sp>
      <p:pic>
        <p:nvPicPr>
          <p:cNvPr id="15" name="Image 0" descr="/home/claude/pptx_build/icon_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49240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17320" y="507492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</a:t>
            </a: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installers to a USB drive or a shared link: Wi-Fi bandwidth in the classroom is often the main bottleneck for this module.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FUNDAMENTALS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 Started with the RStudio Interface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264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9050">
            <a:solidFill>
              <a:srgbClr val="1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03320" y="1691640"/>
            <a:ext cx="0" cy="4480560"/>
          </a:xfrm>
          <a:prstGeom prst="line">
            <a:avLst/>
          </a:prstGeom>
          <a:noFill/>
          <a:ln w="19050">
            <a:solidFill>
              <a:srgbClr val="DC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931920"/>
            <a:ext cx="6126480" cy="0"/>
          </a:xfrm>
          <a:prstGeom prst="line">
            <a:avLst/>
          </a:prstGeom>
          <a:noFill/>
          <a:ln w="19050">
            <a:solidFill>
              <a:srgbClr val="DC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56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 Editor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Writing and Saving Code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86200" y="1856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 / History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86200" y="2258568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In-Memory Objects, History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0965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4498848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Execution, results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86200" y="40965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 / Plots / Packages / Help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86200" y="4498848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Navigation, Graphs, Help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86600" y="16916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E882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STATA / SPSS REFERENCE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86600" y="2103120"/>
            <a:ext cx="4434840" cy="777240"/>
          </a:xfrm>
          <a:prstGeom prst="roundRect">
            <a:avLst>
              <a:gd name="adj" fmla="val 7059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2194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 Editor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69480" y="25146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do-file / syntax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086600" y="3063240"/>
            <a:ext cx="4434840" cy="777240"/>
          </a:xfrm>
          <a:prstGeom prst="roundRect">
            <a:avLst>
              <a:gd name="adj" fmla="val 7059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31546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269480" y="34747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Output Window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86600" y="4023360"/>
            <a:ext cx="4434840" cy="777240"/>
          </a:xfrm>
          <a:prstGeom prst="roundRect">
            <a:avLst>
              <a:gd name="adj" fmla="val 7059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41148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69480" y="44348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"Variables" window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086600" y="50292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5B6B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Nothing appears in the Environment until the script has been executed.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R Script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&gt; New File &gt; R Script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the code, then run it with Ctrl+Enter (Cmd+Enter on Mac)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the script (.R) as a do-file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6324F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E882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symbol &lt;-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assigns a value to an object—the equivalent of `generate/gen` in STATA or `compute` in SPSS.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1E2B33"/>
          </a:solidFill>
          <a:ln/>
        </p:spPr>
      </p:sp>
      <p:sp>
        <p:nvSpPr>
          <p:cNvPr id="8" name="Shape 6"/>
          <p:cNvSpPr/>
          <p:nvPr/>
        </p:nvSpPr>
        <p:spPr>
          <a:xfrm>
            <a:off x="6355080" y="1828800"/>
            <a:ext cx="146304" cy="146304"/>
          </a:xfrm>
          <a:prstGeom prst="ellipse">
            <a:avLst/>
          </a:prstGeom>
          <a:solidFill>
            <a:srgbClr val="E8825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828800"/>
            <a:ext cx="146304" cy="146304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10" name="Shape 8"/>
          <p:cNvSpPr/>
          <p:nvPr/>
        </p:nvSpPr>
        <p:spPr>
          <a:xfrm>
            <a:off x="6812280" y="1828800"/>
            <a:ext cx="146304" cy="146304"/>
          </a:xfrm>
          <a:prstGeom prst="ellipse">
            <a:avLst/>
          </a:prstGeom>
          <a:solidFill>
            <a:srgbClr val="6FB98F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9456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x &lt;- 5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y &lt;- 3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z &lt;- x + y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28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print(z)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Packages and Libraries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R’s core functionality is intentionally limited: data manipulation, graphics, and analysis almost always involve packages.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collection of functions, data, and documentation—comparable to an SPSS module or a set of STATA ado-files.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474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folder where packages are installed and stored on your computer.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E2B33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4688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8FA6A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Installation (one-time)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install.packages("dplyr")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8FA6A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Loading (at the start of each session)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library(dplyr)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4" name="Image 0" descr="/home/claude/pptx_build/icon_refresh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5488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47091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conflicts (masking)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08760" y="50749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two loaded packages share a function with the same name, the one loaded last masks the other. To resolve the ambiguity: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77240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A72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dplyr::filter(df, condition)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BASICS &amp; RSTUDIO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do the packages come from?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507266"/>
              </p:ext>
            </p:extLst>
          </p:nvPr>
        </p:nvGraphicFramePr>
        <p:xfrm>
          <a:off x="640080" y="1737360"/>
          <a:ext cx="10881360" cy="316382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Source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CRAN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install.packages("dplyr")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 case, package validated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GitHub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devtools::install_github("tidyverse/ggplot2")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Development version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file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install.packages("file.tar.gz", repos = NULL, type = "source")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Without an internet connection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RStudio interface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Tools &gt; Install Packages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 without the command line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F7A72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51206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 packages used throughout the course (tidyverse, haven, readxl, etc.) all come from CRAN—the install.packages() command is sufficient in the vast majority of cases.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FUNDAMENTALS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TOOLBOX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Packages You Should Know for Later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87752" cy="41148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pptx_build/icon_pack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tidyverse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2221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and visualization (dplyr, ggplot2, tidyr, readr…)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22960" y="5120640"/>
            <a:ext cx="2221992" cy="0"/>
          </a:xfrm>
          <a:prstGeom prst="line">
            <a:avLst/>
          </a:prstGeom>
          <a:noFill/>
          <a:ln w="12700">
            <a:solidFill>
              <a:srgbClr val="DCE5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2120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content for Days 1–3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64992" y="1691640"/>
            <a:ext cx="2587752" cy="41148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93592" y="1965960"/>
            <a:ext cx="640080" cy="64008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3" name="Image 1" descr="/home/claude/pptx_build/icon_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21031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7432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haven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547872" y="3154680"/>
            <a:ext cx="2221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STATA (.dta) and SPSS (.sav) files with labels and metadata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547872" y="5120640"/>
            <a:ext cx="2221992" cy="0"/>
          </a:xfrm>
          <a:prstGeom prst="line">
            <a:avLst/>
          </a:prstGeom>
          <a:noFill/>
          <a:ln w="12700">
            <a:solidFill>
              <a:srgbClr val="DCE5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47872" y="52120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your usual files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089904" y="1691640"/>
            <a:ext cx="2587752" cy="41148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18504" y="1965960"/>
            <a:ext cx="640080" cy="64008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0" name="Image 2" descr="/home/claude/pptx_build/icon_boo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1031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72784" y="27432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readxl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272784" y="3154680"/>
            <a:ext cx="2221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Excel files (.xls / .xlsx) without Excel installed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272784" y="5120640"/>
            <a:ext cx="2221992" cy="0"/>
          </a:xfrm>
          <a:prstGeom prst="line">
            <a:avLst/>
          </a:prstGeom>
          <a:noFill/>
          <a:ln w="12700">
            <a:solidFill>
              <a:srgbClr val="DCE5E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72784" y="52120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spreadsheets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8814816" y="1691640"/>
            <a:ext cx="2587752" cy="411480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043416" y="1965960"/>
            <a:ext cx="640080" cy="64008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7" name="Image 3" descr="/home/claude/pptx_build/icon_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6" y="210312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97696" y="27432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labelled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8997696" y="3154680"/>
            <a:ext cx="2221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value and variable labels in STATA/SPSS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8997696" y="5120640"/>
            <a:ext cx="2221992" cy="0"/>
          </a:xfrm>
          <a:prstGeom prst="line">
            <a:avLst/>
          </a:prstGeom>
          <a:noFill/>
          <a:ln w="12700">
            <a:solidFill>
              <a:srgbClr val="DCE5E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997696" y="521208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F7A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labels / variable labels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Importing Training Data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2018 Cameroon DHS extract — household file (CMHR71FL) and women’s file (CMIR71FL), used on Days 1 through 3.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6400800" cy="3977640"/>
          </a:xfrm>
          <a:prstGeom prst="roundRect">
            <a:avLst>
              <a:gd name="adj" fmla="val 1839"/>
            </a:avLst>
          </a:prstGeom>
          <a:solidFill>
            <a:srgbClr val="1E2B3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57607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setwd("path/to/the/folder")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getwd()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A6A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STATA file — preserves the labels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library(haven)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df_pers &lt;- </a:t>
            </a:r>
            <a:r>
              <a:rPr lang="en-US" sz="1600" dirty="0" err="1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read_dta</a:t>
            </a: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("CMHR71FL.dta")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A6A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SPSS file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df_pers &lt;- </a:t>
            </a:r>
            <a:r>
              <a:rPr lang="en-US" sz="1600" dirty="0" err="1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read_sav</a:t>
            </a: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("CMHR71FL.SAV")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A6A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CSV file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df_wom &lt;- read.csv("CMIR71FL.csv")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269480" y="2057400"/>
            <a:ext cx="4251960" cy="3977640"/>
          </a:xfrm>
          <a:prstGeom prst="roundRect">
            <a:avLst>
              <a:gd name="adj" fmla="val 1839"/>
            </a:avLst>
          </a:prstGeom>
          <a:solidFill>
            <a:srgbClr val="F4F7F7"/>
          </a:solidFill>
          <a:ln w="12700">
            <a:solidFill>
              <a:srgbClr val="DCE5E5"/>
            </a:solidFill>
            <a:prstDash val="solid"/>
          </a:ln>
        </p:spPr>
      </p:sp>
      <p:pic>
        <p:nvPicPr>
          <p:cNvPr id="8" name="Image 0" descr="/home/claude/pptx_build/icon_compas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3317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8388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haven?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543800" y="2971800"/>
            <a:ext cx="3703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 specifically for STATA and SPSS users: it imports .dta/.sav files while preserving value and variable labels, so you can find familiar references in 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· EXPLORATION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Steps After Importing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same steps as in STATA/SPSS, adapted for R: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014147"/>
              </p:ext>
            </p:extLst>
          </p:nvPr>
        </p:nvGraphicFramePr>
        <p:xfrm>
          <a:off x="640080" y="1920240"/>
          <a:ext cx="10881360" cy="301752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STATA / SPSS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 structure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describe / codebook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str(df) or glimpse(df)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few rows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browse / Data View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head(df)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Descriptive statistics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summarize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summary(df)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Flat Sort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 varname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table(df$varname)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Missing values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misstable summarize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3323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colSums(is.na(df))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E2B33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502920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7E4E0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str(df_wom)   summary(df_wom)   table(df_wom$v201)   colSums(is.na(df_wom))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Practices from the Start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7A7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92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with RStudio Projects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63040" y="235000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&gt; New Project associates a folder with the script to avoid absolute paths that break when moving from one computer to another.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20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7A7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892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Keep the script as a complete record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86600" y="235000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 a do-file: it should allow you to recreate everything from scratch, including `install.packages()` and `library()` at the top of the file.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343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7A7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315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 as you go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63040" y="477316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# symbol comments out a line—just like * or // in STATA.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343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7A7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315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objects clearly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86600" y="477316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created object (df_wom, df_pers…) remains in memory until the end of the session—keep an eye on the Environment panel.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BASICS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Roadmap — Days 1–3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05840" y="2103120"/>
            <a:ext cx="10149840" cy="0"/>
          </a:xfrm>
          <a:prstGeom prst="line">
            <a:avLst/>
          </a:prstGeom>
          <a:noFill/>
          <a:ln w="25400">
            <a:solidFill>
              <a:srgbClr val="DC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17420" y="1965960"/>
            <a:ext cx="274320" cy="274320"/>
          </a:xfrm>
          <a:prstGeom prst="ellipse">
            <a:avLst/>
          </a:prstGeom>
          <a:solidFill>
            <a:srgbClr val="1F7A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560320"/>
            <a:ext cx="3337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7614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</a:rPr>
              <a:t>DAY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Recoding, creating variables, factors, and labels; basic filtering and sorting with dplyr (filter, select, rename, arrange).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29300" y="1965960"/>
            <a:ext cx="274320" cy="274320"/>
          </a:xfrm>
          <a:prstGeom prst="ellipse">
            <a:avLst/>
          </a:prstGeom>
          <a:solidFill>
            <a:srgbClr val="1F7A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560320"/>
            <a:ext cx="3337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27614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</a:rPr>
              <a:t>DAY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0632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Wrangling &amp; Tables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0" y="37947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dplyr pipelines, group_by/summarize, data merging (joins, bind_rows), output tables, survey weighting.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441180" y="1965960"/>
            <a:ext cx="274320" cy="274320"/>
          </a:xfrm>
          <a:prstGeom prst="ellipse">
            <a:avLst/>
          </a:prstGeom>
          <a:solidFill>
            <a:srgbClr val="1F7A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2560320"/>
            <a:ext cx="3337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5E5"/>
            </a:solidFill>
            <a:prstDash val="solid"/>
          </a:ln>
          <a:effectLst>
            <a:outerShdw blurRad="76200" dist="25400" dir="5400000" algn="bl" rotWithShape="0">
              <a:srgbClr val="1B2A33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83880" y="27614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72"/>
                </a:solidFill>
              </a:rPr>
              <a:t>DAY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30632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 &amp; Visualization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83880" y="37947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3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Linear, logistic, and weighted regressions (lm, glm, svyglm), visualization with ggplot2.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3"/>
                </a:solidFill>
              </a:rPr>
              <a:t>DAY 0 — R &amp; RSTUDIO FUNDAMENTALS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E233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· 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End-of-Day Checklist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1F7A72"/>
            </a:solidFill>
            <a:prstDash val="solid"/>
          </a:ln>
        </p:spPr>
      </p:sp>
      <p:pic>
        <p:nvPicPr>
          <p:cNvPr id="6" name="Image 0" descr="/home/claude/pptx_build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8653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7556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and RStudio installed and opened without errors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309360" y="18288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1F7A72"/>
            </a:solidFill>
            <a:prstDash val="solid"/>
          </a:ln>
        </p:spPr>
      </p:sp>
      <p:pic>
        <p:nvPicPr>
          <p:cNvPr id="9" name="Image 1" descr="/home/claude/pptx_build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86537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7556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.R script created, saved, and successfully executed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0080" y="27432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1F7A72"/>
            </a:solidFill>
            <a:prstDash val="solid"/>
          </a:ln>
        </p:spPr>
      </p:sp>
      <p:pic>
        <p:nvPicPr>
          <p:cNvPr id="12" name="Image 2" descr="/home/claude/pptx_build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77977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670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tidyverse, haven, readxl, and labelled installed and loaded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309360" y="27432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1F7A72"/>
            </a:solidFill>
            <a:prstDash val="solid"/>
          </a:ln>
        </p:spPr>
      </p:sp>
      <p:pic>
        <p:nvPicPr>
          <p:cNvPr id="15" name="Image 3" descr="/home/claude/pptx_build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77977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58000" y="2670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2016 DHS dataset successfully imported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640080" y="36576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1F7A72"/>
            </a:solidFill>
            <a:prstDash val="solid"/>
          </a:ln>
        </p:spPr>
      </p:sp>
      <p:pic>
        <p:nvPicPr>
          <p:cNvPr id="18" name="Image 4" descr="/home/claude/pptx_build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69417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35844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str(), summary(), and table() executed on the data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6309360" y="3657600"/>
            <a:ext cx="365760" cy="365760"/>
          </a:xfrm>
          <a:prstGeom prst="roundRect">
            <a:avLst>
              <a:gd name="adj" fmla="val 15000"/>
            </a:avLst>
          </a:prstGeom>
          <a:ln w="19050">
            <a:solidFill>
              <a:srgbClr val="1F7A72"/>
            </a:solidFill>
            <a:prstDash val="solid"/>
          </a:ln>
        </p:spPr>
      </p:sp>
      <p:pic>
        <p:nvPicPr>
          <p:cNvPr id="21" name="Image 5" descr="/home/claude/pptx_build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3694176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58000" y="35844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C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RStudio project created for the remainder of the training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FB0B8"/>
                </a:solidFill>
              </a:rPr>
              <a:t> Note: </a:t>
            </a:r>
            <a:r>
              <a:rPr lang="en-US" sz="1250" i="1" dirty="0" err="1">
                <a:solidFill>
                  <a:srgbClr val="9FB0B8"/>
                </a:solidFill>
              </a:rPr>
              <a:t>If </a:t>
            </a:r>
            <a:r>
              <a:rPr lang="en-US" sz="1250" i="1" dirty="0" err="1">
                <a:solidFill>
                  <a:srgbClr val="9FB0B8"/>
                </a:solidFill>
              </a:rPr>
              <a:t>there are </a:t>
            </a:r>
            <a:r>
              <a:rPr lang="en-US" sz="1250" i="1" dirty="0">
                <a:solidFill>
                  <a:srgbClr val="9FB0B8"/>
                </a:solidFill>
              </a:rPr>
              <a:t>any </a:t>
            </a:r>
            <a:r>
              <a:rPr lang="en-US" sz="1250" i="1" dirty="0">
                <a:solidFill>
                  <a:srgbClr val="9FB0B8"/>
                </a:solidFill>
              </a:rPr>
              <a:t>installation </a:t>
            </a:r>
            <a:r>
              <a:rPr lang="en-US" sz="1250" i="1" dirty="0" err="1">
                <a:solidFill>
                  <a:srgbClr val="9FB0B8"/>
                </a:solidFill>
              </a:rPr>
              <a:t>issues</a:t>
            </a:r>
            <a:r>
              <a:rPr lang="en-US" sz="1250" i="1" dirty="0">
                <a:solidFill>
                  <a:srgbClr val="9FB0B8"/>
                </a:solidFill>
              </a:rPr>
              <a:t>, we </a:t>
            </a:r>
            <a:r>
              <a:rPr lang="en-US" sz="1250" i="1" dirty="0" err="1">
                <a:solidFill>
                  <a:srgbClr val="9FB0B8"/>
                </a:solidFill>
              </a:rPr>
              <a:t>will schedule </a:t>
            </a:r>
            <a:r>
              <a:rPr lang="en-US" sz="1250" i="1" dirty="0">
                <a:solidFill>
                  <a:srgbClr val="9FB0B8"/>
                </a:solidFill>
              </a:rPr>
              <a:t>a catch-up session at the beginning of Day 1 rather than delaying the entire group.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1720</Words>
  <Application>Microsoft Office PowerPoint</Application>
  <PresentationFormat>Grand écran</PresentationFormat>
  <Paragraphs>277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PptxGenJS Presentation</dc:title>
  <dc:subject>PptxGenJS Presentation</dc:subject>
  <dc:creator>PptxGenJS</dc:creator>
  <lastModifiedBy>PC</lastModifiedBy>
  <revision>11</revision>
  <dcterms:created xsi:type="dcterms:W3CDTF">2026-07-13T11:55:21.0000000Z</dcterms:created>
  <dcterms:modified xsi:type="dcterms:W3CDTF">2026-07-13T16:38:23.0000000Z</dcterms:modified>
  <keywords>, docId:E4634D37400B35B1C0D75C67F67FB04E</keywords>
</coreProperties>
</file>