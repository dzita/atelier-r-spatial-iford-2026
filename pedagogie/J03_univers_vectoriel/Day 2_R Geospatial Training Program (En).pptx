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47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551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SPATIAL ANALYSIS — DATA, ANALYSIS, AND MANIPULATION IN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2137" y="2223629"/>
            <a:ext cx="11259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Module 1 — Day 2_Day3 — Vector Data in R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2137" y="3366459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8D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Working with Spatial Data in 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2137" y="4177171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Reading • Transformation / Analysis • Saving — Using Real Data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4938477"/>
            <a:ext cx="822960" cy="411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371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IFORD Yaoundé — Institute for Demographic Training and Research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B2C63E6-BAAE-8CDD-F7E0-64D08DDA0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575" y="65112"/>
            <a:ext cx="2031950" cy="107578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008AED1-75B9-92BD-FD7D-847BE683F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745" y="179327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NOTE 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191723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Some Considerations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2243283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5292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 examples are based on real data: Cameroon boundaries (INC/HDX), OpenStreetMap, WorldPop raster, and CSV files of health districts.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81304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Three-step process: Import (all relevant packages) → Transformation/analysis → Saving.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77316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Each conceptual topic from Day 1 (formats, vector operations, raster algebra, raster/polygon combinations) is put into practice here in 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Schedule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 Packages for Space Applications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Readings: vector, GDB, raster, CSV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Inspection of spatial objects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CRS and vector operations in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Raster Algebra in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Raster/Polygon Combination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Mapping the Results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Backup and Best Practices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Learning Objectives for Day 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7510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main R packages to import spatial data, regardless of their format.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7802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Read real-world vector and raster data (Shapefile, GeoJSON, GeoPackage, GDB, GeoTIFF).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8152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Inspect a spatial object before performing any analysis.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8503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Reproduce the vector operations from Day 1 in R: measurement, buffering, merging, clipping, and spatial join.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88536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Reproduce raster algebra and raster/polygon combinations using real data.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99262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Link an external CSV table (health districts) to the spatial layers.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9612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49554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Save the results in an appropriate format.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 Packages for Spatial Analysis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15185"/>
              </p:ext>
            </p:extLst>
          </p:nvPr>
        </p:nvGraphicFramePr>
        <p:xfrm>
          <a:off x="548640" y="1783080"/>
          <a:ext cx="11064240" cy="4389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Package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Primary Function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Data Type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Status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sf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Read/Write/Vector Manipulation (Simple Features)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Current standard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terra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 read/write and algebra; also supports vector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 (+ vector)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Current standard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stars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Spatio-temporal data cubes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Complementary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dplyr / readr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Reading CSV files and manipulating attributes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Tabular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Current Standard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ggplot2 / tmap / mapview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Static or interactive mapping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 and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Current standard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 / rgdal /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Legacy standards, archived in 2023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 /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Legacy — to be avoided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76072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 projects must use sf and terra, which now cover all vector and raster needs.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Readings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Importing real-world data, regardless of format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READING — VECTOR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Reading vector data with sf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st_read() reads most vector formats. Examples: actual administrative boundaries of Cameroon (INC / HDX).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library(sf)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Shapefile — regional boundaries of Cameroon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 &lt;- st_read("data/cmr_regions.shp")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GeoJSON — major road network (OpenStreetMap Cameroon)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&lt;- st_read("data/cmr_main_roads.geojson")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Multi-layer GeoPackage — regions, departments, districts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st_layers("data/cmr_admin.gpkg")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 &lt;- st_read("data/cmr_admin.gpkg", layer = "departments")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– 1.3 READING — GDB AND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Geodatabase and Raster Data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geodatabase contains multiple layers: first, list the available layers.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2331720"/>
            <a:ext cx="5394960" cy="2176272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96312"/>
            <a:ext cx="49377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List the layers in the geodatabase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st_layers("data/cameroun_admin.gdb")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Import a specific layer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 &lt;- st_read(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"data/cameroun_admin.gdb",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layer = "arrondissements")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5352" y="158648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terra package reads rasters (GeoTIFF) using rast(). Example: WorldPop population data for Cameroon.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275559"/>
            <a:ext cx="5468112" cy="2558342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2275558"/>
            <a:ext cx="4937760" cy="19279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library(terra)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WorldPop population (~100 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pop_raster &lt;- rast(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"data/cmr_population_worldpop_2020.tif")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Digital Elevation Model (SRTM)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mnt &lt;- rast("data/cmr_mnt_srtm.tif")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– 1.5 READING — CSV AND INSPECTION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an external CSV file and inspect the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Health districts (GPS coordinates, Ministry of Health / HDX): read and then convert to a spatial object.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94960" cy="3017520"/>
          </a:xfrm>
          <a:prstGeom prst="roundRect">
            <a:avLst>
              <a:gd name="adj" fmla="val 25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87752"/>
            <a:ext cx="493776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library(readr)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districts_sante &lt;- read_csv(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"data/cmr_health_districts.csv")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points, WGS84 CRS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districts_sante_sf &lt;- st_as_sf(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districts_sante,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coords = c("longitude", "latitude"),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crs = 4326)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Before any analysis, we systematically inspect the imported object.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94960" cy="3227832"/>
          </a:xfrm>
          <a:prstGeom prst="roundRect">
            <a:avLst>
              <a:gd name="adj" fmla="val 24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96312"/>
            <a:ext cx="493776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class(regions)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sf / data.frame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st_geometry_type(regions)  # POLYGON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st_crs(regions)   # coordinate system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head(regions)     # preview attributes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plot(st_geometry(regions))  # preview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 2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Transformation, Analysis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Day 1 Concepts, Put into Practice in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CRS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Check and transform the coordinate system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 of thumb (reminder from Day 1): Transform to a projected CRS before calculating any distances or areas.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Check the current CRS (often geographic WGS84)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st_crs(regions)$input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Transform to a projected CRS (UTM Zone 32N — Cameroon)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regions_utm &lt;- st_transform(regions, crs = 32632)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VECTOR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From the Concept (Day 1) to the R Function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367014"/>
              </p:ext>
            </p:extLst>
          </p:nvPr>
        </p:nvGraphicFramePr>
        <p:xfrm>
          <a:off x="548640" y="1783080"/>
          <a:ext cx="11064240" cy="4846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Operation (Day 1)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 Function (sf)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Example Using Real Data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Measure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st_area(), st_length()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Area of each region in Cameroon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Buffer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st_buffer()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5-km zone around each health district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Merge (dissolve)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st_union(), group_by() + summarise()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Merge departments into regions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Clip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st_intersection(), st_crop()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Roads in the Central Region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Intersection / union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st_intersection(), st_union()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Cross-referencing two administrative layers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Spatial join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st_join()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Assign a region to each district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Filtering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filter() (dplyr)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Select the Adamaoua region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VECTOR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Practical Application Using Data from Cameroon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library(dplyr)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Measurement: area of each region (km²), on a projected layer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regions_utm &lt;- regions_utm %&gt;% mutate(area_km2 = as.numeric(st_area(.)) / 1e6)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5-km buffer zone around health districts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districts_utm &lt;- st_transform(districts_sante_sf, crs = 32632)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zones_influence &lt;- st_buffer(districts_utm, dist = 5000)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Spatial join: region for each health district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districts_with_region &lt;- st_join(health_districts_sf, regions, join = st_within)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Filter: keep only the Adamaoua region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adamaoua &lt;- regions %&gt;% filter(region_name == "Adamaoua")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RASTER ALGEBRA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From the Concept (Day 1) to the R Function (terra)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023255"/>
              </p:ext>
            </p:extLst>
          </p:nvPr>
        </p:nvGraphicFramePr>
        <p:xfrm>
          <a:off x="548640" y="1783080"/>
          <a:ext cx="1106424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Category (Day 1)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 Function (terra)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Example Using Real Data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Local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app(), classify()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Reclassify the population into 3 density classes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Calculate the slope based on the DTM (SRTM)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zonal(), extract()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Average population (WorldPop) by region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Global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 from each cell to the nearest road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RASTER ALGEBRA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Practical Application with Terra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Local operation: reclassify population density into 3 classes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classes &lt;- matrix(c(0,50,1,  50,200,2,  200,Inf,3), ncol = 3, byrow = TRUE)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pop_classes &lt;- classify(pop_raster, classes)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Focal operation: slope based on the digital elevation model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slope &lt;- terrain(mnt, v = "slope", unit = "degrees")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Global operation: distance to the nearest road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routes_vect &lt;- vect(routes)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distance_routes &lt;- distance(pop_raster, routes_vect)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COMBINATION OF GRID AND POLYGON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Zonal statistics: population by region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 seen on Day 1: summarize a raster within each polygon.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Total population by region, based on the WorldPop raster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regions_vect &lt;- vect(regions)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pop_par_region &lt;- extract(pop_raster, regions_vect, fun = "sum", na.rm = TRUE)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Add the result to the regions layer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regions$population_estimate &lt;- pop_par_region[, 2]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MAPPING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Visualizing the Results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geom_sf(data = regions, aes(fill = population_estimee))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geom_sf(data = health_districts_sf, color = "firebrick", size = 1)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scale_fill_viridis_c(name = "Estimated Population")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"Estimated Population by Region — Cameroon")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theme_minimal()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PART 3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Backup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Export the results in the most suitable format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– 3.2 EXPORT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Save vector and raster data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2834640"/>
          </a:xfrm>
          <a:prstGeom prst="roundRect">
            <a:avLst>
              <a:gd name="adj" fmla="val 1935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Vector — Shapefile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st_write(regions, "results/cmr_regions_population.shp", delete_dsn = TRUE)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Vector — GeoPackage (recommended for a multi-layer project)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st_write(regions, "results/cameroun_analysis.gpkg", layer = "regions", append = FALSE)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st_write(departments, "results/cameroon_analysis.gpkg", layer = "departments", append = FALSE)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Raster — GeoTIFF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writeRaster(pop_classes, "results/cmr_population_classes.tif", overwrite = TRUE)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2803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GeoPackage for any multi-layer project.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1266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24865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Verify that the CRS is preserved after writing.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73328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Name files descriptively (area, date, processing).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DAY 2 SUMMARY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Key Takeaways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33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Read all types of real-world data: vector, raster, geodatabase, CSV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363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Verify and transform the CRS before performing any metric analysis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6393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Reproduce the vector operations and raster algebra from Day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1422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Combine raster and polygon data using zonal statistics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451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Save in an appropriate format, following best practices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Day 3 — Remote Sensing &amp; Rasters.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Questions?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Thank you for your active participation on Day 2!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contact@iford-cm.org   •   www.iford-cm.org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6C9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See you on Day 3: Remote Sensing &amp; Raster</a:t>
            </a:r>
            <a:endParaRPr lang="en-US" sz="14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1987</Words>
  <Application>Microsoft Office PowerPoint</Application>
  <PresentationFormat>Grand écran</PresentationFormat>
  <Paragraphs>308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Bell MT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, docId:8A553F3739CC74C243075CAF7F2CB4FE</cp:keywords>
  <cp:lastModifiedBy>PC</cp:lastModifiedBy>
  <cp:revision>13</cp:revision>
  <dcterms:created xsi:type="dcterms:W3CDTF">2026-07-13T09:38:39Z</dcterms:created>
  <dcterms:modified xsi:type="dcterms:W3CDTF">2026-07-29T06:45:20Z</dcterms:modified>
</cp:coreProperties>
</file>