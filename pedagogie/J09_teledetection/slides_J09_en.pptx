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6"/>
          <a:sy d="100" n="136"/>
        </p:scale>
        <p:origin x="816" y="12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52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51" Type="http://schemas.openxmlformats.org/officeDocument/2006/relationships/theme" Target="theme/theme1.xml" /><Relationship Id="rId50" Type="http://schemas.openxmlformats.org/officeDocument/2006/relationships/viewProps" Target="viewProps.xml" /><Relationship Id="rId4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IFORD Top Brand Bar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6B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2" name="IFORD Bottom Accent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3" name="IFORD Footer Label"/>
          <p:cNvSpPr/>
          <p:nvPr/>
        </p:nvSpPr>
        <p:spPr>
          <a:xfrm>
            <a:off x="457200" y="4785000"/>
            <a:ext cx="3500000" cy="320000"/>
          </a:xfrm>
          <a:prstGeom prst="rect">
            <a:avLst/>
          </a:prstGeom>
          <a:noFill/>
          <a:ln>
            <a:noFill/>
          </a:ln>
        </p:spPr>
        <p:txBody>
          <a:bodyPr anchor="ctr" bIns="0" lIns="0" rIns="0" tIns="0"/>
          <a:lstStyle/>
          <a:p>
            <a:r>
              <a:rPr lang="fr-FR" sz="900">
                <a:solidFill>
                  <a:srgbClr val="5F6F64"/>
                </a:solidFill>
                <a:latin typeface="Aptos"/>
              </a:rPr>
              <a:t>IFORD - Formation R spatial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3200">
          <a:solidFill>
            <a:srgbClr val="004B3C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600">
          <a:solidFill>
            <a:srgbClr val="132A35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5.png" /><Relationship Id="rId2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7.png" /><Relationship Id="rId2" Type="http://schemas.openxmlformats.org/officeDocument/2006/relationships/image" Target="../media/image6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0.png" /><Relationship Id="rId2" Type="http://schemas.openxmlformats.org/officeDocument/2006/relationships/image" Target="../media/image9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Day 8 - Remote sensing and Earth observation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Satellite data for official statistics</a:t>
            </a:r>
            <a:br/>
            <a:br/>
            <a:r>
              <a:rPr/>
              <a:t>IFORD - Spatial R training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on yesterday’s session?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 for the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Understand what remote sensing is and distinguish its four resolutions (spatial, temporal, spectral, radiometric).</a:t>
            </a:r>
          </a:p>
          <a:p>
            <a:pPr lvl="0"/>
            <a:r>
              <a:rPr/>
              <a:t>Identify the main satellites, open data, classification methods, and change detection.</a:t>
            </a:r>
          </a:p>
          <a:p>
            <a:pPr lvl="0"/>
            <a:r>
              <a:rPr/>
              <a:t>Identify the ethical issues raised by increasingly fine-grained satellite data.</a:t>
            </a:r>
          </a:p>
          <a:p>
            <a:pPr lvl="0"/>
            <a:r>
              <a:rPr/>
              <a:t>Read a GHSL built-up indicator and its change over time.</a:t>
            </a:r>
          </a:p>
          <a:p>
            <a:pPr lvl="0"/>
            <a:r>
              <a:rPr/>
              <a:t>Measure a teaching example of built-up growth, 2015-2025.</a:t>
            </a:r>
          </a:p>
          <a:p>
            <a:pPr lvl="0"/>
            <a:r>
              <a:rPr/>
              <a:t>Cross several sources (AI-detected buildings, a modelled population raster, a crowdsourced road network) to estimate flood exposure.</a:t>
            </a:r>
          </a:p>
          <a:p>
            <a:pPr lvl="0"/>
            <a:r>
              <a:rPr/>
              <a:t>Discuss validation and limitations.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Morning programme - 9:30 to 13:00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09:30-10:30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1h00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 1 - Understanding remote sensing: sensors, electromagnetic spectrum, orbits &amp; Part 2 - The four resolutions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10:30-11:00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Break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11:00-12:00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1h00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 3 &amp; 4: Satellites, spectral indices and classification &amp; Derived products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12:00-12:15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Break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12:15-13:00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 5 - Analysis, change detection, ethics and applications &amp; Introduction to the tutorial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1 - Understanding remote sensing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is remote sensing?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Definition: obtaining information about an object or area without direct contact, from a distance.</a:t>
            </a:r>
          </a:p>
          <a:p>
            <a:pPr lvl="0"/>
            <a:r>
              <a:rPr/>
              <a:t>A sensor (satellite, aircraft, drone) measures electromagnetic energy reflected or emitted by the Earth’s surface.</a:t>
            </a:r>
          </a:p>
          <a:p>
            <a:pPr lvl="0"/>
            <a:r>
              <a:rPr/>
              <a:t>Enables repeated, consistent, large-scale monitoring where field surveys are costly or impossible.</a:t>
            </a:r>
          </a:p>
        </p:txBody>
      </p:sp>
      <p:pic>
        <p:nvPicPr>
          <p:cNvPr descr="images/past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9850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Source: NASA Goddard Space Flight Center, </a:t>
            </a:r>
            <a:r>
              <a:rPr i="1"/>
              <a:t>Remotely Sensing Our Planet</a:t>
            </a:r>
            <a:r>
              <a:rPr/>
              <a:t>, 2017.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Earth observation, telecom, and navigation satellites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Everyone has heard of Starlink: about 7,000 satellites in low orbit, whose job is to deliver internet access, not to observe the Earth.</a:t>
            </a:r>
          </a:p>
          <a:p>
            <a:pPr lvl="0"/>
            <a:r>
              <a:rPr/>
              <a:t>Everyone has heard of GPS too: a constellation of satellites (GPS, Galileo) that broadcast a timing signal so a receiver can compute its position; they don’t observe the Earth either.</a:t>
            </a:r>
          </a:p>
          <a:p>
            <a:pPr lvl="0"/>
            <a:r>
              <a:rPr/>
              <a:t>An observation satellite (Landsat, Sentinel) carries sensors that measure energy reflected or emitted by the Earth’s surface: that is remote sensing.</a:t>
            </a:r>
          </a:p>
          <a:p>
            <a:pPr lvl="0"/>
            <a:r>
              <a:rPr/>
              <a:t>A telecom satellite (Starlink, Inmarsat) relays signals between Earth and space; a navigation satellite (GPS, Galileo) broadcasts a positioning signal: neither “looks at” the surface or takes images.</a:t>
            </a:r>
          </a:p>
          <a:p>
            <a:pPr lvl="0"/>
            <a:r>
              <a:rPr/>
              <a:t>In this course, “satellite” will always mean an observation satellite.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Sensor types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Passive sensors: measure reflected sunlight (e.g. Sentinel-2, Landsat).</a:t>
            </a:r>
          </a:p>
          <a:p>
            <a:pPr lvl="0"/>
            <a:r>
              <a:rPr/>
              <a:t>Active sensors: emit their own signal and measure the return (e.g. radar, SRTM).</a:t>
            </a:r>
          </a:p>
        </p:txBody>
      </p:sp>
      <p:pic>
        <p:nvPicPr>
          <p:cNvPr descr="images/paste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31800"/>
            <a:ext cx="5105400" cy="341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Source: Sawalmeh, A., </a:t>
            </a:r>
            <a:r>
              <a:rPr i="1"/>
              <a:t>Unmanned Aerial Vehicles (UAVs): A Survey on Civil Applications and Key Research Challenges</a:t>
            </a:r>
            <a:r>
              <a:rPr/>
              <a:t>, April 2018.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it works: the electromagnetic spectrum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Each surface reflects, absorbs, or transmits energy differently depending on wavelength.</a:t>
            </a:r>
          </a:p>
          <a:p>
            <a:pPr lvl="0"/>
            <a:r>
              <a:rPr/>
              <a:t>Snow reflects about 90% of visible light: it appears very bright.</a:t>
            </a:r>
          </a:p>
          <a:p>
            <a:pPr lvl="0"/>
            <a:r>
              <a:rPr/>
              <a:t>The ocean reflects about 6% and absorbs the rest: it appears dark.</a:t>
            </a:r>
          </a:p>
          <a:p>
            <a:pPr lvl="0"/>
            <a:r>
              <a:rPr/>
              <a:t>Absorbed energy is re-emitted as infrared, which allows surface temperature to be measured.</a:t>
            </a:r>
          </a:p>
          <a:p>
            <a:pPr lvl="0"/>
            <a:r>
              <a:rPr/>
              <a:t>This “spectral signature”, specific to each surface type (water, vegetation, bare soil, built-up), makes it possible to tell them apart on an image.</a:t>
            </a:r>
          </a:p>
        </p:txBody>
      </p:sp>
      <p:pic>
        <p:nvPicPr>
          <p:cNvPr descr="images/paste-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16000"/>
            <a:ext cx="51054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Source: Imperial Encyclopedia Traveller, Marc Miller, July 2019.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Satellite orbits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An orbit is the path a satellite follows around the Earth, maintained by the balance between Earth’s gravity and the satellite’s speed.</a:t>
            </a:r>
          </a:p>
          <a:p>
            <a:pPr lvl="0"/>
            <a:r>
              <a:rPr/>
              <a:t>Its altitude and inclination relative to the equator determine the area covered on the ground and how often it passes over the same location.</a:t>
            </a:r>
          </a:p>
          <a:p>
            <a:pPr lvl="0"/>
            <a:r>
              <a:rPr/>
              <a:t>What is a swath? The width of the ground strip imaged on each pass, e.g. 290 km for Sentinel-2, 185 km for Landsat.</a:t>
            </a:r>
          </a:p>
          <a:p>
            <a:pPr lvl="0"/>
            <a:r>
              <a:rPr/>
              <a:t>The orbital cycle (time to retrace the same ground track) and the swath together determine the actual revisit frequency; it is higher near the poles, where swaths overlap.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Satellite orbits — illustration</a:t>
            </a:r>
          </a:p>
        </p:txBody>
      </p:sp>
      <p:pic>
        <p:nvPicPr>
          <p:cNvPr descr="images/paste-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95400"/>
            <a:ext cx="4038600" cy="320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paste-5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257300"/>
            <a:ext cx="4038600" cy="326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Zoom in: observation satellite orbits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Orbit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Altitude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Characteristics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(LEO)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160 - 2,000 km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Polar orbit, fast global coverage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Landsat, Sentinel, Terra/Aqua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 (MEO)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2,000 - 35,500 km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Used for navigation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GPS, Galileo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Geostationary (GEO)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 35,500 km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 position above one point, continuous observation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Meteosat, GOES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Sun-synchronous orbits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Among low orbits (LEO), Landsat, Sentinel and MODIS use a near-polar orbit known as sun-synchronous. What is sun-synchronous? The satellite flies over each area at the same local solar time on every pass, which ensures comparable lighting from one image to the next.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2 - Resolutions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Spatial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Definition: the size of the ground area represented by a single pixel.</a:t>
            </a:r>
          </a:p>
          <a:p>
            <a:pPr lvl="0"/>
            <a:r>
              <a:rPr/>
              <a:t>The smaller the pixel, the finer the detail, but the smaller the area covered.</a:t>
            </a:r>
          </a:p>
          <a:p>
            <a:pPr lvl="0"/>
            <a:r>
              <a:rPr/>
              <a:t>Examples: Sentinel-2 (10-20 m), Landsat (30 m), MODIS (250 m to 1 km), GHSL (100 m).</a:t>
            </a:r>
          </a:p>
          <a:p>
            <a:pPr lvl="0"/>
            <a:r>
              <a:rPr/>
              <a:t>A fine resolution suits analysis of a single city; a coarse resolution suits regional or global monitoring.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Spatial resolution — illustration</a:t>
            </a:r>
          </a:p>
        </p:txBody>
      </p:sp>
      <p:pic>
        <p:nvPicPr>
          <p:cNvPr descr="images/paste-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87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paste-7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Temporal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Definition: the time needed for a satellite to pass over the same location again (revisit frequency).</a:t>
            </a:r>
          </a:p>
          <a:p>
            <a:pPr lvl="0"/>
            <a:r>
              <a:rPr/>
              <a:t>Polar satellites: MODIS revisits daily, Landsat every 16 days, Sentinel-2 every 5 days (two twin satellites).</a:t>
            </a:r>
          </a:p>
          <a:p>
            <a:pPr lvl="0"/>
            <a:r>
              <a:rPr/>
              <a:t>Geostationary satellites: a new image every 10 to 15 minutes (Meteosat, GOES).</a:t>
            </a:r>
          </a:p>
          <a:p>
            <a:pPr lvl="0"/>
            <a:r>
              <a:rPr/>
              <a:t>The choice depends on the phenomenon being tracked: a flood evolves over hours, urban expansion over years.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Spectral resolution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Definition: a sensor’s ability to distinguish narrow bands of wavelength.</a:t>
            </a:r>
          </a:p>
          <a:p>
            <a:pPr lvl="0"/>
            <a:r>
              <a:rPr/>
              <a:t>Multispectral sensors: a handful of bands, typically 3 to 10 (Landsat, Sentinel-2, MODIS).</a:t>
            </a:r>
          </a:p>
          <a:p>
            <a:pPr lvl="0"/>
            <a:r>
              <a:rPr/>
              <a:t>Hyperspectral sensors: hundreds of very narrow bands, specialised uses (e.g. AVIRIS, 224 bands).</a:t>
            </a:r>
          </a:p>
          <a:p>
            <a:pPr lvl="0"/>
            <a:r>
              <a:rPr/>
              <a:t>The more bands available, the better similar surfaces can be told apart: crops, minerals, water quality.</a:t>
            </a:r>
          </a:p>
          <a:p>
            <a:pPr lvl="0"/>
            <a:r>
              <a:rPr/>
              <a:t>Example use: combining the near-infrared band and the red band to calculate NDVI.</a:t>
            </a:r>
          </a:p>
        </p:txBody>
      </p:sp>
      <p:pic>
        <p:nvPicPr>
          <p:cNvPr descr="images/paste-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03200"/>
            <a:ext cx="5105400" cy="436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Radiometric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Definition: the amount of information contained in each pixel, measured in bits.</a:t>
            </a:r>
          </a:p>
          <a:p>
            <a:pPr lvl="0"/>
            <a:r>
              <a:rPr/>
              <a:t>An 8-bit image encodes 256 intensity levels per band (0 to 255).</a:t>
            </a:r>
          </a:p>
          <a:p>
            <a:pPr lvl="0"/>
            <a:r>
              <a:rPr/>
              <a:t>A 12-bit image encodes 4,096 levels: more nuance between close intensities.</a:t>
            </a:r>
          </a:p>
          <a:p>
            <a:pPr lvl="0"/>
            <a:r>
              <a:rPr/>
              <a:t>Better radiometric resolution helps distinguish, for example, two types of bare soil or two turbid water bodies that look similar.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Radiometric resolution — illustration</a:t>
            </a:r>
          </a:p>
        </p:txBody>
      </p:sp>
      <p:pic>
        <p:nvPicPr>
          <p:cNvPr descr="images/paste-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1752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paste-10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791200" y="1193800"/>
            <a:ext cx="1752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Trade-offs between resolutions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It is impossible to optimise all four resolutions at once (spatial, temporal, spectral, radiometric).</a:t>
            </a:r>
          </a:p>
          <a:p>
            <a:pPr lvl="0"/>
            <a:r>
              <a:rPr/>
              <a:t>A finer pixel requires a longer exposure time, hence a slower orbit to revisit the same location.</a:t>
            </a:r>
          </a:p>
          <a:p>
            <a:pPr lvl="0"/>
            <a:r>
              <a:rPr/>
              <a:t>A common solution: constellations of twin satellites (e.g. the two Sentinel-2 satellites) that combine spatial detail with revisit frequency.</a:t>
            </a:r>
          </a:p>
          <a:p>
            <a:pPr lvl="0"/>
            <a:r>
              <a:rPr/>
              <a:t>Choosing a sensor for a study is always a trade-off suited to the question at hand.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3 - Satellites, indices and classification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Overview of satellites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Public satellites, open and free data: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Satellite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Spatial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Temporal resolution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Sentinel-2 (A/B/C)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ESA / Copernicus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Sun-synchronous, optical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10-20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~5 days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Sentinel-1 (A/B/C)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ESA / Copernicus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Sun-synchronous, radar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5-20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~6-12 days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Landsat (8/9)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NASA / USGS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Sun-synchronous, optical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 days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Terra / Aqua (MODIS)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Sun-synchronous, optical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250 m - 1 km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 days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Meteosat / GOES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EUMETSAT / NOAA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Geostationary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~1-3 km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10-15 min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Overview of commercial satellites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Private satellites, very high resolution, usually paid data: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Satellite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Spatial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Temporal resolution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WorldView / GeoEye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Maxar (private)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Sun-synchronous, optical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0.3-0.5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daily depending on area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PlanetScope / SkySat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Planet Labs (private)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Sun-synchronous, optical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3-5 m / 50 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Daily (constellation of ~130-200 satellites)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Pleiades / SPOT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Airbus Defence and Space (private)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Sun-synchronous, optical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0.3-1.5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 days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Commercial satellites: when and why?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They complement open data when very fine resolution or daily revisit is needed (e.g. construction monitoring, rapid crisis mapping).</a:t>
            </a:r>
          </a:p>
          <a:p>
            <a:pPr lvl="0"/>
            <a:r>
              <a:rPr/>
              <a:t>Cost and usage licence must be considered from the design stage of a study; this ties in with the access asymmetry discussed under ethical issues.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4 - Derived products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Spectral index: NDVI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Formula: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NDVI = (NIR - Red) / (NIR + Red)</a:t>
            </a:r>
          </a:p>
          <a:p>
            <a:pPr lvl="0" indent="0" marL="0">
              <a:buNone/>
            </a:pPr>
            <a:r>
              <a:rPr/>
              <a:t>Interpretation:</a:t>
            </a:r>
          </a:p>
          <a:p>
            <a:pPr lvl="0"/>
            <a:r>
              <a:rPr/>
              <a:t>Close to 1: dense vegetation.</a:t>
            </a:r>
          </a:p>
          <a:p>
            <a:pPr lvl="0"/>
            <a:r>
              <a:rPr/>
              <a:t>Close to 0: bare soil, built-up areas, or sparse vegetation.</a:t>
            </a:r>
          </a:p>
          <a:p>
            <a:pPr lvl="0"/>
            <a:r>
              <a:rPr/>
              <a:t>Negative: water, shadow, or particular surfaces.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Classifying satellite imagery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Goal: turn a raster of reflectance values into a map of interpretable classes (water, forest, built-up, cropland…).</a:t>
            </a:r>
          </a:p>
          <a:p>
            <a:pPr lvl="0"/>
            <a:r>
              <a:rPr/>
              <a:t>Unsupervised classification: automatic grouping of pixels by spectral similarity (e.g. k-means), then a label is assigned to each group.</a:t>
            </a:r>
          </a:p>
          <a:p>
            <a:pPr lvl="0"/>
            <a:r>
              <a:rPr/>
              <a:t>Supervised classification: the analyst supplies labelled training areas, and the algorithm learns to generalise (e.g. random forest, maximum likelihood).</a:t>
            </a:r>
          </a:p>
          <a:p>
            <a:pPr lvl="0"/>
            <a:r>
              <a:rPr/>
              <a:t>The result is always imperfect: it is assessed with a confusion matrix and an overall accuracy score.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 of derived products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 /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Main use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GHSL Built-Up Surface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Supervised classification of Landsat/Sentinel time 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Built-up area and population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SRTM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Radar, single space shuttle mission (2000)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Elevation and slope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Copernicus EMS (floodDepth)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Rapid crisis mapping by image interpretation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Flooded areas, emergency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Google Open Buildings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Deep learning detection on very high resolution imagery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Vector (footprints)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Buildings and estimated population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Spectral indices (NDVI…)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Calculated from a sensor’s bands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 as the source sensor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Vegetation, water, soil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5 - Analysis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 series and change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time series of images allows a phenomenon to be tracked over a period, beyond a single snapshot.</a:t>
            </a:r>
          </a:p>
          <a:p>
            <a:pPr lvl="0"/>
            <a:r>
              <a:rPr/>
              <a:t>Change detection: comparing two dates (e.g. GHSL 2015 vs 2025) to reveal what has changed.</a:t>
            </a:r>
          </a:p>
          <a:p>
            <a:pPr lvl="0"/>
            <a:r>
              <a:rPr/>
              <a:t>Common methods: simple difference between indices, independent classification followed by post-classification comparison, trajectory analysis over long series (e.g. Landsat since 1972).</a:t>
            </a:r>
          </a:p>
          <a:p>
            <a:pPr lvl="0"/>
            <a:r>
              <a:rPr/>
              <a:t>Caution: a detected change may reflect a real change on the ground, or an artefact (cloud, viewing angle, different season).</a:t>
            </a:r>
          </a:p>
          <a:p>
            <a:pPr lvl="0"/>
            <a:r>
              <a:rPr/>
              <a:t>Today’s workshop applies a simple change detection: built-up area 2015 vs 2025, at regional scale.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Fields of application for remote sensing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Cryosphere and water: snow cover monitoring, water availability.</a:t>
            </a:r>
          </a:p>
          <a:p>
            <a:pPr lvl="0"/>
            <a:r>
              <a:rPr/>
              <a:t>Vegetation: crop health, droughts, wildfires (via NDVI).</a:t>
            </a:r>
          </a:p>
          <a:p>
            <a:pPr lvl="0"/>
            <a:r>
              <a:rPr/>
              <a:t>Atmosphere: clouds, precipitation, extreme events.</a:t>
            </a:r>
          </a:p>
          <a:p>
            <a:pPr lvl="0"/>
            <a:r>
              <a:rPr/>
              <a:t>Oceans: surface temperature, currents, cyclone forecasting.</a:t>
            </a:r>
          </a:p>
          <a:p>
            <a:pPr lvl="0"/>
            <a:r>
              <a:rPr/>
              <a:t>Built environment and population: urbanisation, density, exposure to risk, the focus of today’s workshop.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Who uses this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Space and weather agencies: NASA, ESA/Copernicus, CNES, EUMETSAT, producing and distributing imagery.</a:t>
            </a:r>
          </a:p>
          <a:p>
            <a:pPr lvl="0"/>
            <a:r>
              <a:rPr/>
              <a:t>National statistical institutes: updating sampling frames, mapping built-up areas and population.</a:t>
            </a:r>
          </a:p>
          <a:p>
            <a:pPr lvl="0"/>
            <a:r>
              <a:rPr/>
              <a:t>Humanitarian organisations: Copernicus EMS for rapid crisis mapping (floods, earthquakes).</a:t>
            </a:r>
          </a:p>
          <a:p>
            <a:pPr lvl="0"/>
            <a:r>
              <a:rPr/>
              <a:t>Private sector: Google Open Buildings, Maxar, Planet, very high resolution or large-scale data.</a:t>
            </a:r>
          </a:p>
          <a:p>
            <a:pPr lvl="0"/>
            <a:r>
              <a:rPr/>
              <a:t>Researchers and NGOs: environmental monitoring, climate, food security.</a:t>
            </a:r>
          </a:p>
          <a:p>
            <a:pPr lvl="0"/>
            <a:r>
              <a:rPr/>
              <a:t>This data is increasingly open and free, which is changing how countries in the Global South access satellite information.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Ethical and governance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Growing resolution: some commercial sensors can distinguish objects under one metre in size, raising privacy questions.</a:t>
            </a:r>
          </a:p>
          <a:p>
            <a:pPr lvl="0"/>
            <a:r>
              <a:rPr/>
              <a:t>Consent, where possible and relevant, before observing people or dwellings.</a:t>
            </a:r>
          </a:p>
          <a:p>
            <a:pPr lvl="0"/>
            <a:r>
              <a:rPr/>
              <a:t>De-identification: geomasking or blurring of sensitive data, aggregation to a level that protects individuals.</a:t>
            </a:r>
          </a:p>
          <a:p>
            <a:pPr lvl="0"/>
            <a:r>
              <a:rPr/>
              <a:t>Watch for discrimination: a predictive model trained on satellite data can reproduce biases against certain regions or populations.</a:t>
            </a:r>
          </a:p>
          <a:p>
            <a:pPr lvl="0"/>
            <a:r>
              <a:rPr/>
              <a:t>Access asymmetry: the finest and most recent data is often paid or reserved for certain actors (states, companies).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Applications and relevance for national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Reduced cost over a large area, and measurement of spillover effects around an intervention.</a:t>
            </a:r>
          </a:p>
          <a:p>
            <a:pPr lvl="0"/>
            <a:r>
              <a:rPr/>
              <a:t>Reduced sampling bias in hard-to-reach areas (conflict, remoteness).</a:t>
            </a:r>
          </a:p>
          <a:p>
            <a:pPr lvl="0"/>
            <a:r>
              <a:rPr/>
              <a:t>Urban expansion and land take.</a:t>
            </a:r>
          </a:p>
          <a:p>
            <a:pPr lvl="0"/>
            <a:r>
              <a:rPr/>
              <a:t>Agricultural mapping, flood risk, and exposure.</a:t>
            </a:r>
          </a:p>
          <a:p>
            <a:pPr lvl="0"/>
            <a:r>
              <a:rPr/>
              <a:t>Physical accessibility of localities and updating of sampling frames.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Validation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Compare against high resolution imagery or a ground-truthed/photo-interpreted sample.</a:t>
            </a:r>
          </a:p>
          <a:p>
            <a:pPr lvl="0"/>
            <a:r>
              <a:rPr/>
              <a:t>Avoid publishing a classification without an error matrix; document acquisition dates and cloud cover.</a:t>
            </a:r>
          </a:p>
          <a:p>
            <a:pPr lvl="0"/>
            <a:r>
              <a:rPr/>
              <a:t>Built-up and bare-soil classes are sometimes confused; administrative boundary changes complicate comparisons.</a:t>
            </a:r>
          </a:p>
          <a:p>
            <a:pPr lvl="0"/>
            <a:r>
              <a:rPr/>
              <a:t>Do not use remote sensing when the phenomenon has no geographic dimension, or to measure what it cannot see (gender, social capital, participation).</a:t>
            </a:r>
          </a:p>
          <a:p>
            <a:pPr lvl="0"/>
            <a:r>
              <a:rPr/>
              <a:t>Remote sensing never fully replaces fieldwork; any trend must be tied to a precise statistical question.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Choosing a sensor is always a trade-off between spatial, temporal, spectral, and radiometric resolution.</a:t>
            </a:r>
          </a:p>
          <a:p>
            <a:pPr lvl="0"/>
            <a:r>
              <a:rPr/>
              <a:t>Image metadata matters as much as the map itself.</a:t>
            </a:r>
          </a:p>
          <a:p>
            <a:pPr lvl="0"/>
            <a:r>
              <a:rPr/>
              <a:t>Indicators should be simple, repeatable, and explainable.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This afternoon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Time for hands-on practice in R: two workshops to work with satellite data.</a:t>
            </a:r>
          </a:p>
          <a:p>
            <a:pPr lvl="0"/>
            <a:r>
              <a:rPr/>
              <a:t>First workshop: measuring built-up growth with GHSL in Cameroon (2015-2025).</a:t>
            </a:r>
          </a:p>
          <a:p>
            <a:pPr lvl="0"/>
            <a:r>
              <a:rPr/>
              <a:t>Second workshop: combining Copernicus EMS flood data, Open Buildings, a WorldPop population raster, and the OpenStreetMap road network to estimate humanitarian exposure.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Workshop Exercise 1: GHSL built-up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dataset used for the workshop is GHSL Built-Up Surface, available on the official European Commission portal:</a:t>
            </a:r>
          </a:p>
          <a:p>
            <a:pPr lvl="0" indent="0" marL="0">
              <a:buNone/>
            </a:pPr>
            <a:r>
              <a:rPr/>
              <a:t>https://human-settlement.emergency.copernicus.eu/dataDownload.php</a:t>
            </a:r>
          </a:p>
          <a:p>
            <a:pPr lvl="0" indent="0" marL="0">
              <a:buNone/>
            </a:pPr>
            <a:r>
              <a:rPr/>
              <a:t>Key points:</a:t>
            </a:r>
          </a:p>
          <a:p>
            <a:pPr lvl="0"/>
            <a:r>
              <a:rPr/>
              <a:t>GHSL stands for Global Human Settlement Layer.</a:t>
            </a:r>
          </a:p>
          <a:p>
            <a:pPr lvl="0"/>
            <a:r>
              <a:rPr/>
              <a:t>The Built-Up Surface product represents the built-up area on a 100 m grid.</a:t>
            </a:r>
          </a:p>
          <a:p>
            <a:pPr lvl="0"/>
            <a:r>
              <a:rPr/>
              <a:t>The data is distributed as ZIP tiles that must be unzipped locally.</a:t>
            </a:r>
          </a:p>
          <a:p>
            <a:pPr lvl="0"/>
            <a:r>
              <a:rPr/>
              <a:t>Several tiles may be needed to cover an entire country.</a:t>
            </a:r>
          </a:p>
          <a:p>
            <a:pPr lvl="0"/>
            <a:r>
              <a:rPr/>
              <a:t>The rasters use a world equal-area projection, so administrative boundaries are reprojected before extraction.</a:t>
            </a:r>
          </a:p>
          <a:p>
            <a:pPr lvl="0" indent="0" marL="0">
              <a:buNone/>
            </a:pPr>
            <a:r>
              <a:rPr/>
              <a:t>Download steps for the workshop:</a:t>
            </a:r>
          </a:p>
          <a:p>
            <a:pPr lvl="0" indent="-342900" marL="342900">
              <a:buAutoNum type="arabicPeriod"/>
            </a:pPr>
            <a:r>
              <a:rPr/>
              <a:t>Open the GHSL download page.</a:t>
            </a:r>
          </a:p>
          <a:p>
            <a:pPr lvl="0" indent="-342900" marL="342900">
              <a:buAutoNum type="arabicPeriod"/>
            </a:pPr>
            <a:r>
              <a:rPr/>
              <a:t>Choose the Built-Up Surface product and the desired year.</a:t>
            </a:r>
          </a:p>
          <a:p>
            <a:pPr lvl="0" indent="-342900" marL="342900">
              <a:buAutoNum type="arabicPeriod"/>
            </a:pPr>
            <a:r>
              <a:rPr/>
              <a:t>Download the tiles covering Cameroon.</a:t>
            </a:r>
          </a:p>
          <a:p>
            <a:pPr lvl="0" indent="-342900" marL="342900">
              <a:buAutoNum type="arabicPeriod"/>
            </a:pPr>
            <a:r>
              <a:rPr/>
              <a:t>Unzip the archives into the data folder.</a:t>
            </a:r>
          </a:p>
          <a:p>
            <a:pPr lvl="0" indent="-342900" marL="342900">
              <a:buAutoNum type="arabicPeriod"/>
            </a:pPr>
            <a:r>
              <a:rPr/>
              <a:t>Run the R script to mosaic, crop, and compute the indicators.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Workshop Exercise 1: key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unzip()</a:t>
            </a:r>
            <a:r>
              <a:rPr/>
              <a:t>: unzip the downloaded GHSL archives, then </a:t>
            </a:r>
            <a:r>
              <a:rPr>
                <a:latin typeface="Courier"/>
              </a:rPr>
              <a:t>rast()</a:t>
            </a:r>
            <a:r>
              <a:rPr/>
              <a:t> to load each tile into memory.</a:t>
            </a:r>
          </a:p>
          <a:p>
            <a:pPr lvl="0"/>
            <a:r>
              <a:rPr>
                <a:latin typeface="Courier"/>
              </a:rPr>
              <a:t>mosaic()</a:t>
            </a:r>
            <a:r>
              <a:rPr/>
              <a:t>: assemble several raster tiles side by side into a single continuous layer (here, one per year: 2015 and 2025).</a:t>
            </a:r>
          </a:p>
          <a:p>
            <a:pPr lvl="0"/>
            <a:r>
              <a:rPr>
                <a:latin typeface="Courier"/>
              </a:rPr>
              <a:t>crop()</a:t>
            </a:r>
            <a:r>
              <a:rPr/>
              <a:t> then </a:t>
            </a:r>
            <a:r>
              <a:rPr>
                <a:latin typeface="Courier"/>
              </a:rPr>
              <a:t>mask()</a:t>
            </a:r>
            <a:r>
              <a:rPr/>
              <a:t>: clip the mosaic to the outline of Cameroon (or a region), keeping only what falls inside.</a:t>
            </a:r>
          </a:p>
          <a:p>
            <a:pPr lvl="0"/>
            <a:r>
              <a:rPr>
                <a:latin typeface="Courier"/>
              </a:rPr>
              <a:t>exact_extract(..., "sum")</a:t>
            </a:r>
            <a:r>
              <a:rPr/>
              <a:t>: for each region or department, sum the built-up area (km²) contained within its boundaries.</a:t>
            </a:r>
          </a:p>
          <a:p>
            <a:pPr lvl="0"/>
            <a:r>
              <a:rPr>
                <a:latin typeface="Courier"/>
              </a:rPr>
              <a:t>left_join()</a:t>
            </a:r>
            <a:r>
              <a:rPr/>
              <a:t>: bring the 2015 and 2025 indicators together into a single table, region by region.</a:t>
            </a:r>
          </a:p>
          <a:p>
            <a:pPr lvl="0"/>
            <a:r>
              <a:rPr>
                <a:latin typeface="Courier"/>
              </a:rPr>
              <a:t>case_when()</a:t>
            </a:r>
            <a:r>
              <a:rPr/>
              <a:t>: build a typology from several conditions (e.g. “strong growth and dense fabric” vs “moderate growth”).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Workshop Exercise 2: floods and buildings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Context:</a:t>
            </a:r>
          </a:p>
          <a:p>
            <a:pPr lvl="0"/>
            <a:r>
              <a:rPr/>
              <a:t>Copernicus EMS activation EMSR772: floods in Yagoua (Far North Cameroon), 2024 — one of the most vulnerable regions of the country.</a:t>
            </a:r>
          </a:p>
          <a:p>
            <a:pPr lvl="0"/>
            <a:r>
              <a:rPr/>
              <a:t>Goal: cross several imperfect sources (AI-detected buildings, a modelled population raster, a crowdsourced road network) to estimate humanitarian exposure, rather than trusting a single source.</a:t>
            </a:r>
          </a:p>
          <a:p>
            <a:pPr lvl="0"/>
            <a:r>
              <a:rPr/>
              <a:t>To keep the maps responsive, the workshop works on a reduced 5 x 5 km window, centred on the most densely flooded sector of the official AOI01 (which actually covers ~6,870 km2).</a:t>
            </a:r>
          </a:p>
          <a:p>
            <a:pPr lvl="0" indent="0" marL="0">
              <a:buNone/>
            </a:pPr>
            <a:r>
              <a:rPr/>
              <a:t>Sources:</a:t>
            </a:r>
          </a:p>
          <a:p>
            <a:pPr lvl="0"/>
            <a:r>
              <a:rPr/>
              <a:t>Copernicus EMS, activation EMSR772: action areas AOI01-03 and flood depth (</a:t>
            </a:r>
            <a:r>
              <a:rPr>
                <a:latin typeface="Courier"/>
              </a:rPr>
              <a:t>floodDepth</a:t>
            </a:r>
            <a:r>
              <a:rPr/>
              <a:t>).</a:t>
            </a:r>
          </a:p>
          <a:p>
            <a:pPr lvl="0"/>
            <a:r>
              <a:rPr/>
              <a:t>Google Open Buildings: AI-detected building footprints with a </a:t>
            </a:r>
            <a:r>
              <a:rPr>
                <a:latin typeface="Courier"/>
              </a:rPr>
              <a:t>confidence</a:t>
            </a:r>
            <a:r>
              <a:rPr/>
              <a:t> score (recommended threshold &gt;= 0.7). https://sites.research.google/gr/open-buildings/#open-buildings-download</a:t>
            </a:r>
          </a:p>
          <a:p>
            <a:pPr lvl="0"/>
            <a:r>
              <a:rPr/>
              <a:t>The raw Open Buildings tiles (several GB, an area much larger than Yagoua) are pre-filtered once by </a:t>
            </a:r>
            <a:r>
              <a:rPr>
                <a:latin typeface="Courier"/>
              </a:rPr>
              <a:t>scripts_formateurs/jour_08_formateur_prepare_open_buildings_en.R</a:t>
            </a:r>
            <a:r>
              <a:rPr/>
              <a:t>, which produces a lightweight GeoPackage restricted to the study area.</a:t>
            </a:r>
          </a:p>
          <a:p>
            <a:pPr lvl="0"/>
            <a:r>
              <a:rPr/>
              <a:t>WorldPop (</a:t>
            </a:r>
            <a:r>
              <a:rPr>
                <a:latin typeface="Courier"/>
              </a:rPr>
              <a:t>cmr_pop_2024_CN_100m_R2025A_v1.tif</a:t>
            </a:r>
            <a:r>
              <a:rPr/>
              <a:t>): a 100 m modelled population raster of Cameroon, used as an independent cross-check of the building count.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Workshop Exercise 2: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Load and explore the EMS layers (areaOfInterest, floodDepth) — understand the structure of a rapid mapping product.</a:t>
            </a:r>
          </a:p>
          <a:p>
            <a:pPr lvl="0" indent="-342900" marL="342900">
              <a:buAutoNum type="arabicPeriod"/>
            </a:pPr>
            <a:r>
              <a:rPr/>
              <a:t>Load and filter Open Buildings by confidence — limit false positives before any spatial join.</a:t>
            </a:r>
          </a:p>
          <a:p>
            <a:pPr lvl="0" indent="-342900" marL="342900">
              <a:buAutoNum type="arabicPeriod"/>
            </a:pPr>
            <a:r>
              <a:rPr/>
              <a:t>Count buildings and estimate population in AOI01 — an occupancy assumption to document (5 people/building).</a:t>
            </a:r>
          </a:p>
          <a:p>
            <a:pPr lvl="0" indent="-342900" marL="342900">
              <a:buAutoNum type="arabicPeriod"/>
            </a:pPr>
            <a:r>
              <a:rPr/>
              <a:t>Count buildings and population affected by flooding.</a:t>
            </a:r>
          </a:p>
          <a:p>
            <a:pPr lvl="0" indent="-342900" marL="342900">
              <a:buAutoNum type="arabicPeriod"/>
            </a:pPr>
            <a:r>
              <a:rPr/>
              <a:t>Compare this estimate against a direct extraction from the WorldPop population raster — an independent cross-check of the occupancy assumption.</a:t>
            </a:r>
          </a:p>
          <a:p>
            <a:pPr lvl="0" indent="-342900" marL="342900">
              <a:buAutoNum type="arabicPeriod"/>
            </a:pPr>
            <a:r>
              <a:rPr/>
              <a:t>Retrieve the OpenStreetMap road network and estimate flooded roads in AOI01 — an indicator of access to services (health, markets) during the crisis.</a:t>
            </a:r>
          </a:p>
          <a:p>
            <a:pPr lvl="0" indent="-342900" marL="342900">
              <a:buAutoNum type="arabicPeriod"/>
            </a:pPr>
            <a:r>
              <a:rPr i="1"/>
              <a:t>(Optional)</a:t>
            </a:r>
            <a:r>
              <a:rPr/>
              <a:t> Wrap the analysis in a function and reproduce it for AOI02 and AOI03 — generalise the code instead of copying it three times (DRY principle).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OpenStreetMap?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free, collaborative geographic database: anyone can add or correct objects (roads, buildings, waterways, points of interest…).</a:t>
            </a:r>
          </a:p>
          <a:p>
            <a:pPr lvl="0"/>
            <a:r>
              <a:rPr/>
              <a:t>Each object is a node (point), a line (way), or a relation, described by tags of the form key = value, for example </a:t>
            </a:r>
            <a:r>
              <a:rPr>
                <a:latin typeface="Courier"/>
              </a:rPr>
              <a:t>highway = "primary"</a:t>
            </a:r>
            <a:r>
              <a:rPr/>
              <a:t> for a main road.</a:t>
            </a:r>
          </a:p>
          <a:p>
            <a:pPr lvl="0"/>
            <a:r>
              <a:rPr/>
              <a:t>Distributed under the ODbL licence: free reuse, provided OpenStreetMap and its contributors are credited.</a:t>
            </a:r>
          </a:p>
          <a:p>
            <a:pPr lvl="0"/>
            <a:r>
              <a:rPr/>
              <a:t>Freely accessible via the Overpass API, which returns objects within a geographic extent based on their tags; in R, the </a:t>
            </a:r>
            <a:r>
              <a:rPr>
                <a:latin typeface="Courier"/>
              </a:rPr>
              <a:t>osmdata</a:t>
            </a:r>
            <a:r>
              <a:rPr/>
              <a:t> package queries this API and returns </a:t>
            </a:r>
            <a:r>
              <a:rPr>
                <a:latin typeface="Courier"/>
              </a:rPr>
              <a:t>sf</a:t>
            </a:r>
            <a:r>
              <a:rPr/>
              <a:t> objects directly.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OpenStreetMap: strengths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Strength: worldwide coverage, continuously updated, free, and sometimes very detailed in areas mapped during humanitarian responses (e.g. Humanitarian OpenStreetMap Team).</a:t>
            </a:r>
          </a:p>
          <a:p>
            <a:pPr lvl="0"/>
            <a:r>
              <a:rPr/>
              <a:t>Limitation: uneven coverage; quality and completeness depend on the number of locally active contributors.</a:t>
            </a:r>
          </a:p>
          <a:p>
            <a:pPr lvl="0"/>
            <a:r>
              <a:rPr/>
              <a:t>Always visually check an OSM layer before using it in an analysis; do not assume uniform completeness between two areas.</a:t>
            </a:r>
          </a:p>
          <a:p>
            <a:pPr lvl="0"/>
            <a:r>
              <a:rPr/>
              <a:t>The Overpass API is a public service for reasonable use: avoid repeated queries over large extents, and save the result locally if it needs to be reused.</a:t>
            </a:r>
          </a:p>
          <a:p>
            <a:pPr lvl="0"/>
            <a:r>
              <a:rPr/>
              <a:t>A free service with limited capacity: in case of error (429, 504) or slowness, the workshop automatically falls back to an already-downloaded copy (</a:t>
            </a:r>
            <a:r>
              <a:rPr>
                <a:latin typeface="Courier"/>
              </a:rPr>
              <a:t>data/OSM/routes_aoi01_yagoua.gpkg</a:t>
            </a:r>
            <a:r>
              <a:rPr/>
              <a:t>).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Workshop Exercise 2: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Copernicus EMS EMSR772</a:t>
            </a:r>
            <a:r>
              <a:rPr/>
              <a:t>: an </a:t>
            </a:r>
            <a:r>
              <a:rPr>
                <a:latin typeface="Courier"/>
              </a:rPr>
              <a:t>areaOfInterest</a:t>
            </a:r>
            <a:r>
              <a:rPr/>
              <a:t> shapefile per zone (the mapped perimeter) and a </a:t>
            </a:r>
            <a:r>
              <a:rPr>
                <a:latin typeface="Courier"/>
              </a:rPr>
              <a:t>floodDepth</a:t>
            </a:r>
            <a:r>
              <a:rPr/>
              <a:t> shapefile (one polygon per depth range, </a:t>
            </a:r>
            <a:r>
              <a:rPr>
                <a:latin typeface="Courier"/>
              </a:rPr>
              <a:t>value</a:t>
            </a:r>
            <a:r>
              <a:rPr/>
              <a:t> column, e.g. “0.50 - 1.00” metres).</a:t>
            </a:r>
          </a:p>
          <a:p>
            <a:pPr lvl="0"/>
            <a:r>
              <a:rPr b="1"/>
              <a:t>Google Open Buildings</a:t>
            </a:r>
            <a:r>
              <a:rPr/>
              <a:t>: distributed as CSV.GZ tiles (</a:t>
            </a:r>
            <a:r>
              <a:rPr>
                <a:latin typeface="Courier"/>
              </a:rPr>
              <a:t>latitude</a:t>
            </a:r>
            <a:r>
              <a:rPr/>
              <a:t> / </a:t>
            </a:r>
            <a:r>
              <a:rPr>
                <a:latin typeface="Courier"/>
              </a:rPr>
              <a:t>longitude</a:t>
            </a:r>
            <a:r>
              <a:rPr/>
              <a:t>, </a:t>
            </a:r>
            <a:r>
              <a:rPr>
                <a:latin typeface="Courier"/>
              </a:rPr>
              <a:t>area_in_meters</a:t>
            </a:r>
            <a:r>
              <a:rPr/>
              <a:t>, </a:t>
            </a:r>
            <a:r>
              <a:rPr>
                <a:latin typeface="Courier"/>
              </a:rPr>
              <a:t>confidence</a:t>
            </a:r>
            <a:r>
              <a:rPr/>
              <a:t>, polygon footprint). The workshop loads </a:t>
            </a:r>
            <a:r>
              <a:rPr>
                <a:latin typeface="Courier"/>
              </a:rPr>
              <a:t>open_buildings_yagoua.gpkg</a:t>
            </a:r>
            <a:r>
              <a:rPr/>
              <a:t> directly, the version already restricted to the study area, produced by </a:t>
            </a:r>
            <a:r>
              <a:rPr>
                <a:latin typeface="Courier"/>
              </a:rPr>
              <a:t>jour_08_formateur_prepare_open_buildings_en.R</a:t>
            </a:r>
            <a:r>
              <a:rPr/>
              <a:t>.</a:t>
            </a:r>
          </a:p>
          <a:p>
            <a:pPr lvl="0"/>
            <a:r>
              <a:rPr b="1"/>
              <a:t>OpenStreetMap</a:t>
            </a:r>
            <a:r>
              <a:rPr/>
              <a:t>: queried directly from R for the AOI01 extent, </a:t>
            </a:r>
            <a:r>
              <a:rPr>
                <a:latin typeface="Courier"/>
              </a:rPr>
              <a:t>highway</a:t>
            </a:r>
            <a:r>
              <a:rPr/>
              <a:t> tag, one line per road segment, </a:t>
            </a:r>
            <a:r>
              <a:rPr>
                <a:latin typeface="Courier"/>
              </a:rPr>
              <a:t>highway</a:t>
            </a:r>
            <a:r>
              <a:rPr/>
              <a:t> column giving the type (primary, secondary, tertiary, residential, track…). A fallback copy (</a:t>
            </a:r>
            <a:r>
              <a:rPr>
                <a:latin typeface="Courier"/>
              </a:rPr>
              <a:t>data/OSM/routes_aoi01_yagoua.gpkg</a:t>
            </a:r>
            <a:r>
              <a:rPr/>
              <a:t>) produced by </a:t>
            </a:r>
            <a:r>
              <a:rPr>
                <a:latin typeface="Courier"/>
              </a:rPr>
              <a:t>jour_08_formateur_prepare_osm_routes_en.R</a:t>
            </a:r>
            <a:r>
              <a:rPr/>
              <a:t>, used if the Overpass API is unavailable.</a:t>
            </a:r>
          </a:p>
          <a:p>
            <a:pPr lvl="0"/>
            <a:r>
              <a:rPr b="1"/>
              <a:t>WorldPop</a:t>
            </a:r>
            <a:r>
              <a:rPr/>
              <a:t>: a population raster for Cameroon (100 m), used to extract an independent population figure for AOI01 and for the flooded area.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Workshop Exercise 2: key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st_read()</a:t>
            </a:r>
            <a:r>
              <a:rPr/>
              <a:t>: read a shapefile (</a:t>
            </a:r>
            <a:r>
              <a:rPr>
                <a:latin typeface="Courier"/>
              </a:rPr>
              <a:t>areaOfInterest</a:t>
            </a:r>
            <a:r>
              <a:rPr/>
              <a:t>, </a:t>
            </a:r>
            <a:r>
              <a:rPr>
                <a:latin typeface="Courier"/>
              </a:rPr>
              <a:t>floodDepth</a:t>
            </a:r>
            <a:r>
              <a:rPr/>
              <a:t>) and load it as a spatial layer.</a:t>
            </a:r>
          </a:p>
          <a:p>
            <a:pPr lvl="0"/>
            <a:r>
              <a:rPr>
                <a:latin typeface="Courier"/>
              </a:rPr>
              <a:t>st_as_sf(coords = c("longitude", "latitude"))</a:t>
            </a:r>
            <a:r>
              <a:rPr/>
              <a:t>: turn the Open Buildings table (two coordinate columns) into a point layer.</a:t>
            </a:r>
          </a:p>
          <a:p>
            <a:pPr lvl="0"/>
            <a:r>
              <a:rPr>
                <a:latin typeface="Courier"/>
              </a:rPr>
              <a:t>filter(confidence &gt;= 0.7)</a:t>
            </a:r>
            <a:r>
              <a:rPr/>
              <a:t>: keep only buildings whose confidence score exceeds a chosen threshold.</a:t>
            </a:r>
          </a:p>
          <a:p>
            <a:pPr lvl="0"/>
            <a:r>
              <a:rPr>
                <a:latin typeface="Courier"/>
              </a:rPr>
              <a:t>st_filter()</a:t>
            </a:r>
            <a:r>
              <a:rPr/>
              <a:t>: keep only objects located inside an area (e.g. the AOI, or the flooded polygons).</a:t>
            </a:r>
          </a:p>
          <a:p>
            <a:pPr lvl="0"/>
            <a:r>
              <a:rPr>
                <a:latin typeface="Courier"/>
              </a:rPr>
              <a:t>st_join()</a:t>
            </a:r>
            <a:r>
              <a:rPr/>
              <a:t>: attach the depth class of the water to each flooded building.</a:t>
            </a:r>
          </a:p>
          <a:p>
            <a:pPr lvl="0"/>
            <a:r>
              <a:rPr>
                <a:latin typeface="Courier"/>
              </a:rPr>
              <a:t>rast()</a:t>
            </a:r>
            <a:r>
              <a:rPr/>
              <a:t> + </a:t>
            </a:r>
            <a:r>
              <a:rPr>
                <a:latin typeface="Courier"/>
              </a:rPr>
              <a:t>exact_extract(..., "sum")</a:t>
            </a:r>
            <a:r>
              <a:rPr/>
              <a:t> (</a:t>
            </a:r>
            <a:r>
              <a:rPr>
                <a:latin typeface="Courier"/>
              </a:rPr>
              <a:t>terra</a:t>
            </a:r>
            <a:r>
              <a:rPr/>
              <a:t>/</a:t>
            </a:r>
            <a:r>
              <a:rPr>
                <a:latin typeface="Courier"/>
              </a:rPr>
              <a:t>exactextractr</a:t>
            </a:r>
            <a:r>
              <a:rPr/>
              <a:t> packages, already seen in workshop 1): sum the WorldPop population contained in a polygon (AOI or flooded area), to validate the building count against an independent source.</a:t>
            </a:r>
          </a:p>
          <a:p>
            <a:pPr lvl="0"/>
            <a:r>
              <a:rPr>
                <a:latin typeface="Courier"/>
              </a:rPr>
              <a:t>crop()</a:t>
            </a:r>
            <a:r>
              <a:rPr/>
              <a:t> + </a:t>
            </a:r>
            <a:r>
              <a:rPr>
                <a:latin typeface="Courier"/>
              </a:rPr>
              <a:t>mask()</a:t>
            </a:r>
            <a:r>
              <a:rPr/>
              <a:t> + </a:t>
            </a:r>
            <a:r>
              <a:rPr>
                <a:latin typeface="Courier"/>
              </a:rPr>
              <a:t>tm_raster()</a:t>
            </a:r>
            <a:r>
              <a:rPr/>
              <a:t>: crop the WorldPop raster to AOI01 and map it by density class, to visualise where the estimated population is concentrated.</a:t>
            </a:r>
          </a:p>
          <a:p>
            <a:pPr lvl="0"/>
            <a:r>
              <a:rPr/>
              <a:t>Writing your own function (e.g. </a:t>
            </a:r>
            <a:r>
              <a:rPr>
                <a:latin typeface="Courier"/>
              </a:rPr>
              <a:t>analyse_flood()</a:t>
            </a:r>
            <a:r>
              <a:rPr/>
              <a:t>, optional): group the previous steps together so they can easily be repeated for AOI02 and AOI03, without copying the code three times.</a:t>
            </a:r>
          </a:p>
          <a:p>
            <a:pPr lvl="0"/>
            <a:r>
              <a:rPr>
                <a:latin typeface="Courier"/>
              </a:rPr>
              <a:t>opq()</a:t>
            </a:r>
            <a:r>
              <a:rPr/>
              <a:t> + </a:t>
            </a:r>
            <a:r>
              <a:rPr>
                <a:latin typeface="Courier"/>
              </a:rPr>
              <a:t>add_osm_feature()</a:t>
            </a:r>
            <a:r>
              <a:rPr/>
              <a:t> + </a:t>
            </a:r>
            <a:r>
              <a:rPr>
                <a:latin typeface="Courier"/>
              </a:rPr>
              <a:t>osmdata_sf()</a:t>
            </a:r>
            <a:r>
              <a:rPr/>
              <a:t> (</a:t>
            </a:r>
            <a:r>
              <a:rPr>
                <a:latin typeface="Courier"/>
              </a:rPr>
              <a:t>osmdata</a:t>
            </a:r>
            <a:r>
              <a:rPr/>
              <a:t> package): query the Overpass API over an extent (bbox) and retrieve the objects matching a tag (e.g. </a:t>
            </a:r>
            <a:r>
              <a:rPr>
                <a:latin typeface="Courier"/>
              </a:rPr>
              <a:t>highway</a:t>
            </a:r>
            <a:r>
              <a:rPr/>
              <a:t>).</a:t>
            </a:r>
          </a:p>
          <a:p>
            <a:pPr lvl="0"/>
            <a:r>
              <a:rPr>
                <a:latin typeface="Courier"/>
              </a:rPr>
              <a:t>st_intersection()</a:t>
            </a:r>
            <a:r>
              <a:rPr/>
              <a:t> + </a:t>
            </a:r>
            <a:r>
              <a:rPr>
                <a:latin typeface="Courier"/>
              </a:rPr>
              <a:t>st_collection_extract("LINESTRING")</a:t>
            </a:r>
            <a:r>
              <a:rPr/>
              <a:t>: clip roads exactly to the boundaries of the flood polygons to get the length that is genuinely flooded.</a:t>
            </a:r>
          </a:p>
        </p:txBody>
      </p:sp>
    </p:spTree>
  </p:cSld>
</p:sld>
</file>

<file path=ppt/theme/theme1.xml><?xml version="1.0" encoding="utf-8"?>
<a:theme xmlns:a="http://schemas.openxmlformats.org/drawingml/2006/main" name="IFORD R Spatial Theme">
  <a:themeElements>
    <a:clrScheme name="IFORD">
      <a:dk1>
        <a:srgbClr val="132A35"/>
      </a:dk1>
      <a:lt1>
        <a:srgbClr val="FFFFFF"/>
      </a:lt1>
      <a:dk2>
        <a:srgbClr val="004B3C"/>
      </a:dk2>
      <a:lt2>
        <a:srgbClr val="F3F7F2"/>
      </a:lt2>
      <a:accent1>
        <a:srgbClr val="006B4F"/>
      </a:accent1>
      <a:accent2>
        <a:srgbClr val="F2A900"/>
      </a:accent2>
      <a:accent3>
        <a:srgbClr val="3A7D44"/>
      </a:accent3>
      <a:accent4>
        <a:srgbClr val="2B6CB0"/>
      </a:accent4>
      <a:accent5>
        <a:srgbClr val="7A4E8A"/>
      </a:accent5>
      <a:accent6>
        <a:srgbClr val="D95F02"/>
      </a:accent6>
      <a:hlink>
        <a:srgbClr val="006B4F"/>
      </a:hlink>
      <a:folHlink>
        <a:srgbClr val="7A4E8A"/>
      </a:folHlink>
    </a:clrScheme>
    <a:fontScheme name="Office">
      <a:majorFont>
        <a:latin typeface="Aptos"/>
        <a:ea typeface=""/>
        <a:cs typeface=""/>
        <a:font script="Jpan" typeface="ï¼­ï¼³ ï¼°ã‚´ã‚·ãƒƒã‚¯"/>
        <a:font script="Hang" typeface="ë§‘ì€ ê³ ë”•"/>
        <a:font script="Hans" typeface="å®‹ä½“"/>
        <a:font script="Hant" typeface="æ–°ç´°æ˜Žé«”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ï¼­ï¼³ ï¼°ã‚´ã‚·ãƒƒã‚¯"/>
        <a:font script="Hang" typeface="ë§‘ì€ ê³ ë”•"/>
        <a:font script="Hans" typeface="å®‹ä½“"/>
        <a:font script="Hant" typeface="æ–°ç´°æ˜Žé«”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901</Words>
  <Application>Microsoft Office PowerPoint</Application>
  <PresentationFormat>On-screen Show (16:9)</PresentationFormat>
  <Paragraphs>145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Courier</vt:lpstr>
      <vt:lpstr>IFORD R Spatial Theme</vt:lpstr>
      <vt:lpstr>Jour 10 - Flux reproductibles et projet final</vt:lpstr>
      <vt:lpstr>Objectifs de la journee</vt:lpstr>
      <vt:lpstr>Programme 6 heures</vt:lpstr>
      <vt:lpstr>Reproductibilite</vt:lpstr>
      <vt:lpstr>Structure conseillee</vt:lpstr>
      <vt:lpstr>Quarto: idee centrale</vt:lpstr>
      <vt:lpstr>Un seul fichier, plusieurs formats</vt:lpstr>
      <vt:lpstr>Quand choisir quel format?</vt:lpstr>
      <vt:lpstr>PowerPoint Presentation</vt:lpstr>
      <vt:lpstr>Anatomie d’un fichier Quarto</vt:lpstr>
      <vt:lpstr>Demonstration Quarto</vt:lpstr>
      <vt:lpstr>tmap: plot vs view</vt:lpstr>
      <vt:lpstr>Automatisation</vt:lpstr>
      <vt:lpstr>Atelier R</vt:lpstr>
      <vt:lpstr>Mini-projet</vt:lpstr>
      <vt:lpstr>Grille de presentation</vt:lpstr>
      <vt:lpstr>FAIR</vt:lpstr>
      <vt:lpstr>Metadonnees minimales</vt:lpstr>
      <vt:lpstr>Feuille de route INS/BUCREP</vt:lpstr>
      <vt:lpstr>Messages de cloture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8 - Remote sensing and Earth observation</dc:title>
  <dc:creator>IFORD - Spatial R training</dc:creator>
  <cp:keywords/>
  <dcterms:created xsi:type="dcterms:W3CDTF">2026-08-04T22:37:16Z</dcterms:created>
  <dcterms:modified xsi:type="dcterms:W3CDTF">2026-08-04T22:37:16Z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Satellite data for official statistics</vt:lpwstr>
  </property>
  <property fmtid="{D5CDD505-2E9C-101B-9397-08002B2CF9AE}" pid="10" name="toc-title">
    <vt:lpwstr>Table of contents</vt:lpwstr>
  </property>
</Properties>
</file>